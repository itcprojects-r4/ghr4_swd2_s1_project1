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6256000" cy="9144000"/>
  <p:notesSz cx="9144000" cy="16256000"/>
  <p:embeddedFontLst>
    <p:embeddedFont>
      <p:font typeface="Liter" panose="020B0604020202020204" charset="0"/>
      <p:regular r:id="rId15"/>
    </p:embeddedFont>
    <p:embeddedFont>
      <p:font typeface="Quattrocento Sans" panose="020F0502020204030204" pitchFamily="3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7" d="100"/>
          <a:sy n="57" d="100"/>
        </p:scale>
        <p:origin x="206"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5460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professors. I'm presenting 'Restaurant Finder,' an intelligent web application that revolutionizes how people discover restaurants. This is a comprehensive project that demonstrates full-stack web development, API integration, and user experience design. Over the next 8 minutes, I'll walk you through the problem we're solving, the technology stack, key features, and the architecture that powers this application."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finding a restaurant is frustrating. Imagine you're craving Italian food, you're watching your budget, AND you have dietary restrictions like being vegetarian. You'd need to jump between 3-4 apps or websites. Plus, if you have a medical condition like diabetes or high blood pressure, most restaurant apps completely ignore these critical factors when making recommendations. We identified this gap: no platform intelligently combines mood, cuisine preference, budget, dietary restrictions, medical conditions, and party size into ONE recommendation. Restaurant Finder solves this by creating an AI-powered Smart Assistant that understands the complete picture of who you are and what you need."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"Restaurant Finder is an all-in-one platform that solves this problem elegantly. When you open the app, you're greeted by our Smart Assistant - it asks you 8 simple questions about your mood, food preferences, budget, dietary needs, medical conditions, and who you're dining with. In seconds, it understands your complete profile and generates personalized restaurant recommendations. We pull live restaurant data from Yelp Fusion API, so information is always current. Users can save favorite restaurants, view detailed information including menus and reviews, check hours and locations, and even get directions. For restaurant managers and admins, we provide a full dashboard to manage restaurant listings."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frontend, we chose a modern, battle-tested stack. React 19 gives us the latest features for building interactive UIs with optimal performance. Vite is our build tool — it's incredibly fast, with sub-second Hot Module Replacement during development. We styled everything with Tailwind CSS, which is utility-first and helps us maintain consistency across 20+ React components while keeping code minimal. For UI components, we use Radix UI — it provides accessible, unstyled primitives that we style with Tailwind. React Router v7 handles all navigation with code splitting for performance."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backend, we run a lightweight Express.js server on Node.js. This server serves two critical purposes: First, it acts as a secure proxy to the Yelp Fusion API. We never expose our API key to the frontend — instead, the React app talks to our backend server, which authenticates with Yelp. The server has four proxy endpoints: one for searching businesses, one for business details, one for reviews, and one for menus. We use environment variables to manage configuration, so API keys and secrets are never hardcoded. CORS middleware is configured to allow requests from our frontend domain only. The beauty of this architecture is that it's stateless — we don't need a database. The React frontend uses the browser's localStorage for user data, saved restaurants, and preferences."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"Restaurant Finder offers three pathways to discovery. First, users can browse by category — we have 9 cuisine types. Second, there's a powerful search interface with real-time autocomplete. But the star feature is our Smart Assistant. It's a conversational, step-by-step survey asking eight questions about mood, cuisine, budget, dietary restrictions, party size, and medical conditions. Based on these answers, we generate recommendations. The survey answers are saved, so returning users skip ahead with their preferences already loaded."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users click on a restaurant, they see a beautifully designed detail page with a high-resolution hero image, key metrics like star rating and review count, complete information including address, phone, and hours, direct links to Yelp and Google Maps, a photo gallery, guest reviews, and menu highlights. Users can save favorites with one click. In the user profile section, authenticated users can edit personal information, set dining preferences, manage dietary restrictions, and customize notification settings. For administrators, we have a complete dashboard to add, edit, and delete restaurant listings."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follows a clean three-tier model. The Presentation Layer is the React Single Page Application with 20+ components. The Application Layer is our Express.js backend server that proxies requests to Yelp API while managing authentication. The Data Layer consists of Yelp Fusion API for live restaurant data and browser localStorage for user data. The data flow works like this: A user searches for restaurants. The React frontend makes an HTTP request to our Express server. The server forwards this to Yelp API, Yelp responds with restaurant data, the server passes it back, and React renders the results. This architecture is simple, scalable, secure, and performant."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built into every layer of our application. User authentication is handled through our Auth Context with protected routes ensuring only authenticated users can access saved restaurants and profiles. Admin-only routes verify the user has admin role. The Yelp API key is never exposed in the frontend — it lives only on our backend server. For performance, we implement pagination to limit API calls, lazy loading for images, Vite for fast development, and debounced search suggestions. For responsive design, we designed mobile-first with Tailwind CSS breakpoints. Accessibility was prioritized from the start with Radix UI components, ARIA attributes, and keyboard navigation."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"Throughout this project, we faced several technical challenges. First, Yelp API rate limiting and authentication — we built a backend proxy server that handles all Yelp communication securely. Second, complex recommendation logic with the Smart Assistant mapping 8 dimensions — we built a structured survey approach. Third, real-time accuracy versus localStorage — we used a hybrid approach with Yelp API for search and localStorage for user data. Fourth, responsive design at scale — mobile-first Tailwind CSS with systematic breakpoints. Fifth, no database for the MVP — we leveraged browser localStorage with a structured JSON model."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built a solid MVP, but this is just the beginning. Short-term, we're planning integration with reservation systems like OpenTable and Resy, real-time availability, social sharing, and email notifications. Medium-term, we'll migrate to PostgreSQL or MongoDB, implement OAuth authentication, build an analytics dashboard, and create a restaurant owner portal. Long-term, we're designing a native mobile app with React Native, an AI chatbot for conversational search, machine learning recommendation models, delivery platform integration, community features, and even augmented reality menu previews. These enhancements are all technically feasible given our current architecture."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"Restaurant Finder demonstrates a complete, production-ready web application built with modern technologies and best practices. We've solved a real problem that users face daily — finding restaurants that match their specific needs — using AI-powered recommendations and real-time data. From the frontend's React components to the backend's Express proxy server to the security architecture to the responsive design, every decision was made thoughtfully with users and performance in mind. This project showcases full-stack web development competency, API integration, security implementation, and UX design. I'm excited to show you the application in action. Let me switch to the live demo."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2D2D"/>
        </a:solidFill>
        <a:effectLst/>
      </p:bgPr>
    </p:bg>
    <p:spTree>
      <p:nvGrpSpPr>
        <p:cNvPr id="1" name=""/>
        <p:cNvGrpSpPr/>
        <p:nvPr/>
      </p:nvGrpSpPr>
      <p:grpSpPr>
        <a:xfrm>
          <a:off x="0" y="0"/>
          <a:ext cx="0" cy="0"/>
          <a:chOff x="0" y="0"/>
          <a:chExt cx="0" cy="0"/>
        </a:xfrm>
      </p:grpSpPr>
      <p:sp>
        <p:nvSpPr>
          <p:cNvPr id="3" name="Shape 0"/>
          <p:cNvSpPr/>
          <p:nvPr/>
        </p:nvSpPr>
        <p:spPr>
          <a:xfrm>
            <a:off x="13335000" y="-1016000"/>
            <a:ext cx="3556000" cy="3556000"/>
          </a:xfrm>
          <a:prstGeom prst="ellipse">
            <a:avLst/>
          </a:prstGeom>
          <a:solidFill>
            <a:srgbClr val="D4652A">
              <a:alpha val="15000"/>
            </a:srgbClr>
          </a:solidFill>
          <a:ln/>
        </p:spPr>
        <p:txBody>
          <a:bodyPr/>
          <a:lstStyle/>
          <a:p>
            <a:endParaRPr lang="en-US"/>
          </a:p>
        </p:txBody>
      </p:sp>
      <p:sp>
        <p:nvSpPr>
          <p:cNvPr id="4" name="Shape 1"/>
          <p:cNvSpPr/>
          <p:nvPr/>
        </p:nvSpPr>
        <p:spPr>
          <a:xfrm>
            <a:off x="-762000" y="6604000"/>
            <a:ext cx="2540000" cy="2540000"/>
          </a:xfrm>
          <a:prstGeom prst="ellipse">
            <a:avLst/>
          </a:prstGeom>
          <a:solidFill>
            <a:srgbClr val="D4652A">
              <a:alpha val="10000"/>
            </a:srgbClr>
          </a:solidFill>
          <a:ln/>
        </p:spPr>
        <p:txBody>
          <a:bodyPr/>
          <a:lstStyle/>
          <a:p>
            <a:endParaRPr lang="en-US"/>
          </a:p>
        </p:txBody>
      </p:sp>
      <p:sp>
        <p:nvSpPr>
          <p:cNvPr id="5" name="Shape 2"/>
          <p:cNvSpPr/>
          <p:nvPr/>
        </p:nvSpPr>
        <p:spPr>
          <a:xfrm>
            <a:off x="14224000" y="1524000"/>
            <a:ext cx="762000" cy="762000"/>
          </a:xfrm>
          <a:prstGeom prst="ellipse">
            <a:avLst/>
          </a:prstGeom>
          <a:solidFill>
            <a:srgbClr val="D4652A">
              <a:alpha val="20000"/>
            </a:srgbClr>
          </a:solidFill>
          <a:ln/>
        </p:spPr>
        <p:txBody>
          <a:bodyPr/>
          <a:lstStyle/>
          <a:p>
            <a:endParaRPr lang="en-US"/>
          </a:p>
        </p:txBody>
      </p:sp>
      <p:sp>
        <p:nvSpPr>
          <p:cNvPr id="6" name="Shape 3"/>
          <p:cNvSpPr/>
          <p:nvPr/>
        </p:nvSpPr>
        <p:spPr>
          <a:xfrm>
            <a:off x="2540000" y="7366000"/>
            <a:ext cx="1524000" cy="50800"/>
          </a:xfrm>
          <a:prstGeom prst="rect">
            <a:avLst/>
          </a:prstGeom>
          <a:solidFill>
            <a:srgbClr val="D4652A">
              <a:alpha val="40000"/>
            </a:srgbClr>
          </a:solidFill>
          <a:ln/>
        </p:spPr>
        <p:txBody>
          <a:bodyPr/>
          <a:lstStyle/>
          <a:p>
            <a:endParaRPr lang="en-US"/>
          </a:p>
        </p:txBody>
      </p:sp>
      <p:sp>
        <p:nvSpPr>
          <p:cNvPr id="7" name="Text 4"/>
          <p:cNvSpPr/>
          <p:nvPr/>
        </p:nvSpPr>
        <p:spPr>
          <a:xfrm>
            <a:off x="1778000" y="2540000"/>
            <a:ext cx="12700000" cy="762000"/>
          </a:xfrm>
          <a:prstGeom prst="rect">
            <a:avLst/>
          </a:prstGeom>
          <a:noFill/>
          <a:ln/>
        </p:spPr>
        <p:txBody>
          <a:bodyPr wrap="none" lIns="0" tIns="0" rIns="0" bIns="0" rtlCol="0" anchor="ctr"/>
          <a:lstStyle/>
          <a:p>
            <a:pPr algn="ctr">
              <a:lnSpc>
                <a:spcPct val="120000"/>
              </a:lnSpc>
            </a:pPr>
            <a:r>
              <a:rPr lang="en-US" sz="4200" kern="0" spc="300" dirty="0">
                <a:solidFill>
                  <a:srgbClr val="FFFFFF"/>
                </a:solidFill>
                <a:latin typeface="Liter" pitchFamily="34" charset="0"/>
                <a:ea typeface="Liter" pitchFamily="34" charset="-122"/>
                <a:cs typeface="Liter" pitchFamily="34" charset="-120"/>
              </a:rPr>
              <a:t>RESTAURANT FINDER</a:t>
            </a:r>
            <a:endParaRPr lang="en-US" sz="4200" dirty="0"/>
          </a:p>
        </p:txBody>
      </p:sp>
      <p:sp>
        <p:nvSpPr>
          <p:cNvPr id="8" name="Text 5"/>
          <p:cNvSpPr/>
          <p:nvPr/>
        </p:nvSpPr>
        <p:spPr>
          <a:xfrm>
            <a:off x="1778000" y="3429000"/>
            <a:ext cx="12700000" cy="635000"/>
          </a:xfrm>
          <a:prstGeom prst="rect">
            <a:avLst/>
          </a:prstGeom>
          <a:noFill/>
          <a:ln/>
        </p:spPr>
        <p:txBody>
          <a:bodyPr wrap="none" lIns="0" tIns="0" rIns="0" bIns="0" rtlCol="0" anchor="ctr"/>
          <a:lstStyle/>
          <a:p>
            <a:pPr algn="ctr">
              <a:lnSpc>
                <a:spcPct val="120000"/>
              </a:lnSpc>
            </a:pPr>
            <a:r>
              <a:rPr lang="en-US" sz="3600" kern="0" spc="600" dirty="0">
                <a:solidFill>
                  <a:srgbClr val="D4652A"/>
                </a:solidFill>
                <a:latin typeface="Liter" pitchFamily="34" charset="0"/>
                <a:ea typeface="Liter" pitchFamily="34" charset="-122"/>
                <a:cs typeface="Liter" pitchFamily="34" charset="-120"/>
              </a:rPr>
              <a:t>INTELLIGENT DISCOVERY</a:t>
            </a:r>
            <a:endParaRPr lang="en-US" sz="3600" dirty="0"/>
          </a:p>
        </p:txBody>
      </p:sp>
      <p:sp>
        <p:nvSpPr>
          <p:cNvPr id="9" name="Shape 6"/>
          <p:cNvSpPr/>
          <p:nvPr/>
        </p:nvSpPr>
        <p:spPr>
          <a:xfrm>
            <a:off x="6858000" y="4318000"/>
            <a:ext cx="2540000" cy="38100"/>
          </a:xfrm>
          <a:prstGeom prst="rect">
            <a:avLst/>
          </a:prstGeom>
          <a:solidFill>
            <a:srgbClr val="D4652A"/>
          </a:solidFill>
          <a:ln/>
        </p:spPr>
        <p:txBody>
          <a:bodyPr/>
          <a:lstStyle/>
          <a:p>
            <a:endParaRPr lang="en-US"/>
          </a:p>
        </p:txBody>
      </p:sp>
      <p:sp>
        <p:nvSpPr>
          <p:cNvPr id="10" name="Text 7"/>
          <p:cNvSpPr/>
          <p:nvPr/>
        </p:nvSpPr>
        <p:spPr>
          <a:xfrm>
            <a:off x="3048000" y="4572000"/>
            <a:ext cx="10160000" cy="889000"/>
          </a:xfrm>
          <a:prstGeom prst="rect">
            <a:avLst/>
          </a:prstGeom>
          <a:noFill/>
          <a:ln/>
        </p:spPr>
        <p:txBody>
          <a:bodyPr wrap="square" lIns="0" tIns="0" rIns="0" bIns="0" rtlCol="0" anchor="t"/>
          <a:lstStyle/>
          <a:p>
            <a:pPr algn="ctr">
              <a:lnSpc>
                <a:spcPct val="140000"/>
              </a:lnSpc>
            </a:pPr>
            <a:r>
              <a:rPr lang="en-US" sz="2000" dirty="0">
                <a:solidFill>
                  <a:srgbClr val="AAAAAA"/>
                </a:solidFill>
                <a:latin typeface="Quattrocento Sans" pitchFamily="34" charset="0"/>
                <a:ea typeface="Quattrocento Sans" pitchFamily="34" charset="-122"/>
                <a:cs typeface="Quattrocento Sans" pitchFamily="34" charset="-120"/>
              </a:rPr>
              <a:t>AI-Powered Restaurant Discovery &amp; Management Platform</a:t>
            </a:r>
            <a:endParaRPr lang="en-US" sz="2000" dirty="0"/>
          </a:p>
        </p:txBody>
      </p:sp>
      <p:sp>
        <p:nvSpPr>
          <p:cNvPr id="11" name="Text 8"/>
          <p:cNvSpPr/>
          <p:nvPr/>
        </p:nvSpPr>
        <p:spPr>
          <a:xfrm>
            <a:off x="4318000" y="6604000"/>
            <a:ext cx="7620000" cy="381000"/>
          </a:xfrm>
          <a:prstGeom prst="rect">
            <a:avLst/>
          </a:prstGeom>
          <a:noFill/>
          <a:ln/>
        </p:spPr>
        <p:txBody>
          <a:bodyPr wrap="none" lIns="0" tIns="0" rIns="0" bIns="0" rtlCol="0" anchor="ctr"/>
          <a:lstStyle/>
          <a:p>
            <a:pPr algn="ctr">
              <a:lnSpc>
                <a:spcPct val="120000"/>
              </a:lnSpc>
            </a:pPr>
            <a:r>
              <a:rPr lang="en-US" sz="1400" kern="0" spc="200" dirty="0">
                <a:solidFill>
                  <a:srgbClr val="5C5C5C"/>
                </a:solidFill>
                <a:latin typeface="Quattrocento Sans" pitchFamily="34" charset="0"/>
                <a:ea typeface="Quattrocento Sans" pitchFamily="34" charset="-122"/>
                <a:cs typeface="Quattrocento Sans" pitchFamily="34" charset="-120"/>
              </a:rPr>
              <a:t>GRADUATION PROJECT DEFENSE  |  2026</a:t>
            </a:r>
            <a:endParaRPr lang="en-US" sz="1400" dirty="0"/>
          </a:p>
        </p:txBody>
      </p:sp>
      <p:sp>
        <p:nvSpPr>
          <p:cNvPr id="12" name="Shape 9"/>
          <p:cNvSpPr/>
          <p:nvPr/>
        </p:nvSpPr>
        <p:spPr>
          <a:xfrm>
            <a:off x="0" y="9017000"/>
            <a:ext cx="16256000" cy="127000"/>
          </a:xfrm>
          <a:prstGeom prst="rect">
            <a:avLst/>
          </a:prstGeom>
          <a:solidFill>
            <a:srgbClr val="D4652A"/>
          </a:solidFill>
          <a:ln/>
        </p:spPr>
        <p:txBody>
          <a:bodyPr/>
          <a:lstStyle/>
          <a:p>
            <a:endParaRPr lang="en-US"/>
          </a:p>
        </p:txBody>
      </p:sp>
      <p:pic>
        <p:nvPicPr>
          <p:cNvPr id="14" name="Picture 13">
            <a:extLst>
              <a:ext uri="{FF2B5EF4-FFF2-40B4-BE49-F238E27FC236}">
                <a16:creationId xmlns:a16="http://schemas.microsoft.com/office/drawing/2014/main" id="{09F32DB0-F89F-A4F5-7AA8-89A44CB714CC}"/>
              </a:ext>
            </a:extLst>
          </p:cNvPr>
          <p:cNvPicPr>
            <a:picLocks noChangeAspect="1"/>
          </p:cNvPicPr>
          <p:nvPr/>
        </p:nvPicPr>
        <p:blipFill>
          <a:blip r:embed="rId3"/>
          <a:stretch>
            <a:fillRect/>
          </a:stretch>
        </p:blipFill>
        <p:spPr>
          <a:xfrm>
            <a:off x="13550697" y="369796"/>
            <a:ext cx="2108606" cy="2052229"/>
          </a:xfrm>
          <a:prstGeom prst="ellipse">
            <a:avLst/>
          </a:prstGeom>
        </p:spPr>
      </p:pic>
      <p:pic>
        <p:nvPicPr>
          <p:cNvPr id="16" name="Picture 15">
            <a:extLst>
              <a:ext uri="{FF2B5EF4-FFF2-40B4-BE49-F238E27FC236}">
                <a16:creationId xmlns:a16="http://schemas.microsoft.com/office/drawing/2014/main" id="{4B5EAAF7-7D10-78A6-6C02-7B05129D842B}"/>
              </a:ext>
            </a:extLst>
          </p:cNvPr>
          <p:cNvPicPr>
            <a:picLocks noChangeAspect="1"/>
          </p:cNvPicPr>
          <p:nvPr/>
        </p:nvPicPr>
        <p:blipFill>
          <a:blip r:embed="rId4"/>
          <a:stretch>
            <a:fillRect/>
          </a:stretch>
        </p:blipFill>
        <p:spPr>
          <a:xfrm>
            <a:off x="508000" y="369796"/>
            <a:ext cx="2032000" cy="2052229"/>
          </a:xfrm>
          <a:prstGeom prst="ellipse">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2D2D2D"/>
          </a:solidFill>
          <a:ln/>
        </p:spPr>
        <p:txBody>
          <a:bodyPr/>
          <a:lstStyle/>
          <a:p>
            <a:endParaRPr lang="en-US"/>
          </a:p>
        </p:txBody>
      </p:sp>
      <p:sp>
        <p:nvSpPr>
          <p:cNvPr id="4" name="Text 1"/>
          <p:cNvSpPr/>
          <p:nvPr/>
        </p:nvSpPr>
        <p:spPr>
          <a:xfrm>
            <a:off x="0" y="0"/>
            <a:ext cx="3251200" cy="406400"/>
          </a:xfrm>
          <a:prstGeom prst="rect">
            <a:avLst/>
          </a:prstGeom>
          <a:noFill/>
          <a:ln/>
        </p:spPr>
        <p:txBody>
          <a:bodyPr wrap="none" lIns="0" tIns="0" rIns="0" bIns="0" rtlCol="0" anchor="ctr"/>
          <a:lstStyle/>
          <a:p>
            <a:pPr algn="ctr">
              <a:lnSpc>
                <a:spcPct val="120000"/>
              </a:lnSpc>
            </a:pPr>
            <a:r>
              <a:rPr lang="en-US" sz="1100" b="1" dirty="0">
                <a:solidFill>
                  <a:srgbClr val="D4652A"/>
                </a:solidFill>
                <a:latin typeface="Quattrocento Sans" pitchFamily="34" charset="0"/>
                <a:ea typeface="Quattrocento Sans" pitchFamily="34" charset="-122"/>
                <a:cs typeface="Quattrocento Sans" pitchFamily="34" charset="-120"/>
              </a:rPr>
              <a:t>PROBLEM</a:t>
            </a:r>
            <a:endParaRPr lang="en-US" sz="1100" dirty="0"/>
          </a:p>
        </p:txBody>
      </p:sp>
      <p:sp>
        <p:nvSpPr>
          <p:cNvPr id="5" name="Shape 2"/>
          <p:cNvSpPr/>
          <p:nvPr/>
        </p:nvSpPr>
        <p:spPr>
          <a:xfrm>
            <a:off x="990600" y="419100"/>
            <a:ext cx="1270000" cy="38100"/>
          </a:xfrm>
          <a:prstGeom prst="rect">
            <a:avLst/>
          </a:prstGeom>
          <a:solidFill>
            <a:srgbClr val="D4652A"/>
          </a:solidFill>
          <a:ln/>
        </p:spPr>
        <p:txBody>
          <a:bodyPr/>
          <a:lstStyle/>
          <a:p>
            <a:endParaRPr lang="en-US"/>
          </a:p>
        </p:txBody>
      </p:sp>
      <p:sp>
        <p:nvSpPr>
          <p:cNvPr id="6" name="Text 3"/>
          <p:cNvSpPr/>
          <p:nvPr/>
        </p:nvSpPr>
        <p:spPr>
          <a:xfrm>
            <a:off x="32512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SOLUTION</a:t>
            </a:r>
            <a:endParaRPr lang="en-US" sz="1100" dirty="0"/>
          </a:p>
        </p:txBody>
      </p:sp>
      <p:sp>
        <p:nvSpPr>
          <p:cNvPr id="7" name="Text 4"/>
          <p:cNvSpPr/>
          <p:nvPr/>
        </p:nvSpPr>
        <p:spPr>
          <a:xfrm>
            <a:off x="65024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TECH STACK</a:t>
            </a:r>
            <a:endParaRPr lang="en-US" sz="1100" dirty="0"/>
          </a:p>
        </p:txBody>
      </p:sp>
      <p:sp>
        <p:nvSpPr>
          <p:cNvPr id="8" name="Text 5"/>
          <p:cNvSpPr/>
          <p:nvPr/>
        </p:nvSpPr>
        <p:spPr>
          <a:xfrm>
            <a:off x="97536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FEATURES</a:t>
            </a:r>
            <a:endParaRPr lang="en-US" sz="1100" dirty="0"/>
          </a:p>
        </p:txBody>
      </p:sp>
      <p:sp>
        <p:nvSpPr>
          <p:cNvPr id="9" name="Text 6"/>
          <p:cNvSpPr/>
          <p:nvPr/>
        </p:nvSpPr>
        <p:spPr>
          <a:xfrm>
            <a:off x="130048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ARCHITECTURE</a:t>
            </a:r>
            <a:endParaRPr lang="en-US" sz="1100" dirty="0"/>
          </a:p>
        </p:txBody>
      </p:sp>
      <p:sp>
        <p:nvSpPr>
          <p:cNvPr id="10" name="Text 7"/>
          <p:cNvSpPr/>
          <p:nvPr/>
        </p:nvSpPr>
        <p:spPr>
          <a:xfrm>
            <a:off x="762000" y="660400"/>
            <a:ext cx="11430000" cy="508000"/>
          </a:xfrm>
          <a:prstGeom prst="rect">
            <a:avLst/>
          </a:prstGeom>
          <a:noFill/>
          <a:ln/>
        </p:spPr>
        <p:txBody>
          <a:bodyPr wrap="none" lIns="0" tIns="0" rIns="0" bIns="0" rtlCol="0" anchor="ctr"/>
          <a:lstStyle/>
          <a:p>
            <a:pPr algn="l">
              <a:lnSpc>
                <a:spcPct val="130000"/>
              </a:lnSpc>
            </a:pPr>
            <a:r>
              <a:rPr lang="en-US" sz="2800" dirty="0">
                <a:solidFill>
                  <a:srgbClr val="1E1E1E"/>
                </a:solidFill>
                <a:latin typeface="Liter" pitchFamily="34" charset="0"/>
                <a:ea typeface="Liter" pitchFamily="34" charset="-122"/>
                <a:cs typeface="Liter" pitchFamily="34" charset="-120"/>
              </a:rPr>
              <a:t>The Problem: Why We Built Restaurant Finder</a:t>
            </a:r>
            <a:endParaRPr lang="en-US" sz="2800" dirty="0"/>
          </a:p>
        </p:txBody>
      </p:sp>
      <p:sp>
        <p:nvSpPr>
          <p:cNvPr id="11" name="Shape 8"/>
          <p:cNvSpPr/>
          <p:nvPr/>
        </p:nvSpPr>
        <p:spPr>
          <a:xfrm>
            <a:off x="762000" y="1219200"/>
            <a:ext cx="1016000" cy="38100"/>
          </a:xfrm>
          <a:prstGeom prst="rect">
            <a:avLst/>
          </a:prstGeom>
          <a:solidFill>
            <a:srgbClr val="D4652A"/>
          </a:solidFill>
          <a:ln/>
        </p:spPr>
        <p:txBody>
          <a:bodyPr/>
          <a:lstStyle/>
          <a:p>
            <a:endParaRPr lang="en-US"/>
          </a:p>
        </p:txBody>
      </p:sp>
      <p:sp>
        <p:nvSpPr>
          <p:cNvPr id="12" name="Shape 9"/>
          <p:cNvSpPr/>
          <p:nvPr/>
        </p:nvSpPr>
        <p:spPr>
          <a:xfrm>
            <a:off x="762000" y="1651000"/>
            <a:ext cx="50800" cy="914400"/>
          </a:xfrm>
          <a:prstGeom prst="rect">
            <a:avLst/>
          </a:prstGeom>
          <a:solidFill>
            <a:srgbClr val="D4652A"/>
          </a:solidFill>
          <a:ln/>
        </p:spPr>
        <p:txBody>
          <a:bodyPr/>
          <a:lstStyle/>
          <a:p>
            <a:endParaRPr lang="en-US"/>
          </a:p>
        </p:txBody>
      </p:sp>
      <p:sp>
        <p:nvSpPr>
          <p:cNvPr id="13" name="Text 10"/>
          <p:cNvSpPr/>
          <p:nvPr/>
        </p:nvSpPr>
        <p:spPr>
          <a:xfrm>
            <a:off x="965200" y="1651000"/>
            <a:ext cx="7620000" cy="914400"/>
          </a:xfrm>
          <a:prstGeom prst="rect">
            <a:avLst/>
          </a:prstGeom>
          <a:noFill/>
          <a:ln/>
        </p:spPr>
        <p:txBody>
          <a:bodyPr wrap="square" lIns="0" tIns="0" rIns="0" bIns="0" rtlCol="0" anchor="t"/>
          <a:lstStyle/>
          <a:p>
            <a:pPr algn="l">
              <a:lnSpc>
                <a:spcPct val="160000"/>
              </a:lnSpc>
            </a:pPr>
            <a:r>
              <a:rPr lang="en-US" sz="1800" b="1" dirty="0">
                <a:solidFill>
                  <a:srgbClr val="1E1E1E"/>
                </a:solidFill>
                <a:latin typeface="Quattrocento Sans" pitchFamily="34" charset="0"/>
                <a:ea typeface="Quattrocento Sans" pitchFamily="34" charset="-122"/>
                <a:cs typeface="Quattrocento Sans" pitchFamily="34" charset="-120"/>
              </a:rPr>
              <a:t>Fragmented search experience</a:t>
            </a:r>
            <a:r>
              <a:rPr lang="en-US" sz="1800" dirty="0">
                <a:solidFill>
                  <a:srgbClr val="1E1E1E"/>
                </a:solidFill>
                <a:latin typeface="Quattrocento Sans" pitchFamily="34" charset="0"/>
                <a:ea typeface="Quattrocento Sans" pitchFamily="34" charset="-122"/>
                <a:cs typeface="Quattrocento Sans" pitchFamily="34" charset="-120"/>
              </a:rPr>
              <a:t> — Users jump between multiple apps and websites to find restaurant information</a:t>
            </a:r>
            <a:endParaRPr lang="en-US" sz="1800" dirty="0"/>
          </a:p>
        </p:txBody>
      </p:sp>
      <p:sp>
        <p:nvSpPr>
          <p:cNvPr id="14" name="Shape 11"/>
          <p:cNvSpPr/>
          <p:nvPr/>
        </p:nvSpPr>
        <p:spPr>
          <a:xfrm>
            <a:off x="762000" y="2692400"/>
            <a:ext cx="50800" cy="914400"/>
          </a:xfrm>
          <a:prstGeom prst="rect">
            <a:avLst/>
          </a:prstGeom>
          <a:solidFill>
            <a:srgbClr val="D4652A"/>
          </a:solidFill>
          <a:ln/>
        </p:spPr>
        <p:txBody>
          <a:bodyPr/>
          <a:lstStyle/>
          <a:p>
            <a:endParaRPr lang="en-US"/>
          </a:p>
        </p:txBody>
      </p:sp>
      <p:sp>
        <p:nvSpPr>
          <p:cNvPr id="15" name="Text 12"/>
          <p:cNvSpPr/>
          <p:nvPr/>
        </p:nvSpPr>
        <p:spPr>
          <a:xfrm>
            <a:off x="965200" y="2692400"/>
            <a:ext cx="7620000" cy="914400"/>
          </a:xfrm>
          <a:prstGeom prst="rect">
            <a:avLst/>
          </a:prstGeom>
          <a:noFill/>
          <a:ln/>
        </p:spPr>
        <p:txBody>
          <a:bodyPr wrap="square" lIns="0" tIns="0" rIns="0" bIns="0" rtlCol="0" anchor="t"/>
          <a:lstStyle/>
          <a:p>
            <a:pPr algn="l">
              <a:lnSpc>
                <a:spcPct val="160000"/>
              </a:lnSpc>
            </a:pPr>
            <a:r>
              <a:rPr lang="en-US" sz="1800" b="1" dirty="0">
                <a:solidFill>
                  <a:srgbClr val="1E1E1E"/>
                </a:solidFill>
                <a:latin typeface="Quattrocento Sans" pitchFamily="34" charset="0"/>
                <a:ea typeface="Quattrocento Sans" pitchFamily="34" charset="-122"/>
                <a:cs typeface="Quattrocento Sans" pitchFamily="34" charset="-120"/>
              </a:rPr>
              <a:t>No health-aware recommendations</a:t>
            </a:r>
            <a:r>
              <a:rPr lang="en-US" sz="1800" dirty="0">
                <a:solidFill>
                  <a:srgbClr val="1E1E1E"/>
                </a:solidFill>
                <a:latin typeface="Quattrocento Sans" pitchFamily="34" charset="0"/>
                <a:ea typeface="Quattrocento Sans" pitchFamily="34" charset="-122"/>
                <a:cs typeface="Quattrocento Sans" pitchFamily="34" charset="-120"/>
              </a:rPr>
              <a:t> — Dietary restrictions and medical conditions are completely ignored</a:t>
            </a:r>
            <a:endParaRPr lang="en-US" sz="1800" dirty="0"/>
          </a:p>
        </p:txBody>
      </p:sp>
      <p:sp>
        <p:nvSpPr>
          <p:cNvPr id="16" name="Shape 13"/>
          <p:cNvSpPr/>
          <p:nvPr/>
        </p:nvSpPr>
        <p:spPr>
          <a:xfrm>
            <a:off x="762000" y="3733800"/>
            <a:ext cx="50800" cy="914400"/>
          </a:xfrm>
          <a:prstGeom prst="rect">
            <a:avLst/>
          </a:prstGeom>
          <a:solidFill>
            <a:srgbClr val="D4652A"/>
          </a:solidFill>
          <a:ln/>
        </p:spPr>
        <p:txBody>
          <a:bodyPr/>
          <a:lstStyle/>
          <a:p>
            <a:endParaRPr lang="en-US"/>
          </a:p>
        </p:txBody>
      </p:sp>
      <p:sp>
        <p:nvSpPr>
          <p:cNvPr id="17" name="Text 14"/>
          <p:cNvSpPr/>
          <p:nvPr/>
        </p:nvSpPr>
        <p:spPr>
          <a:xfrm>
            <a:off x="965200" y="3733800"/>
            <a:ext cx="7620000" cy="914400"/>
          </a:xfrm>
          <a:prstGeom prst="rect">
            <a:avLst/>
          </a:prstGeom>
          <a:noFill/>
          <a:ln/>
        </p:spPr>
        <p:txBody>
          <a:bodyPr wrap="square" lIns="0" tIns="0" rIns="0" bIns="0" rtlCol="0" anchor="t"/>
          <a:lstStyle/>
          <a:p>
            <a:pPr algn="l">
              <a:lnSpc>
                <a:spcPct val="160000"/>
              </a:lnSpc>
            </a:pPr>
            <a:r>
              <a:rPr lang="en-US" sz="1800" b="1" dirty="0">
                <a:solidFill>
                  <a:srgbClr val="1E1E1E"/>
                </a:solidFill>
                <a:latin typeface="Quattrocento Sans" pitchFamily="34" charset="0"/>
                <a:ea typeface="Quattrocento Sans" pitchFamily="34" charset="-122"/>
                <a:cs typeface="Quattrocento Sans" pitchFamily="34" charset="-120"/>
              </a:rPr>
              <a:t>Time-consuming manual research</a:t>
            </a:r>
            <a:r>
              <a:rPr lang="en-US" sz="1800" dirty="0">
                <a:solidFill>
                  <a:srgbClr val="1E1E1E"/>
                </a:solidFill>
                <a:latin typeface="Quattrocento Sans" pitchFamily="34" charset="0"/>
                <a:ea typeface="Quattrocento Sans" pitchFamily="34" charset="-122"/>
                <a:cs typeface="Quattrocento Sans" pitchFamily="34" charset="-120"/>
              </a:rPr>
              <a:t> — Cross-referencing cuisine, price, location, and reviews takes too long</a:t>
            </a:r>
            <a:endParaRPr lang="en-US" sz="1800" dirty="0"/>
          </a:p>
        </p:txBody>
      </p:sp>
      <p:sp>
        <p:nvSpPr>
          <p:cNvPr id="18" name="Shape 15"/>
          <p:cNvSpPr/>
          <p:nvPr/>
        </p:nvSpPr>
        <p:spPr>
          <a:xfrm>
            <a:off x="762000" y="4775200"/>
            <a:ext cx="50800" cy="914400"/>
          </a:xfrm>
          <a:prstGeom prst="rect">
            <a:avLst/>
          </a:prstGeom>
          <a:solidFill>
            <a:srgbClr val="D4652A"/>
          </a:solidFill>
          <a:ln/>
        </p:spPr>
        <p:txBody>
          <a:bodyPr/>
          <a:lstStyle/>
          <a:p>
            <a:endParaRPr lang="en-US"/>
          </a:p>
        </p:txBody>
      </p:sp>
      <p:sp>
        <p:nvSpPr>
          <p:cNvPr id="19" name="Text 16"/>
          <p:cNvSpPr/>
          <p:nvPr/>
        </p:nvSpPr>
        <p:spPr>
          <a:xfrm>
            <a:off x="965200" y="4775200"/>
            <a:ext cx="7620000" cy="914400"/>
          </a:xfrm>
          <a:prstGeom prst="rect">
            <a:avLst/>
          </a:prstGeom>
          <a:noFill/>
          <a:ln/>
        </p:spPr>
        <p:txBody>
          <a:bodyPr wrap="square" lIns="0" tIns="0" rIns="0" bIns="0" rtlCol="0" anchor="t"/>
          <a:lstStyle/>
          <a:p>
            <a:pPr algn="l">
              <a:lnSpc>
                <a:spcPct val="160000"/>
              </a:lnSpc>
            </a:pPr>
            <a:r>
              <a:rPr lang="en-US" sz="1800" b="1" dirty="0">
                <a:solidFill>
                  <a:srgbClr val="1E1E1E"/>
                </a:solidFill>
                <a:latin typeface="Quattrocento Sans" pitchFamily="34" charset="0"/>
                <a:ea typeface="Quattrocento Sans" pitchFamily="34" charset="-122"/>
                <a:cs typeface="Quattrocento Sans" pitchFamily="34" charset="-120"/>
              </a:rPr>
              <a:t>No unified personalization</a:t>
            </a:r>
            <a:r>
              <a:rPr lang="en-US" sz="1800" dirty="0">
                <a:solidFill>
                  <a:srgbClr val="1E1E1E"/>
                </a:solidFill>
                <a:latin typeface="Quattrocento Sans" pitchFamily="34" charset="0"/>
                <a:ea typeface="Quattrocento Sans" pitchFamily="34" charset="-122"/>
                <a:cs typeface="Quattrocento Sans" pitchFamily="34" charset="-120"/>
              </a:rPr>
              <a:t> — No platform combines mood, budget, diet, and health factors together</a:t>
            </a:r>
            <a:endParaRPr lang="en-US" sz="1800" dirty="0"/>
          </a:p>
        </p:txBody>
      </p:sp>
      <p:sp>
        <p:nvSpPr>
          <p:cNvPr id="20" name="Shape 17"/>
          <p:cNvSpPr/>
          <p:nvPr/>
        </p:nvSpPr>
        <p:spPr>
          <a:xfrm>
            <a:off x="762000" y="5816600"/>
            <a:ext cx="50800" cy="914400"/>
          </a:xfrm>
          <a:prstGeom prst="rect">
            <a:avLst/>
          </a:prstGeom>
          <a:solidFill>
            <a:srgbClr val="D4652A"/>
          </a:solidFill>
          <a:ln/>
        </p:spPr>
        <p:txBody>
          <a:bodyPr/>
          <a:lstStyle/>
          <a:p>
            <a:endParaRPr lang="en-US"/>
          </a:p>
        </p:txBody>
      </p:sp>
      <p:sp>
        <p:nvSpPr>
          <p:cNvPr id="21" name="Text 18"/>
          <p:cNvSpPr/>
          <p:nvPr/>
        </p:nvSpPr>
        <p:spPr>
          <a:xfrm>
            <a:off x="965200" y="5816600"/>
            <a:ext cx="7620000" cy="914400"/>
          </a:xfrm>
          <a:prstGeom prst="rect">
            <a:avLst/>
          </a:prstGeom>
          <a:noFill/>
          <a:ln/>
        </p:spPr>
        <p:txBody>
          <a:bodyPr wrap="square" lIns="0" tIns="0" rIns="0" bIns="0" rtlCol="0" anchor="t"/>
          <a:lstStyle/>
          <a:p>
            <a:pPr algn="l">
              <a:lnSpc>
                <a:spcPct val="160000"/>
              </a:lnSpc>
            </a:pPr>
            <a:r>
              <a:rPr lang="en-US" sz="1800" b="1" dirty="0">
                <a:solidFill>
                  <a:srgbClr val="1E1E1E"/>
                </a:solidFill>
                <a:latin typeface="Quattrocento Sans" pitchFamily="34" charset="0"/>
                <a:ea typeface="Quattrocento Sans" pitchFamily="34" charset="-122"/>
                <a:cs typeface="Quattrocento Sans" pitchFamily="34" charset="-120"/>
              </a:rPr>
              <a:t>Growing market demand</a:t>
            </a:r>
            <a:r>
              <a:rPr lang="en-US" sz="1800" dirty="0">
                <a:solidFill>
                  <a:srgbClr val="1E1E1E"/>
                </a:solidFill>
                <a:latin typeface="Quattrocento Sans" pitchFamily="34" charset="0"/>
                <a:ea typeface="Quattrocento Sans" pitchFamily="34" charset="-122"/>
                <a:cs typeface="Quattrocento Sans" pitchFamily="34" charset="-120"/>
              </a:rPr>
              <a:t> — Diners increasingly expect intelligent, personalized discovery experiences</a:t>
            </a:r>
            <a:endParaRPr lang="en-US" sz="1800" dirty="0"/>
          </a:p>
        </p:txBody>
      </p:sp>
      <p:sp>
        <p:nvSpPr>
          <p:cNvPr id="22" name="Shape 19"/>
          <p:cNvSpPr/>
          <p:nvPr/>
        </p:nvSpPr>
        <p:spPr>
          <a:xfrm>
            <a:off x="9144000" y="1651000"/>
            <a:ext cx="6350000" cy="4318000"/>
          </a:xfrm>
          <a:prstGeom prst="roundRect">
            <a:avLst>
              <a:gd name="adj" fmla="val 8000"/>
            </a:avLst>
          </a:prstGeom>
          <a:solidFill>
            <a:srgbClr val="F0EBE6"/>
          </a:solidFill>
          <a:ln/>
        </p:spPr>
        <p:txBody>
          <a:bodyPr/>
          <a:lstStyle/>
          <a:p>
            <a:endParaRPr lang="en-US"/>
          </a:p>
        </p:txBody>
      </p:sp>
      <p:sp>
        <p:nvSpPr>
          <p:cNvPr id="23" name="Shape 20"/>
          <p:cNvSpPr/>
          <p:nvPr/>
        </p:nvSpPr>
        <p:spPr>
          <a:xfrm>
            <a:off x="11938000" y="2032000"/>
            <a:ext cx="762000" cy="762000"/>
          </a:xfrm>
          <a:custGeom>
            <a:avLst/>
            <a:gdLst/>
            <a:ahLst/>
            <a:cxnLst/>
            <a:rect l="l" t="t" r="r" b="b"/>
            <a:pathLst>
              <a:path w="762000" h="762000">
                <a:moveTo>
                  <a:pt x="381000" y="762000"/>
                </a:moveTo>
                <a:cubicBezTo>
                  <a:pt x="591280" y="762000"/>
                  <a:pt x="762000" y="591280"/>
                  <a:pt x="762000" y="381000"/>
                </a:cubicBezTo>
                <a:cubicBezTo>
                  <a:pt x="762000" y="170720"/>
                  <a:pt x="591280" y="0"/>
                  <a:pt x="381000" y="0"/>
                </a:cubicBezTo>
                <a:cubicBezTo>
                  <a:pt x="170720" y="0"/>
                  <a:pt x="0" y="170720"/>
                  <a:pt x="0" y="381000"/>
                </a:cubicBezTo>
                <a:cubicBezTo>
                  <a:pt x="0" y="591280"/>
                  <a:pt x="170720" y="762000"/>
                  <a:pt x="381000" y="762000"/>
                </a:cubicBezTo>
                <a:close/>
                <a:moveTo>
                  <a:pt x="381000" y="202406"/>
                </a:moveTo>
                <a:cubicBezTo>
                  <a:pt x="400794" y="202406"/>
                  <a:pt x="416719" y="218331"/>
                  <a:pt x="416719" y="238125"/>
                </a:cubicBezTo>
                <a:lnTo>
                  <a:pt x="416719" y="404813"/>
                </a:lnTo>
                <a:cubicBezTo>
                  <a:pt x="416719" y="424607"/>
                  <a:pt x="400794" y="440531"/>
                  <a:pt x="381000" y="440531"/>
                </a:cubicBezTo>
                <a:cubicBezTo>
                  <a:pt x="361206" y="440531"/>
                  <a:pt x="345281" y="424607"/>
                  <a:pt x="345281" y="404813"/>
                </a:cubicBezTo>
                <a:lnTo>
                  <a:pt x="345281" y="238125"/>
                </a:lnTo>
                <a:cubicBezTo>
                  <a:pt x="345281" y="218331"/>
                  <a:pt x="361206" y="202406"/>
                  <a:pt x="381000" y="202406"/>
                </a:cubicBezTo>
                <a:close/>
                <a:moveTo>
                  <a:pt x="341263" y="523875"/>
                </a:moveTo>
                <a:cubicBezTo>
                  <a:pt x="340359" y="509125"/>
                  <a:pt x="347715" y="495092"/>
                  <a:pt x="360359" y="487443"/>
                </a:cubicBezTo>
                <a:cubicBezTo>
                  <a:pt x="373003" y="479795"/>
                  <a:pt x="388848" y="479795"/>
                  <a:pt x="401492" y="487443"/>
                </a:cubicBezTo>
                <a:cubicBezTo>
                  <a:pt x="414136" y="495092"/>
                  <a:pt x="421492" y="509125"/>
                  <a:pt x="420588" y="523875"/>
                </a:cubicBezTo>
                <a:cubicBezTo>
                  <a:pt x="421492" y="538625"/>
                  <a:pt x="414136" y="552658"/>
                  <a:pt x="401492" y="560307"/>
                </a:cubicBezTo>
                <a:cubicBezTo>
                  <a:pt x="388848" y="567955"/>
                  <a:pt x="373003" y="567955"/>
                  <a:pt x="360359" y="560307"/>
                </a:cubicBezTo>
                <a:cubicBezTo>
                  <a:pt x="347715" y="552658"/>
                  <a:pt x="340359" y="538625"/>
                  <a:pt x="341263" y="523875"/>
                </a:cubicBezTo>
                <a:close/>
              </a:path>
            </a:pathLst>
          </a:custGeom>
          <a:solidFill>
            <a:srgbClr val="D4652A"/>
          </a:solidFill>
          <a:ln/>
        </p:spPr>
        <p:txBody>
          <a:bodyPr/>
          <a:lstStyle/>
          <a:p>
            <a:endParaRPr lang="en-US"/>
          </a:p>
        </p:txBody>
      </p:sp>
      <p:sp>
        <p:nvSpPr>
          <p:cNvPr id="24" name="Text 21"/>
          <p:cNvSpPr/>
          <p:nvPr/>
        </p:nvSpPr>
        <p:spPr>
          <a:xfrm>
            <a:off x="9652000" y="3048000"/>
            <a:ext cx="5334000" cy="381000"/>
          </a:xfrm>
          <a:prstGeom prst="rect">
            <a:avLst/>
          </a:prstGeom>
          <a:noFill/>
          <a:ln/>
        </p:spPr>
        <p:txBody>
          <a:bodyPr wrap="none" lIns="0" tIns="0" rIns="0" bIns="0" rtlCol="0" anchor="ctr"/>
          <a:lstStyle/>
          <a:p>
            <a:pPr algn="ctr">
              <a:lnSpc>
                <a:spcPct val="120000"/>
              </a:lnSpc>
            </a:pPr>
            <a:r>
              <a:rPr lang="en-US" sz="2000" b="1" dirty="0">
                <a:solidFill>
                  <a:srgbClr val="1E1E1E"/>
                </a:solidFill>
                <a:latin typeface="Liter" pitchFamily="34" charset="0"/>
                <a:ea typeface="Liter" pitchFamily="34" charset="-122"/>
                <a:cs typeface="Liter" pitchFamily="34" charset="-120"/>
              </a:rPr>
              <a:t>The Discovery Gap</a:t>
            </a:r>
            <a:endParaRPr lang="en-US" sz="2000" dirty="0"/>
          </a:p>
        </p:txBody>
      </p:sp>
      <p:sp>
        <p:nvSpPr>
          <p:cNvPr id="25" name="Text 22"/>
          <p:cNvSpPr/>
          <p:nvPr/>
        </p:nvSpPr>
        <p:spPr>
          <a:xfrm>
            <a:off x="9652000" y="3556000"/>
            <a:ext cx="5334000" cy="1016000"/>
          </a:xfrm>
          <a:prstGeom prst="rect">
            <a:avLst/>
          </a:prstGeom>
          <a:noFill/>
          <a:ln/>
        </p:spPr>
        <p:txBody>
          <a:bodyPr wrap="square" lIns="0" tIns="0" rIns="0" bIns="0" rtlCol="0" anchor="t"/>
          <a:lstStyle/>
          <a:p>
            <a:pPr algn="ctr">
              <a:lnSpc>
                <a:spcPct val="150000"/>
              </a:lnSpc>
            </a:pPr>
            <a:r>
              <a:rPr lang="en-US" sz="1600" dirty="0">
                <a:solidFill>
                  <a:srgbClr val="5C5C5C"/>
                </a:solidFill>
                <a:latin typeface="Quattrocento Sans" pitchFamily="34" charset="0"/>
                <a:ea typeface="Quattrocento Sans" pitchFamily="34" charset="-122"/>
                <a:cs typeface="Quattrocento Sans" pitchFamily="34" charset="-120"/>
              </a:rPr>
              <a:t>Users need a platform that understands their complete dining context — not just cuisine type</a:t>
            </a:r>
            <a:endParaRPr lang="en-US" sz="1600" dirty="0"/>
          </a:p>
        </p:txBody>
      </p:sp>
      <p:sp>
        <p:nvSpPr>
          <p:cNvPr id="26" name="Text 23"/>
          <p:cNvSpPr/>
          <p:nvPr/>
        </p:nvSpPr>
        <p:spPr>
          <a:xfrm>
            <a:off x="9652000" y="4699000"/>
            <a:ext cx="5334000" cy="508000"/>
          </a:xfrm>
          <a:prstGeom prst="rect">
            <a:avLst/>
          </a:prstGeom>
          <a:noFill/>
          <a:ln/>
        </p:spPr>
        <p:txBody>
          <a:bodyPr wrap="none" lIns="0" tIns="0" rIns="0" bIns="0" rtlCol="0" anchor="ctr"/>
          <a:lstStyle/>
          <a:p>
            <a:pPr algn="ctr">
              <a:lnSpc>
                <a:spcPct val="120000"/>
              </a:lnSpc>
            </a:pPr>
            <a:r>
              <a:rPr lang="en-US" sz="3200" b="1" dirty="0">
                <a:solidFill>
                  <a:srgbClr val="D4652A"/>
                </a:solidFill>
                <a:latin typeface="Liter" pitchFamily="34" charset="0"/>
                <a:ea typeface="Liter" pitchFamily="34" charset="-122"/>
                <a:cs typeface="Liter" pitchFamily="34" charset="-120"/>
              </a:rPr>
              <a:t>3-4 Apps</a:t>
            </a:r>
            <a:endParaRPr lang="en-US" sz="3200" dirty="0"/>
          </a:p>
        </p:txBody>
      </p:sp>
      <p:sp>
        <p:nvSpPr>
          <p:cNvPr id="27" name="Text 24"/>
          <p:cNvSpPr/>
          <p:nvPr/>
        </p:nvSpPr>
        <p:spPr>
          <a:xfrm>
            <a:off x="9652000" y="5270500"/>
            <a:ext cx="5334000" cy="381000"/>
          </a:xfrm>
          <a:prstGeom prst="rect">
            <a:avLst/>
          </a:prstGeom>
          <a:noFill/>
          <a:ln/>
        </p:spPr>
        <p:txBody>
          <a:bodyPr wrap="none" lIns="0" tIns="0" rIns="0" bIns="0" rtlCol="0" anchor="ctr"/>
          <a:lstStyle/>
          <a:p>
            <a:pPr algn="ctr">
              <a:lnSpc>
                <a:spcPct val="120000"/>
              </a:lnSpc>
            </a:pPr>
            <a:r>
              <a:rPr lang="en-US" sz="1400" dirty="0">
                <a:solidFill>
                  <a:srgbClr val="5C5C5C"/>
                </a:solidFill>
                <a:latin typeface="Quattrocento Sans" pitchFamily="34" charset="0"/>
                <a:ea typeface="Quattrocento Sans" pitchFamily="34" charset="-122"/>
                <a:cs typeface="Quattrocento Sans" pitchFamily="34" charset="-120"/>
              </a:rPr>
              <a:t>average needed to find a suitable restaurant</a:t>
            </a:r>
            <a:endParaRPr lang="en-US" sz="1400" dirty="0"/>
          </a:p>
        </p:txBody>
      </p:sp>
      <p:sp>
        <p:nvSpPr>
          <p:cNvPr id="28" name="Text 25"/>
          <p:cNvSpPr/>
          <p:nvPr/>
        </p:nvSpPr>
        <p:spPr>
          <a:xfrm>
            <a:off x="762000" y="8763000"/>
            <a:ext cx="5080000" cy="254000"/>
          </a:xfrm>
          <a:prstGeom prst="rect">
            <a:avLst/>
          </a:prstGeom>
          <a:noFill/>
          <a:ln/>
        </p:spPr>
        <p:txBody>
          <a:bodyPr wrap="none" lIns="0" tIns="0" rIns="0" bIns="0" rtlCol="0" anchor="ctr"/>
          <a:lstStyle/>
          <a:p>
            <a:pPr algn="l">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Restaurant Finder | Graduation Project Defense</a:t>
            </a:r>
            <a:endParaRPr lang="en-US" sz="1200" dirty="0"/>
          </a:p>
        </p:txBody>
      </p:sp>
      <p:sp>
        <p:nvSpPr>
          <p:cNvPr id="29" name="Text 26"/>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02 / 12</a:t>
            </a:r>
            <a:endParaRPr lang="en-US" sz="12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2D2D2D"/>
          </a:solidFill>
          <a:ln/>
        </p:spPr>
        <p:txBody>
          <a:bodyPr/>
          <a:lstStyle/>
          <a:p>
            <a:endParaRPr lang="en-US"/>
          </a:p>
        </p:txBody>
      </p:sp>
      <p:sp>
        <p:nvSpPr>
          <p:cNvPr id="4" name="Text 1"/>
          <p:cNvSpPr/>
          <p:nvPr/>
        </p:nvSpPr>
        <p:spPr>
          <a:xfrm>
            <a:off x="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PROBLEM</a:t>
            </a:r>
            <a:endParaRPr lang="en-US" sz="1100" dirty="0"/>
          </a:p>
        </p:txBody>
      </p:sp>
      <p:sp>
        <p:nvSpPr>
          <p:cNvPr id="5" name="Text 2"/>
          <p:cNvSpPr/>
          <p:nvPr/>
        </p:nvSpPr>
        <p:spPr>
          <a:xfrm>
            <a:off x="3251200" y="0"/>
            <a:ext cx="3251200" cy="406400"/>
          </a:xfrm>
          <a:prstGeom prst="rect">
            <a:avLst/>
          </a:prstGeom>
          <a:noFill/>
          <a:ln/>
        </p:spPr>
        <p:txBody>
          <a:bodyPr wrap="none" lIns="0" tIns="0" rIns="0" bIns="0" rtlCol="0" anchor="ctr"/>
          <a:lstStyle/>
          <a:p>
            <a:pPr algn="ctr">
              <a:lnSpc>
                <a:spcPct val="120000"/>
              </a:lnSpc>
            </a:pPr>
            <a:r>
              <a:rPr lang="en-US" sz="1100" b="1" dirty="0">
                <a:solidFill>
                  <a:srgbClr val="D4652A"/>
                </a:solidFill>
                <a:latin typeface="Quattrocento Sans" pitchFamily="34" charset="0"/>
                <a:ea typeface="Quattrocento Sans" pitchFamily="34" charset="-122"/>
                <a:cs typeface="Quattrocento Sans" pitchFamily="34" charset="-120"/>
              </a:rPr>
              <a:t>SOLUTION</a:t>
            </a:r>
            <a:endParaRPr lang="en-US" sz="1100" dirty="0"/>
          </a:p>
        </p:txBody>
      </p:sp>
      <p:sp>
        <p:nvSpPr>
          <p:cNvPr id="6" name="Shape 3"/>
          <p:cNvSpPr/>
          <p:nvPr/>
        </p:nvSpPr>
        <p:spPr>
          <a:xfrm>
            <a:off x="4241800" y="419100"/>
            <a:ext cx="1270000" cy="38100"/>
          </a:xfrm>
          <a:prstGeom prst="rect">
            <a:avLst/>
          </a:prstGeom>
          <a:solidFill>
            <a:srgbClr val="D4652A"/>
          </a:solidFill>
          <a:ln/>
        </p:spPr>
        <p:txBody>
          <a:bodyPr/>
          <a:lstStyle/>
          <a:p>
            <a:endParaRPr lang="en-US"/>
          </a:p>
        </p:txBody>
      </p:sp>
      <p:sp>
        <p:nvSpPr>
          <p:cNvPr id="7" name="Text 4"/>
          <p:cNvSpPr/>
          <p:nvPr/>
        </p:nvSpPr>
        <p:spPr>
          <a:xfrm>
            <a:off x="65024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TECH STACK</a:t>
            </a:r>
            <a:endParaRPr lang="en-US" sz="1100" dirty="0"/>
          </a:p>
        </p:txBody>
      </p:sp>
      <p:sp>
        <p:nvSpPr>
          <p:cNvPr id="8" name="Text 5"/>
          <p:cNvSpPr/>
          <p:nvPr/>
        </p:nvSpPr>
        <p:spPr>
          <a:xfrm>
            <a:off x="97536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FEATURES</a:t>
            </a:r>
            <a:endParaRPr lang="en-US" sz="1100" dirty="0"/>
          </a:p>
        </p:txBody>
      </p:sp>
      <p:sp>
        <p:nvSpPr>
          <p:cNvPr id="9" name="Text 6"/>
          <p:cNvSpPr/>
          <p:nvPr/>
        </p:nvSpPr>
        <p:spPr>
          <a:xfrm>
            <a:off x="130048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ARCHITECTURE</a:t>
            </a:r>
            <a:endParaRPr lang="en-US" sz="1100" dirty="0"/>
          </a:p>
        </p:txBody>
      </p:sp>
      <p:sp>
        <p:nvSpPr>
          <p:cNvPr id="10" name="Text 7"/>
          <p:cNvSpPr/>
          <p:nvPr/>
        </p:nvSpPr>
        <p:spPr>
          <a:xfrm>
            <a:off x="762000" y="660400"/>
            <a:ext cx="8890000" cy="508000"/>
          </a:xfrm>
          <a:prstGeom prst="rect">
            <a:avLst/>
          </a:prstGeom>
          <a:noFill/>
          <a:ln/>
        </p:spPr>
        <p:txBody>
          <a:bodyPr wrap="none" lIns="0" tIns="0" rIns="0" bIns="0" rtlCol="0" anchor="ctr"/>
          <a:lstStyle/>
          <a:p>
            <a:pPr algn="l">
              <a:lnSpc>
                <a:spcPct val="130000"/>
              </a:lnSpc>
            </a:pPr>
            <a:r>
              <a:rPr lang="en-US" sz="2800" dirty="0">
                <a:solidFill>
                  <a:srgbClr val="1E1E1E"/>
                </a:solidFill>
                <a:latin typeface="Liter" pitchFamily="34" charset="0"/>
                <a:ea typeface="Liter" pitchFamily="34" charset="-122"/>
                <a:cs typeface="Liter" pitchFamily="34" charset="-120"/>
              </a:rPr>
              <a:t>Our Solution: Restaurant Finder</a:t>
            </a:r>
            <a:endParaRPr lang="en-US" sz="2800" dirty="0"/>
          </a:p>
        </p:txBody>
      </p:sp>
      <p:sp>
        <p:nvSpPr>
          <p:cNvPr id="11" name="Shape 8"/>
          <p:cNvSpPr/>
          <p:nvPr/>
        </p:nvSpPr>
        <p:spPr>
          <a:xfrm>
            <a:off x="762000" y="1219200"/>
            <a:ext cx="1016000" cy="38100"/>
          </a:xfrm>
          <a:prstGeom prst="rect">
            <a:avLst/>
          </a:prstGeom>
          <a:solidFill>
            <a:srgbClr val="D4652A"/>
          </a:solidFill>
          <a:ln/>
        </p:spPr>
        <p:txBody>
          <a:bodyPr/>
          <a:lstStyle/>
          <a:p>
            <a:endParaRPr lang="en-US"/>
          </a:p>
        </p:txBody>
      </p:sp>
      <p:sp>
        <p:nvSpPr>
          <p:cNvPr id="12" name="Shape 9"/>
          <p:cNvSpPr/>
          <p:nvPr/>
        </p:nvSpPr>
        <p:spPr>
          <a:xfrm>
            <a:off x="762000" y="1524000"/>
            <a:ext cx="4699000" cy="2159000"/>
          </a:xfrm>
          <a:prstGeom prst="roundRect">
            <a:avLst>
              <a:gd name="adj" fmla="val 8000"/>
            </a:avLst>
          </a:prstGeom>
          <a:solidFill>
            <a:srgbClr val="F0EBE6"/>
          </a:solidFill>
          <a:ln/>
        </p:spPr>
        <p:txBody>
          <a:bodyPr/>
          <a:lstStyle/>
          <a:p>
            <a:endParaRPr lang="en-US"/>
          </a:p>
        </p:txBody>
      </p:sp>
      <p:sp>
        <p:nvSpPr>
          <p:cNvPr id="13" name="Shape 10"/>
          <p:cNvSpPr/>
          <p:nvPr/>
        </p:nvSpPr>
        <p:spPr>
          <a:xfrm>
            <a:off x="1016000" y="1752600"/>
            <a:ext cx="457200" cy="457200"/>
          </a:xfrm>
          <a:custGeom>
            <a:avLst/>
            <a:gdLst/>
            <a:ahLst/>
            <a:cxnLst/>
            <a:rect l="l" t="t" r="r" b="b"/>
            <a:pathLst>
              <a:path w="457200" h="457200">
                <a:moveTo>
                  <a:pt x="209074" y="-24110"/>
                </a:moveTo>
                <a:lnTo>
                  <a:pt x="220821" y="8751"/>
                </a:lnTo>
                <a:lnTo>
                  <a:pt x="250031" y="21967"/>
                </a:lnTo>
                <a:cubicBezTo>
                  <a:pt x="252413" y="23039"/>
                  <a:pt x="254000" y="25718"/>
                  <a:pt x="254000" y="28575"/>
                </a:cubicBezTo>
                <a:cubicBezTo>
                  <a:pt x="254000" y="31433"/>
                  <a:pt x="252413" y="34111"/>
                  <a:pt x="250031" y="35183"/>
                </a:cubicBezTo>
                <a:lnTo>
                  <a:pt x="220821" y="48399"/>
                </a:lnTo>
                <a:lnTo>
                  <a:pt x="209074" y="81260"/>
                </a:lnTo>
                <a:cubicBezTo>
                  <a:pt x="208121" y="83939"/>
                  <a:pt x="205740" y="85725"/>
                  <a:pt x="203200" y="85725"/>
                </a:cubicBezTo>
                <a:cubicBezTo>
                  <a:pt x="200660" y="85725"/>
                  <a:pt x="198279" y="83939"/>
                  <a:pt x="197326" y="81260"/>
                </a:cubicBezTo>
                <a:lnTo>
                  <a:pt x="185579" y="48399"/>
                </a:lnTo>
                <a:lnTo>
                  <a:pt x="156369" y="35183"/>
                </a:lnTo>
                <a:cubicBezTo>
                  <a:pt x="153988" y="34111"/>
                  <a:pt x="152400" y="31432"/>
                  <a:pt x="152400" y="28575"/>
                </a:cubicBezTo>
                <a:cubicBezTo>
                  <a:pt x="152400" y="25718"/>
                  <a:pt x="153988" y="23039"/>
                  <a:pt x="156369" y="21967"/>
                </a:cubicBezTo>
                <a:lnTo>
                  <a:pt x="185579" y="8751"/>
                </a:lnTo>
                <a:lnTo>
                  <a:pt x="197326" y="-24110"/>
                </a:lnTo>
                <a:cubicBezTo>
                  <a:pt x="198279" y="-26789"/>
                  <a:pt x="200660" y="-28575"/>
                  <a:pt x="203200" y="-28575"/>
                </a:cubicBezTo>
                <a:cubicBezTo>
                  <a:pt x="205740" y="-28575"/>
                  <a:pt x="208121" y="-26789"/>
                  <a:pt x="209074" y="-24110"/>
                </a:cubicBezTo>
                <a:close/>
                <a:moveTo>
                  <a:pt x="87868" y="37237"/>
                </a:moveTo>
                <a:lnTo>
                  <a:pt x="104934" y="81975"/>
                </a:lnTo>
                <a:lnTo>
                  <a:pt x="144701" y="101173"/>
                </a:lnTo>
                <a:cubicBezTo>
                  <a:pt x="149384" y="103406"/>
                  <a:pt x="152400" y="108585"/>
                  <a:pt x="152400" y="114300"/>
                </a:cubicBezTo>
                <a:cubicBezTo>
                  <a:pt x="152400" y="120015"/>
                  <a:pt x="149384" y="125194"/>
                  <a:pt x="144701" y="127427"/>
                </a:cubicBezTo>
                <a:lnTo>
                  <a:pt x="104934" y="146625"/>
                </a:lnTo>
                <a:lnTo>
                  <a:pt x="87868" y="191363"/>
                </a:lnTo>
                <a:cubicBezTo>
                  <a:pt x="85884" y="196632"/>
                  <a:pt x="81280" y="200025"/>
                  <a:pt x="76200" y="200025"/>
                </a:cubicBezTo>
                <a:cubicBezTo>
                  <a:pt x="71120" y="200025"/>
                  <a:pt x="66516" y="196632"/>
                  <a:pt x="64532" y="191363"/>
                </a:cubicBezTo>
                <a:lnTo>
                  <a:pt x="47466" y="146625"/>
                </a:lnTo>
                <a:lnTo>
                  <a:pt x="7699" y="127427"/>
                </a:lnTo>
                <a:cubicBezTo>
                  <a:pt x="3016" y="125194"/>
                  <a:pt x="0" y="120015"/>
                  <a:pt x="0" y="114300"/>
                </a:cubicBezTo>
                <a:cubicBezTo>
                  <a:pt x="0" y="108585"/>
                  <a:pt x="3016" y="103406"/>
                  <a:pt x="7699" y="101173"/>
                </a:cubicBezTo>
                <a:lnTo>
                  <a:pt x="47466" y="81975"/>
                </a:lnTo>
                <a:lnTo>
                  <a:pt x="64532" y="37237"/>
                </a:lnTo>
                <a:cubicBezTo>
                  <a:pt x="66516" y="31968"/>
                  <a:pt x="71120" y="28575"/>
                  <a:pt x="76200" y="28575"/>
                </a:cubicBezTo>
                <a:cubicBezTo>
                  <a:pt x="81280" y="28575"/>
                  <a:pt x="85884" y="31968"/>
                  <a:pt x="87868" y="37237"/>
                </a:cubicBezTo>
                <a:close/>
                <a:moveTo>
                  <a:pt x="368300" y="271463"/>
                </a:moveTo>
                <a:cubicBezTo>
                  <a:pt x="373380" y="271463"/>
                  <a:pt x="377984" y="274856"/>
                  <a:pt x="379968" y="280124"/>
                </a:cubicBezTo>
                <a:lnTo>
                  <a:pt x="397034" y="324862"/>
                </a:lnTo>
                <a:lnTo>
                  <a:pt x="436801" y="344061"/>
                </a:lnTo>
                <a:cubicBezTo>
                  <a:pt x="441484" y="346293"/>
                  <a:pt x="444500" y="351473"/>
                  <a:pt x="444500" y="357188"/>
                </a:cubicBezTo>
                <a:cubicBezTo>
                  <a:pt x="444500" y="362903"/>
                  <a:pt x="441484" y="368082"/>
                  <a:pt x="436801" y="370314"/>
                </a:cubicBezTo>
                <a:lnTo>
                  <a:pt x="397034" y="389513"/>
                </a:lnTo>
                <a:lnTo>
                  <a:pt x="379968" y="434251"/>
                </a:lnTo>
                <a:cubicBezTo>
                  <a:pt x="377984" y="439519"/>
                  <a:pt x="373380" y="442913"/>
                  <a:pt x="368300" y="442913"/>
                </a:cubicBezTo>
                <a:cubicBezTo>
                  <a:pt x="363220" y="442913"/>
                  <a:pt x="358616" y="439519"/>
                  <a:pt x="356632" y="434251"/>
                </a:cubicBezTo>
                <a:lnTo>
                  <a:pt x="339566" y="389513"/>
                </a:lnTo>
                <a:lnTo>
                  <a:pt x="299799" y="370314"/>
                </a:lnTo>
                <a:cubicBezTo>
                  <a:pt x="295116" y="368082"/>
                  <a:pt x="292100" y="362903"/>
                  <a:pt x="292100" y="357188"/>
                </a:cubicBezTo>
                <a:cubicBezTo>
                  <a:pt x="292100" y="351473"/>
                  <a:pt x="295116" y="346293"/>
                  <a:pt x="299799" y="344061"/>
                </a:cubicBezTo>
                <a:lnTo>
                  <a:pt x="339566" y="324862"/>
                </a:lnTo>
                <a:lnTo>
                  <a:pt x="356632" y="280124"/>
                </a:lnTo>
                <a:cubicBezTo>
                  <a:pt x="358616" y="274856"/>
                  <a:pt x="363220" y="271463"/>
                  <a:pt x="368300" y="271463"/>
                </a:cubicBezTo>
                <a:close/>
                <a:moveTo>
                  <a:pt x="365125" y="0"/>
                </a:moveTo>
                <a:cubicBezTo>
                  <a:pt x="373856" y="0"/>
                  <a:pt x="382270" y="3929"/>
                  <a:pt x="388541" y="10894"/>
                </a:cubicBezTo>
                <a:lnTo>
                  <a:pt x="422116" y="48667"/>
                </a:lnTo>
                <a:cubicBezTo>
                  <a:pt x="428308" y="55721"/>
                  <a:pt x="431800" y="65187"/>
                  <a:pt x="431800" y="75009"/>
                </a:cubicBezTo>
                <a:cubicBezTo>
                  <a:pt x="431800" y="84832"/>
                  <a:pt x="428308" y="94298"/>
                  <a:pt x="422116" y="101352"/>
                </a:cubicBezTo>
                <a:lnTo>
                  <a:pt x="352107" y="180112"/>
                </a:lnTo>
                <a:lnTo>
                  <a:pt x="271701" y="89654"/>
                </a:lnTo>
                <a:lnTo>
                  <a:pt x="341709" y="10894"/>
                </a:lnTo>
                <a:cubicBezTo>
                  <a:pt x="347980" y="3929"/>
                  <a:pt x="356394" y="0"/>
                  <a:pt x="365125" y="0"/>
                </a:cubicBezTo>
                <a:close/>
                <a:moveTo>
                  <a:pt x="35084" y="355848"/>
                </a:moveTo>
                <a:lnTo>
                  <a:pt x="244793" y="119926"/>
                </a:lnTo>
                <a:lnTo>
                  <a:pt x="325199" y="210383"/>
                </a:lnTo>
                <a:lnTo>
                  <a:pt x="115491" y="446306"/>
                </a:lnTo>
                <a:cubicBezTo>
                  <a:pt x="109220" y="453271"/>
                  <a:pt x="100806" y="457200"/>
                  <a:pt x="92075" y="457200"/>
                </a:cubicBezTo>
                <a:cubicBezTo>
                  <a:pt x="83344" y="457200"/>
                  <a:pt x="74930" y="453271"/>
                  <a:pt x="68659" y="446306"/>
                </a:cubicBezTo>
                <a:lnTo>
                  <a:pt x="35084" y="408533"/>
                </a:lnTo>
                <a:cubicBezTo>
                  <a:pt x="28893" y="401479"/>
                  <a:pt x="25400" y="392013"/>
                  <a:pt x="25400" y="382191"/>
                </a:cubicBezTo>
                <a:cubicBezTo>
                  <a:pt x="25400" y="372368"/>
                  <a:pt x="28893" y="362903"/>
                  <a:pt x="35084" y="355848"/>
                </a:cubicBezTo>
                <a:close/>
              </a:path>
            </a:pathLst>
          </a:custGeom>
          <a:solidFill>
            <a:srgbClr val="D4652A"/>
          </a:solidFill>
          <a:ln/>
        </p:spPr>
        <p:txBody>
          <a:bodyPr/>
          <a:lstStyle/>
          <a:p>
            <a:endParaRPr lang="en-US"/>
          </a:p>
        </p:txBody>
      </p:sp>
      <p:sp>
        <p:nvSpPr>
          <p:cNvPr id="14" name="Text 11"/>
          <p:cNvSpPr/>
          <p:nvPr/>
        </p:nvSpPr>
        <p:spPr>
          <a:xfrm>
            <a:off x="1625600" y="1752600"/>
            <a:ext cx="3556000" cy="381000"/>
          </a:xfrm>
          <a:prstGeom prst="rect">
            <a:avLst/>
          </a:prstGeom>
          <a:noFill/>
          <a:ln/>
        </p:spPr>
        <p:txBody>
          <a:bodyPr wrap="none" lIns="0" tIns="0" rIns="0" bIns="0" rtlCol="0" anchor="ctr"/>
          <a:lstStyle/>
          <a:p>
            <a:pPr algn="l">
              <a:lnSpc>
                <a:spcPct val="120000"/>
              </a:lnSpc>
            </a:pPr>
            <a:r>
              <a:rPr lang="en-US" sz="1800" b="1" dirty="0">
                <a:solidFill>
                  <a:srgbClr val="1E1E1E"/>
                </a:solidFill>
                <a:latin typeface="Liter" pitchFamily="34" charset="0"/>
                <a:ea typeface="Liter" pitchFamily="34" charset="-122"/>
                <a:cs typeface="Liter" pitchFamily="34" charset="-120"/>
              </a:rPr>
              <a:t>Smart Assistant</a:t>
            </a:r>
            <a:endParaRPr lang="en-US" sz="1800" dirty="0"/>
          </a:p>
        </p:txBody>
      </p:sp>
      <p:sp>
        <p:nvSpPr>
          <p:cNvPr id="15" name="Text 12"/>
          <p:cNvSpPr/>
          <p:nvPr/>
        </p:nvSpPr>
        <p:spPr>
          <a:xfrm>
            <a:off x="1016000" y="2286000"/>
            <a:ext cx="4191000" cy="1143000"/>
          </a:xfrm>
          <a:prstGeom prst="rect">
            <a:avLst/>
          </a:prstGeom>
          <a:noFill/>
          <a:ln/>
        </p:spPr>
        <p:txBody>
          <a:bodyPr wrap="square" lIns="0" tIns="0" rIns="0" bIns="0" rtlCol="0" anchor="t"/>
          <a:lstStyle/>
          <a:p>
            <a:pPr algn="l">
              <a:lnSpc>
                <a:spcPct val="150000"/>
              </a:lnSpc>
            </a:pPr>
            <a:r>
              <a:rPr lang="en-US" sz="1400" dirty="0">
                <a:solidFill>
                  <a:srgbClr val="5C5C5C"/>
                </a:solidFill>
                <a:latin typeface="Quattrocento Sans" pitchFamily="34" charset="0"/>
                <a:ea typeface="Quattrocento Sans" pitchFamily="34" charset="-122"/>
                <a:cs typeface="Quattrocento Sans" pitchFamily="34" charset="-120"/>
              </a:rPr>
              <a:t>AI-powered 8-question survey covering mood, cuisine, budget, diet, and health conditions</a:t>
            </a:r>
            <a:endParaRPr lang="en-US" sz="1400" dirty="0"/>
          </a:p>
        </p:txBody>
      </p:sp>
      <p:sp>
        <p:nvSpPr>
          <p:cNvPr id="16" name="Shape 13"/>
          <p:cNvSpPr/>
          <p:nvPr/>
        </p:nvSpPr>
        <p:spPr>
          <a:xfrm>
            <a:off x="5778500" y="1524000"/>
            <a:ext cx="4699000" cy="2159000"/>
          </a:xfrm>
          <a:prstGeom prst="roundRect">
            <a:avLst>
              <a:gd name="adj" fmla="val 8000"/>
            </a:avLst>
          </a:prstGeom>
          <a:solidFill>
            <a:srgbClr val="F0EBE6"/>
          </a:solidFill>
          <a:ln/>
        </p:spPr>
        <p:txBody>
          <a:bodyPr/>
          <a:lstStyle/>
          <a:p>
            <a:endParaRPr lang="en-US"/>
          </a:p>
        </p:txBody>
      </p:sp>
      <p:sp>
        <p:nvSpPr>
          <p:cNvPr id="17" name="Shape 14"/>
          <p:cNvSpPr/>
          <p:nvPr/>
        </p:nvSpPr>
        <p:spPr>
          <a:xfrm>
            <a:off x="6032500" y="1752600"/>
            <a:ext cx="457200" cy="457200"/>
          </a:xfrm>
          <a:custGeom>
            <a:avLst/>
            <a:gdLst/>
            <a:ahLst/>
            <a:cxnLst/>
            <a:rect l="l" t="t" r="r" b="b"/>
            <a:pathLst>
              <a:path w="457200" h="457200">
                <a:moveTo>
                  <a:pt x="457200" y="183773"/>
                </a:moveTo>
                <a:cubicBezTo>
                  <a:pt x="442096" y="192524"/>
                  <a:pt x="424747" y="199579"/>
                  <a:pt x="406683" y="205204"/>
                </a:cubicBezTo>
                <a:cubicBezTo>
                  <a:pt x="358718" y="220206"/>
                  <a:pt x="295751" y="228600"/>
                  <a:pt x="228600" y="228600"/>
                </a:cubicBezTo>
                <a:cubicBezTo>
                  <a:pt x="161449" y="228600"/>
                  <a:pt x="98380" y="220117"/>
                  <a:pt x="50517" y="205204"/>
                </a:cubicBezTo>
                <a:cubicBezTo>
                  <a:pt x="32555" y="199579"/>
                  <a:pt x="15104" y="192524"/>
                  <a:pt x="0" y="183773"/>
                </a:cubicBezTo>
                <a:lnTo>
                  <a:pt x="0" y="257175"/>
                </a:lnTo>
                <a:cubicBezTo>
                  <a:pt x="0" y="296644"/>
                  <a:pt x="102360" y="328613"/>
                  <a:pt x="228600" y="328613"/>
                </a:cubicBezTo>
                <a:cubicBezTo>
                  <a:pt x="354840" y="328613"/>
                  <a:pt x="457200" y="296644"/>
                  <a:pt x="457200" y="257175"/>
                </a:cubicBezTo>
                <a:lnTo>
                  <a:pt x="457200" y="183773"/>
                </a:lnTo>
                <a:close/>
                <a:moveTo>
                  <a:pt x="457200" y="114300"/>
                </a:moveTo>
                <a:lnTo>
                  <a:pt x="457200" y="71438"/>
                </a:lnTo>
                <a:cubicBezTo>
                  <a:pt x="457200" y="31968"/>
                  <a:pt x="354840" y="0"/>
                  <a:pt x="228600" y="0"/>
                </a:cubicBezTo>
                <a:cubicBezTo>
                  <a:pt x="102360" y="0"/>
                  <a:pt x="0" y="31968"/>
                  <a:pt x="0" y="71438"/>
                </a:cubicBezTo>
                <a:lnTo>
                  <a:pt x="0" y="114300"/>
                </a:lnTo>
                <a:cubicBezTo>
                  <a:pt x="0" y="153769"/>
                  <a:pt x="102360" y="185738"/>
                  <a:pt x="228600" y="185738"/>
                </a:cubicBezTo>
                <a:cubicBezTo>
                  <a:pt x="354840" y="185738"/>
                  <a:pt x="457200" y="153769"/>
                  <a:pt x="457200" y="114300"/>
                </a:cubicBezTo>
                <a:close/>
                <a:moveTo>
                  <a:pt x="406683" y="348079"/>
                </a:moveTo>
                <a:cubicBezTo>
                  <a:pt x="358820" y="362992"/>
                  <a:pt x="295853" y="371475"/>
                  <a:pt x="228600" y="371475"/>
                </a:cubicBezTo>
                <a:cubicBezTo>
                  <a:pt x="161347" y="371475"/>
                  <a:pt x="98380" y="362992"/>
                  <a:pt x="50517" y="348079"/>
                </a:cubicBezTo>
                <a:cubicBezTo>
                  <a:pt x="32555" y="342454"/>
                  <a:pt x="15104" y="335399"/>
                  <a:pt x="0" y="326648"/>
                </a:cubicBezTo>
                <a:lnTo>
                  <a:pt x="0" y="385763"/>
                </a:lnTo>
                <a:cubicBezTo>
                  <a:pt x="0" y="425232"/>
                  <a:pt x="102360" y="457200"/>
                  <a:pt x="228600" y="457200"/>
                </a:cubicBezTo>
                <a:cubicBezTo>
                  <a:pt x="354840" y="457200"/>
                  <a:pt x="457200" y="425232"/>
                  <a:pt x="457200" y="385763"/>
                </a:cubicBezTo>
                <a:lnTo>
                  <a:pt x="457200" y="326648"/>
                </a:lnTo>
                <a:cubicBezTo>
                  <a:pt x="442096" y="335399"/>
                  <a:pt x="424747" y="342454"/>
                  <a:pt x="406683" y="348079"/>
                </a:cubicBezTo>
                <a:close/>
              </a:path>
            </a:pathLst>
          </a:custGeom>
          <a:solidFill>
            <a:srgbClr val="D4652A"/>
          </a:solidFill>
          <a:ln/>
        </p:spPr>
        <p:txBody>
          <a:bodyPr/>
          <a:lstStyle/>
          <a:p>
            <a:endParaRPr lang="en-US"/>
          </a:p>
        </p:txBody>
      </p:sp>
      <p:sp>
        <p:nvSpPr>
          <p:cNvPr id="18" name="Text 15"/>
          <p:cNvSpPr/>
          <p:nvPr/>
        </p:nvSpPr>
        <p:spPr>
          <a:xfrm>
            <a:off x="6642100" y="1752600"/>
            <a:ext cx="3556000" cy="381000"/>
          </a:xfrm>
          <a:prstGeom prst="rect">
            <a:avLst/>
          </a:prstGeom>
          <a:noFill/>
          <a:ln/>
        </p:spPr>
        <p:txBody>
          <a:bodyPr wrap="none" lIns="0" tIns="0" rIns="0" bIns="0" rtlCol="0" anchor="ctr"/>
          <a:lstStyle/>
          <a:p>
            <a:pPr algn="l">
              <a:lnSpc>
                <a:spcPct val="120000"/>
              </a:lnSpc>
            </a:pPr>
            <a:r>
              <a:rPr lang="en-US" sz="1800" b="1" dirty="0">
                <a:solidFill>
                  <a:srgbClr val="1E1E1E"/>
                </a:solidFill>
                <a:latin typeface="Liter" pitchFamily="34" charset="0"/>
                <a:ea typeface="Liter" pitchFamily="34" charset="-122"/>
                <a:cs typeface="Liter" pitchFamily="34" charset="-120"/>
              </a:rPr>
              <a:t>Yelp Integration</a:t>
            </a:r>
            <a:endParaRPr lang="en-US" sz="1800" dirty="0"/>
          </a:p>
        </p:txBody>
      </p:sp>
      <p:sp>
        <p:nvSpPr>
          <p:cNvPr id="19" name="Text 16"/>
          <p:cNvSpPr/>
          <p:nvPr/>
        </p:nvSpPr>
        <p:spPr>
          <a:xfrm>
            <a:off x="6032500" y="2286000"/>
            <a:ext cx="4191000" cy="1143000"/>
          </a:xfrm>
          <a:prstGeom prst="rect">
            <a:avLst/>
          </a:prstGeom>
          <a:noFill/>
          <a:ln/>
        </p:spPr>
        <p:txBody>
          <a:bodyPr wrap="square" lIns="0" tIns="0" rIns="0" bIns="0" rtlCol="0" anchor="t"/>
          <a:lstStyle/>
          <a:p>
            <a:pPr algn="l">
              <a:lnSpc>
                <a:spcPct val="150000"/>
              </a:lnSpc>
            </a:pPr>
            <a:r>
              <a:rPr lang="en-US" sz="1400" dirty="0">
                <a:solidFill>
                  <a:srgbClr val="5C5C5C"/>
                </a:solidFill>
                <a:latin typeface="Quattrocento Sans" pitchFamily="34" charset="0"/>
                <a:ea typeface="Quattrocento Sans" pitchFamily="34" charset="-122"/>
                <a:cs typeface="Quattrocento Sans" pitchFamily="34" charset="-120"/>
              </a:rPr>
              <a:t>Real-time restaurant data via Yelp Fusion API for accurate, up-to-date information</a:t>
            </a:r>
            <a:endParaRPr lang="en-US" sz="1400" dirty="0"/>
          </a:p>
        </p:txBody>
      </p:sp>
      <p:sp>
        <p:nvSpPr>
          <p:cNvPr id="20" name="Shape 17"/>
          <p:cNvSpPr/>
          <p:nvPr/>
        </p:nvSpPr>
        <p:spPr>
          <a:xfrm>
            <a:off x="10795000" y="1524000"/>
            <a:ext cx="4699000" cy="2159000"/>
          </a:xfrm>
          <a:prstGeom prst="roundRect">
            <a:avLst>
              <a:gd name="adj" fmla="val 8000"/>
            </a:avLst>
          </a:prstGeom>
          <a:solidFill>
            <a:srgbClr val="F0EBE6"/>
          </a:solidFill>
          <a:ln/>
        </p:spPr>
        <p:txBody>
          <a:bodyPr/>
          <a:lstStyle/>
          <a:p>
            <a:endParaRPr lang="en-US"/>
          </a:p>
        </p:txBody>
      </p:sp>
      <p:sp>
        <p:nvSpPr>
          <p:cNvPr id="21" name="Shape 18"/>
          <p:cNvSpPr/>
          <p:nvPr/>
        </p:nvSpPr>
        <p:spPr>
          <a:xfrm>
            <a:off x="11049000" y="1752600"/>
            <a:ext cx="457200" cy="457200"/>
          </a:xfrm>
          <a:custGeom>
            <a:avLst/>
            <a:gdLst/>
            <a:ahLst/>
            <a:cxnLst/>
            <a:rect l="l" t="t" r="r" b="b"/>
            <a:pathLst>
              <a:path w="457200" h="457200">
                <a:moveTo>
                  <a:pt x="228600" y="221456"/>
                </a:moveTo>
                <a:cubicBezTo>
                  <a:pt x="296190" y="221456"/>
                  <a:pt x="351064" y="173441"/>
                  <a:pt x="351064" y="114300"/>
                </a:cubicBezTo>
                <a:cubicBezTo>
                  <a:pt x="351064" y="55159"/>
                  <a:pt x="296190" y="7144"/>
                  <a:pt x="228600" y="7144"/>
                </a:cubicBezTo>
                <a:cubicBezTo>
                  <a:pt x="161010" y="7144"/>
                  <a:pt x="106136" y="55159"/>
                  <a:pt x="106136" y="114300"/>
                </a:cubicBezTo>
                <a:cubicBezTo>
                  <a:pt x="106136" y="173441"/>
                  <a:pt x="161010" y="221456"/>
                  <a:pt x="228600" y="221456"/>
                </a:cubicBezTo>
                <a:close/>
                <a:moveTo>
                  <a:pt x="198290" y="271463"/>
                </a:moveTo>
                <a:cubicBezTo>
                  <a:pt x="97767" y="271463"/>
                  <a:pt x="16329" y="342721"/>
                  <a:pt x="16329" y="430679"/>
                </a:cubicBezTo>
                <a:cubicBezTo>
                  <a:pt x="16329" y="445324"/>
                  <a:pt x="29902" y="457200"/>
                  <a:pt x="46638" y="457200"/>
                </a:cubicBezTo>
                <a:lnTo>
                  <a:pt x="410562" y="457200"/>
                </a:lnTo>
                <a:cubicBezTo>
                  <a:pt x="427298" y="457200"/>
                  <a:pt x="440871" y="445324"/>
                  <a:pt x="440871" y="430679"/>
                </a:cubicBezTo>
                <a:cubicBezTo>
                  <a:pt x="440871" y="342721"/>
                  <a:pt x="359433" y="271463"/>
                  <a:pt x="258910" y="271463"/>
                </a:cubicBezTo>
                <a:lnTo>
                  <a:pt x="198290" y="271463"/>
                </a:lnTo>
                <a:close/>
              </a:path>
            </a:pathLst>
          </a:custGeom>
          <a:solidFill>
            <a:srgbClr val="D4652A"/>
          </a:solidFill>
          <a:ln/>
        </p:spPr>
        <p:txBody>
          <a:bodyPr/>
          <a:lstStyle/>
          <a:p>
            <a:endParaRPr lang="en-US"/>
          </a:p>
        </p:txBody>
      </p:sp>
      <p:sp>
        <p:nvSpPr>
          <p:cNvPr id="22" name="Text 19"/>
          <p:cNvSpPr/>
          <p:nvPr/>
        </p:nvSpPr>
        <p:spPr>
          <a:xfrm>
            <a:off x="11658600" y="1752600"/>
            <a:ext cx="3556000" cy="381000"/>
          </a:xfrm>
          <a:prstGeom prst="rect">
            <a:avLst/>
          </a:prstGeom>
          <a:noFill/>
          <a:ln/>
        </p:spPr>
        <p:txBody>
          <a:bodyPr wrap="none" lIns="0" tIns="0" rIns="0" bIns="0" rtlCol="0" anchor="ctr"/>
          <a:lstStyle/>
          <a:p>
            <a:pPr algn="l">
              <a:lnSpc>
                <a:spcPct val="120000"/>
              </a:lnSpc>
            </a:pPr>
            <a:r>
              <a:rPr lang="en-US" sz="1800" b="1" dirty="0">
                <a:solidFill>
                  <a:srgbClr val="1E1E1E"/>
                </a:solidFill>
                <a:latin typeface="Liter" pitchFamily="34" charset="0"/>
                <a:ea typeface="Liter" pitchFamily="34" charset="-122"/>
                <a:cs typeface="Liter" pitchFamily="34" charset="-120"/>
              </a:rPr>
              <a:t>User Profiles</a:t>
            </a:r>
            <a:endParaRPr lang="en-US" sz="1800" dirty="0"/>
          </a:p>
        </p:txBody>
      </p:sp>
      <p:sp>
        <p:nvSpPr>
          <p:cNvPr id="23" name="Text 20"/>
          <p:cNvSpPr/>
          <p:nvPr/>
        </p:nvSpPr>
        <p:spPr>
          <a:xfrm>
            <a:off x="11049000" y="2286000"/>
            <a:ext cx="4191000" cy="1143000"/>
          </a:xfrm>
          <a:prstGeom prst="rect">
            <a:avLst/>
          </a:prstGeom>
          <a:noFill/>
          <a:ln/>
        </p:spPr>
        <p:txBody>
          <a:bodyPr wrap="square" lIns="0" tIns="0" rIns="0" bIns="0" rtlCol="0" anchor="t"/>
          <a:lstStyle/>
          <a:p>
            <a:pPr algn="l">
              <a:lnSpc>
                <a:spcPct val="150000"/>
              </a:lnSpc>
            </a:pPr>
            <a:r>
              <a:rPr lang="en-US" sz="1400" dirty="0">
                <a:solidFill>
                  <a:srgbClr val="5C5C5C"/>
                </a:solidFill>
                <a:latin typeface="Quattrocento Sans" pitchFamily="34" charset="0"/>
                <a:ea typeface="Quattrocento Sans" pitchFamily="34" charset="-122"/>
                <a:cs typeface="Quattrocento Sans" pitchFamily="34" charset="-120"/>
              </a:rPr>
              <a:t>Personalized profiles with preference management, dietary restrictions, and dining history</a:t>
            </a:r>
            <a:endParaRPr lang="en-US" sz="1400" dirty="0"/>
          </a:p>
        </p:txBody>
      </p:sp>
      <p:sp>
        <p:nvSpPr>
          <p:cNvPr id="24" name="Shape 21"/>
          <p:cNvSpPr/>
          <p:nvPr/>
        </p:nvSpPr>
        <p:spPr>
          <a:xfrm>
            <a:off x="762000" y="3937000"/>
            <a:ext cx="4699000" cy="2159000"/>
          </a:xfrm>
          <a:prstGeom prst="roundRect">
            <a:avLst>
              <a:gd name="adj" fmla="val 8000"/>
            </a:avLst>
          </a:prstGeom>
          <a:solidFill>
            <a:srgbClr val="F0EBE6"/>
          </a:solidFill>
          <a:ln/>
        </p:spPr>
        <p:txBody>
          <a:bodyPr/>
          <a:lstStyle/>
          <a:p>
            <a:endParaRPr lang="en-US"/>
          </a:p>
        </p:txBody>
      </p:sp>
      <p:sp>
        <p:nvSpPr>
          <p:cNvPr id="25" name="Shape 22"/>
          <p:cNvSpPr/>
          <p:nvPr/>
        </p:nvSpPr>
        <p:spPr>
          <a:xfrm>
            <a:off x="1016000" y="4165600"/>
            <a:ext cx="457200" cy="457200"/>
          </a:xfrm>
          <a:custGeom>
            <a:avLst/>
            <a:gdLst/>
            <a:ahLst/>
            <a:cxnLst/>
            <a:rect l="l" t="t" r="r" b="b"/>
            <a:pathLst>
              <a:path w="457200" h="457200">
                <a:moveTo>
                  <a:pt x="215205" y="77778"/>
                </a:moveTo>
                <a:lnTo>
                  <a:pt x="228600" y="96262"/>
                </a:lnTo>
                <a:lnTo>
                  <a:pt x="241995" y="77778"/>
                </a:lnTo>
                <a:cubicBezTo>
                  <a:pt x="264319" y="46881"/>
                  <a:pt x="300216" y="28575"/>
                  <a:pt x="338346" y="28575"/>
                </a:cubicBezTo>
                <a:cubicBezTo>
                  <a:pt x="403979" y="28575"/>
                  <a:pt x="457200" y="81796"/>
                  <a:pt x="457200" y="147429"/>
                </a:cubicBezTo>
                <a:lnTo>
                  <a:pt x="457200" y="149751"/>
                </a:lnTo>
                <a:cubicBezTo>
                  <a:pt x="457200" y="249942"/>
                  <a:pt x="332274" y="366296"/>
                  <a:pt x="267087" y="416034"/>
                </a:cubicBezTo>
                <a:cubicBezTo>
                  <a:pt x="256014" y="424428"/>
                  <a:pt x="242441" y="428625"/>
                  <a:pt x="228600" y="428625"/>
                </a:cubicBezTo>
                <a:cubicBezTo>
                  <a:pt x="214759" y="428625"/>
                  <a:pt x="201097" y="424517"/>
                  <a:pt x="190113" y="416034"/>
                </a:cubicBezTo>
                <a:cubicBezTo>
                  <a:pt x="124926" y="366296"/>
                  <a:pt x="0" y="249942"/>
                  <a:pt x="0" y="149751"/>
                </a:cubicBezTo>
                <a:lnTo>
                  <a:pt x="0" y="147429"/>
                </a:lnTo>
                <a:cubicBezTo>
                  <a:pt x="0" y="81796"/>
                  <a:pt x="53221" y="28575"/>
                  <a:pt x="118854" y="28575"/>
                </a:cubicBezTo>
                <a:cubicBezTo>
                  <a:pt x="156984" y="28575"/>
                  <a:pt x="192881" y="46881"/>
                  <a:pt x="215205" y="77778"/>
                </a:cubicBezTo>
                <a:close/>
              </a:path>
            </a:pathLst>
          </a:custGeom>
          <a:solidFill>
            <a:srgbClr val="D4652A"/>
          </a:solidFill>
          <a:ln/>
        </p:spPr>
        <p:txBody>
          <a:bodyPr/>
          <a:lstStyle/>
          <a:p>
            <a:endParaRPr lang="en-US"/>
          </a:p>
        </p:txBody>
      </p:sp>
      <p:sp>
        <p:nvSpPr>
          <p:cNvPr id="26" name="Text 23"/>
          <p:cNvSpPr/>
          <p:nvPr/>
        </p:nvSpPr>
        <p:spPr>
          <a:xfrm>
            <a:off x="1625600" y="4165600"/>
            <a:ext cx="3556000" cy="381000"/>
          </a:xfrm>
          <a:prstGeom prst="rect">
            <a:avLst/>
          </a:prstGeom>
          <a:noFill/>
          <a:ln/>
        </p:spPr>
        <p:txBody>
          <a:bodyPr wrap="none" lIns="0" tIns="0" rIns="0" bIns="0" rtlCol="0" anchor="ctr"/>
          <a:lstStyle/>
          <a:p>
            <a:pPr algn="l">
              <a:lnSpc>
                <a:spcPct val="120000"/>
              </a:lnSpc>
            </a:pPr>
            <a:r>
              <a:rPr lang="en-US" sz="1800" b="1" dirty="0">
                <a:solidFill>
                  <a:srgbClr val="1E1E1E"/>
                </a:solidFill>
                <a:latin typeface="Liter" pitchFamily="34" charset="0"/>
                <a:ea typeface="Liter" pitchFamily="34" charset="-122"/>
                <a:cs typeface="Liter" pitchFamily="34" charset="-120"/>
              </a:rPr>
              <a:t>Saved Favorites</a:t>
            </a:r>
            <a:endParaRPr lang="en-US" sz="1800" dirty="0"/>
          </a:p>
        </p:txBody>
      </p:sp>
      <p:sp>
        <p:nvSpPr>
          <p:cNvPr id="27" name="Text 24"/>
          <p:cNvSpPr/>
          <p:nvPr/>
        </p:nvSpPr>
        <p:spPr>
          <a:xfrm>
            <a:off x="1016000" y="4699000"/>
            <a:ext cx="4191000" cy="1143000"/>
          </a:xfrm>
          <a:prstGeom prst="rect">
            <a:avLst/>
          </a:prstGeom>
          <a:noFill/>
          <a:ln/>
        </p:spPr>
        <p:txBody>
          <a:bodyPr wrap="square" lIns="0" tIns="0" rIns="0" bIns="0" rtlCol="0" anchor="t"/>
          <a:lstStyle/>
          <a:p>
            <a:pPr algn="l">
              <a:lnSpc>
                <a:spcPct val="150000"/>
              </a:lnSpc>
            </a:pPr>
            <a:r>
              <a:rPr lang="en-US" sz="1400" dirty="0">
                <a:solidFill>
                  <a:srgbClr val="5C5C5C"/>
                </a:solidFill>
                <a:latin typeface="Quattrocento Sans" pitchFamily="34" charset="0"/>
                <a:ea typeface="Quattrocento Sans" pitchFamily="34" charset="-122"/>
                <a:cs typeface="Quattrocento Sans" pitchFamily="34" charset="-120"/>
              </a:rPr>
              <a:t>One-click save and unsave with persistent storage across sessions for quick access</a:t>
            </a:r>
            <a:endParaRPr lang="en-US" sz="1400" dirty="0"/>
          </a:p>
        </p:txBody>
      </p:sp>
      <p:sp>
        <p:nvSpPr>
          <p:cNvPr id="28" name="Shape 25"/>
          <p:cNvSpPr/>
          <p:nvPr/>
        </p:nvSpPr>
        <p:spPr>
          <a:xfrm>
            <a:off x="5778500" y="3937000"/>
            <a:ext cx="4699000" cy="2159000"/>
          </a:xfrm>
          <a:prstGeom prst="roundRect">
            <a:avLst>
              <a:gd name="adj" fmla="val 8000"/>
            </a:avLst>
          </a:prstGeom>
          <a:solidFill>
            <a:srgbClr val="F0EBE6"/>
          </a:solidFill>
          <a:ln/>
        </p:spPr>
        <p:txBody>
          <a:bodyPr/>
          <a:lstStyle/>
          <a:p>
            <a:endParaRPr lang="en-US"/>
          </a:p>
        </p:txBody>
      </p:sp>
      <p:sp>
        <p:nvSpPr>
          <p:cNvPr id="29" name="Shape 26"/>
          <p:cNvSpPr/>
          <p:nvPr/>
        </p:nvSpPr>
        <p:spPr>
          <a:xfrm>
            <a:off x="6032500" y="4165600"/>
            <a:ext cx="457200" cy="457200"/>
          </a:xfrm>
          <a:custGeom>
            <a:avLst/>
            <a:gdLst/>
            <a:ahLst/>
            <a:cxnLst/>
            <a:rect l="l" t="t" r="r" b="b"/>
            <a:pathLst>
              <a:path w="457200" h="457200">
                <a:moveTo>
                  <a:pt x="57150" y="57150"/>
                </a:moveTo>
                <a:cubicBezTo>
                  <a:pt x="57150" y="41344"/>
                  <a:pt x="44381" y="28575"/>
                  <a:pt x="28575" y="28575"/>
                </a:cubicBezTo>
                <a:cubicBezTo>
                  <a:pt x="12769" y="28575"/>
                  <a:pt x="0" y="41344"/>
                  <a:pt x="0" y="57150"/>
                </a:cubicBezTo>
                <a:lnTo>
                  <a:pt x="0" y="357188"/>
                </a:lnTo>
                <a:cubicBezTo>
                  <a:pt x="0" y="396657"/>
                  <a:pt x="31968" y="428625"/>
                  <a:pt x="71438" y="428625"/>
                </a:cubicBezTo>
                <a:lnTo>
                  <a:pt x="428625" y="428625"/>
                </a:lnTo>
                <a:cubicBezTo>
                  <a:pt x="444431" y="428625"/>
                  <a:pt x="457200" y="415856"/>
                  <a:pt x="457200" y="400050"/>
                </a:cubicBezTo>
                <a:cubicBezTo>
                  <a:pt x="457200" y="384244"/>
                  <a:pt x="444431" y="371475"/>
                  <a:pt x="428625" y="371475"/>
                </a:cubicBezTo>
                <a:lnTo>
                  <a:pt x="71438" y="371475"/>
                </a:lnTo>
                <a:cubicBezTo>
                  <a:pt x="63579" y="371475"/>
                  <a:pt x="57150" y="365046"/>
                  <a:pt x="57150" y="357188"/>
                </a:cubicBezTo>
                <a:lnTo>
                  <a:pt x="57150" y="57150"/>
                </a:lnTo>
                <a:close/>
                <a:moveTo>
                  <a:pt x="420231" y="134481"/>
                </a:moveTo>
                <a:cubicBezTo>
                  <a:pt x="431393" y="123319"/>
                  <a:pt x="431393" y="105192"/>
                  <a:pt x="420231" y="94030"/>
                </a:cubicBezTo>
                <a:cubicBezTo>
                  <a:pt x="409069" y="82867"/>
                  <a:pt x="390942" y="82867"/>
                  <a:pt x="379780" y="94030"/>
                </a:cubicBezTo>
                <a:lnTo>
                  <a:pt x="285750" y="188149"/>
                </a:lnTo>
                <a:lnTo>
                  <a:pt x="234494" y="136981"/>
                </a:lnTo>
                <a:cubicBezTo>
                  <a:pt x="223331" y="125819"/>
                  <a:pt x="205204" y="125819"/>
                  <a:pt x="194042" y="136981"/>
                </a:cubicBezTo>
                <a:lnTo>
                  <a:pt x="108317" y="222706"/>
                </a:lnTo>
                <a:cubicBezTo>
                  <a:pt x="97155" y="233869"/>
                  <a:pt x="97155" y="251996"/>
                  <a:pt x="108317" y="263158"/>
                </a:cubicBezTo>
                <a:cubicBezTo>
                  <a:pt x="119479" y="274320"/>
                  <a:pt x="137606" y="274320"/>
                  <a:pt x="148769" y="263158"/>
                </a:cubicBezTo>
                <a:lnTo>
                  <a:pt x="214313" y="197614"/>
                </a:lnTo>
                <a:lnTo>
                  <a:pt x="265569" y="248870"/>
                </a:lnTo>
                <a:cubicBezTo>
                  <a:pt x="276731" y="260033"/>
                  <a:pt x="294858" y="260033"/>
                  <a:pt x="306020" y="248870"/>
                </a:cubicBezTo>
                <a:lnTo>
                  <a:pt x="420320" y="134570"/>
                </a:lnTo>
                <a:close/>
              </a:path>
            </a:pathLst>
          </a:custGeom>
          <a:solidFill>
            <a:srgbClr val="D4652A"/>
          </a:solidFill>
          <a:ln/>
        </p:spPr>
        <p:txBody>
          <a:bodyPr/>
          <a:lstStyle/>
          <a:p>
            <a:endParaRPr lang="en-US"/>
          </a:p>
        </p:txBody>
      </p:sp>
      <p:sp>
        <p:nvSpPr>
          <p:cNvPr id="30" name="Text 27"/>
          <p:cNvSpPr/>
          <p:nvPr/>
        </p:nvSpPr>
        <p:spPr>
          <a:xfrm>
            <a:off x="6642100" y="4165600"/>
            <a:ext cx="3556000" cy="381000"/>
          </a:xfrm>
          <a:prstGeom prst="rect">
            <a:avLst/>
          </a:prstGeom>
          <a:noFill/>
          <a:ln/>
        </p:spPr>
        <p:txBody>
          <a:bodyPr wrap="none" lIns="0" tIns="0" rIns="0" bIns="0" rtlCol="0" anchor="ctr"/>
          <a:lstStyle/>
          <a:p>
            <a:pPr algn="l">
              <a:lnSpc>
                <a:spcPct val="120000"/>
              </a:lnSpc>
            </a:pPr>
            <a:r>
              <a:rPr lang="en-US" sz="1800" b="1" dirty="0">
                <a:solidFill>
                  <a:srgbClr val="1E1E1E"/>
                </a:solidFill>
                <a:latin typeface="Liter" pitchFamily="34" charset="0"/>
                <a:ea typeface="Liter" pitchFamily="34" charset="-122"/>
                <a:cs typeface="Liter" pitchFamily="34" charset="-120"/>
              </a:rPr>
              <a:t>Admin Dashboard</a:t>
            </a:r>
            <a:endParaRPr lang="en-US" sz="1800" dirty="0"/>
          </a:p>
        </p:txBody>
      </p:sp>
      <p:sp>
        <p:nvSpPr>
          <p:cNvPr id="31" name="Text 28"/>
          <p:cNvSpPr/>
          <p:nvPr/>
        </p:nvSpPr>
        <p:spPr>
          <a:xfrm>
            <a:off x="6032500" y="4699000"/>
            <a:ext cx="4191000" cy="1143000"/>
          </a:xfrm>
          <a:prstGeom prst="rect">
            <a:avLst/>
          </a:prstGeom>
          <a:noFill/>
          <a:ln/>
        </p:spPr>
        <p:txBody>
          <a:bodyPr wrap="square" lIns="0" tIns="0" rIns="0" bIns="0" rtlCol="0" anchor="t"/>
          <a:lstStyle/>
          <a:p>
            <a:pPr algn="l">
              <a:lnSpc>
                <a:spcPct val="150000"/>
              </a:lnSpc>
            </a:pPr>
            <a:r>
              <a:rPr lang="en-US" sz="1400" dirty="0">
                <a:solidFill>
                  <a:srgbClr val="5C5C5C"/>
                </a:solidFill>
                <a:latin typeface="Quattrocento Sans" pitchFamily="34" charset="0"/>
                <a:ea typeface="Quattrocento Sans" pitchFamily="34" charset="-122"/>
                <a:cs typeface="Quattrocento Sans" pitchFamily="34" charset="-120"/>
              </a:rPr>
              <a:t>Complete restaurant management with add, edit, delete operations for administrators</a:t>
            </a:r>
            <a:endParaRPr lang="en-US" sz="1400" dirty="0"/>
          </a:p>
        </p:txBody>
      </p:sp>
      <p:sp>
        <p:nvSpPr>
          <p:cNvPr id="32" name="Shape 29"/>
          <p:cNvSpPr/>
          <p:nvPr/>
        </p:nvSpPr>
        <p:spPr>
          <a:xfrm>
            <a:off x="10795000" y="3937000"/>
            <a:ext cx="4699000" cy="2159000"/>
          </a:xfrm>
          <a:prstGeom prst="roundRect">
            <a:avLst>
              <a:gd name="adj" fmla="val 8000"/>
            </a:avLst>
          </a:prstGeom>
          <a:solidFill>
            <a:srgbClr val="F0EBE6"/>
          </a:solidFill>
          <a:ln/>
        </p:spPr>
        <p:txBody>
          <a:bodyPr/>
          <a:lstStyle/>
          <a:p>
            <a:endParaRPr lang="en-US"/>
          </a:p>
        </p:txBody>
      </p:sp>
      <p:sp>
        <p:nvSpPr>
          <p:cNvPr id="33" name="Shape 30"/>
          <p:cNvSpPr/>
          <p:nvPr/>
        </p:nvSpPr>
        <p:spPr>
          <a:xfrm>
            <a:off x="11049000" y="4165600"/>
            <a:ext cx="457200" cy="457200"/>
          </a:xfrm>
          <a:custGeom>
            <a:avLst/>
            <a:gdLst/>
            <a:ahLst/>
            <a:cxnLst/>
            <a:rect l="l" t="t" r="r" b="b"/>
            <a:pathLst>
              <a:path w="457200" h="457200">
                <a:moveTo>
                  <a:pt x="28575" y="57150"/>
                </a:moveTo>
                <a:cubicBezTo>
                  <a:pt x="17056" y="57150"/>
                  <a:pt x="6608" y="64115"/>
                  <a:pt x="2143" y="74831"/>
                </a:cubicBezTo>
                <a:cubicBezTo>
                  <a:pt x="-2322" y="85546"/>
                  <a:pt x="179" y="97780"/>
                  <a:pt x="8394" y="105906"/>
                </a:cubicBezTo>
                <a:lnTo>
                  <a:pt x="171450" y="269051"/>
                </a:lnTo>
                <a:lnTo>
                  <a:pt x="171450" y="371475"/>
                </a:lnTo>
                <a:cubicBezTo>
                  <a:pt x="171450" y="379065"/>
                  <a:pt x="174486" y="386298"/>
                  <a:pt x="179844" y="391656"/>
                </a:cubicBezTo>
                <a:lnTo>
                  <a:pt x="236994" y="448806"/>
                </a:lnTo>
                <a:cubicBezTo>
                  <a:pt x="245209" y="457021"/>
                  <a:pt x="257443" y="459432"/>
                  <a:pt x="268159" y="454968"/>
                </a:cubicBezTo>
                <a:cubicBezTo>
                  <a:pt x="278874" y="450503"/>
                  <a:pt x="285750" y="440144"/>
                  <a:pt x="285750" y="428625"/>
                </a:cubicBezTo>
                <a:lnTo>
                  <a:pt x="285750" y="269051"/>
                </a:lnTo>
                <a:lnTo>
                  <a:pt x="448806" y="105995"/>
                </a:lnTo>
                <a:cubicBezTo>
                  <a:pt x="457021" y="97780"/>
                  <a:pt x="459432" y="85546"/>
                  <a:pt x="454968" y="74831"/>
                </a:cubicBezTo>
                <a:cubicBezTo>
                  <a:pt x="450503" y="64115"/>
                  <a:pt x="440144" y="57150"/>
                  <a:pt x="428625" y="57150"/>
                </a:cubicBezTo>
                <a:lnTo>
                  <a:pt x="28575" y="57150"/>
                </a:lnTo>
                <a:close/>
              </a:path>
            </a:pathLst>
          </a:custGeom>
          <a:solidFill>
            <a:srgbClr val="D4652A"/>
          </a:solidFill>
          <a:ln/>
        </p:spPr>
        <p:txBody>
          <a:bodyPr/>
          <a:lstStyle/>
          <a:p>
            <a:endParaRPr lang="en-US"/>
          </a:p>
        </p:txBody>
      </p:sp>
      <p:sp>
        <p:nvSpPr>
          <p:cNvPr id="34" name="Text 31"/>
          <p:cNvSpPr/>
          <p:nvPr/>
        </p:nvSpPr>
        <p:spPr>
          <a:xfrm>
            <a:off x="11658600" y="4165600"/>
            <a:ext cx="3556000" cy="381000"/>
          </a:xfrm>
          <a:prstGeom prst="rect">
            <a:avLst/>
          </a:prstGeom>
          <a:noFill/>
          <a:ln/>
        </p:spPr>
        <p:txBody>
          <a:bodyPr wrap="none" lIns="0" tIns="0" rIns="0" bIns="0" rtlCol="0" anchor="ctr"/>
          <a:lstStyle/>
          <a:p>
            <a:pPr algn="l">
              <a:lnSpc>
                <a:spcPct val="120000"/>
              </a:lnSpc>
            </a:pPr>
            <a:r>
              <a:rPr lang="en-US" sz="1800" b="1" dirty="0">
                <a:solidFill>
                  <a:srgbClr val="1E1E1E"/>
                </a:solidFill>
                <a:latin typeface="Liter" pitchFamily="34" charset="0"/>
                <a:ea typeface="Liter" pitchFamily="34" charset="-122"/>
                <a:cs typeface="Liter" pitchFamily="34" charset="-120"/>
              </a:rPr>
              <a:t>Advanced Filtering</a:t>
            </a:r>
            <a:endParaRPr lang="en-US" sz="1800" dirty="0"/>
          </a:p>
        </p:txBody>
      </p:sp>
      <p:sp>
        <p:nvSpPr>
          <p:cNvPr id="35" name="Text 32"/>
          <p:cNvSpPr/>
          <p:nvPr/>
        </p:nvSpPr>
        <p:spPr>
          <a:xfrm>
            <a:off x="11049000" y="4699000"/>
            <a:ext cx="4191000" cy="1143000"/>
          </a:xfrm>
          <a:prstGeom prst="rect">
            <a:avLst/>
          </a:prstGeom>
          <a:noFill/>
          <a:ln/>
        </p:spPr>
        <p:txBody>
          <a:bodyPr wrap="square" lIns="0" tIns="0" rIns="0" bIns="0" rtlCol="0" anchor="t"/>
          <a:lstStyle/>
          <a:p>
            <a:pPr algn="l">
              <a:lnSpc>
                <a:spcPct val="150000"/>
              </a:lnSpc>
            </a:pPr>
            <a:r>
              <a:rPr lang="en-US" sz="1400" dirty="0">
                <a:solidFill>
                  <a:srgbClr val="5C5C5C"/>
                </a:solidFill>
                <a:latin typeface="Quattrocento Sans" pitchFamily="34" charset="0"/>
                <a:ea typeface="Quattrocento Sans" pitchFamily="34" charset="-122"/>
                <a:cs typeface="Quattrocento Sans" pitchFamily="34" charset="-120"/>
              </a:rPr>
              <a:t>Filter by price, rating, category, and location with real-time search suggestions</a:t>
            </a:r>
            <a:endParaRPr lang="en-US" sz="1400" dirty="0"/>
          </a:p>
        </p:txBody>
      </p:sp>
      <p:sp>
        <p:nvSpPr>
          <p:cNvPr id="36" name="Text 33"/>
          <p:cNvSpPr/>
          <p:nvPr/>
        </p:nvSpPr>
        <p:spPr>
          <a:xfrm>
            <a:off x="762000" y="6477000"/>
            <a:ext cx="2540000" cy="381000"/>
          </a:xfrm>
          <a:prstGeom prst="rect">
            <a:avLst/>
          </a:prstGeom>
          <a:noFill/>
          <a:ln/>
        </p:spPr>
        <p:txBody>
          <a:bodyPr wrap="none" lIns="0" tIns="0" rIns="0" bIns="0" rtlCol="0" anchor="ctr"/>
          <a:lstStyle/>
          <a:p>
            <a:pPr algn="l">
              <a:lnSpc>
                <a:spcPct val="120000"/>
              </a:lnSpc>
            </a:pPr>
            <a:r>
              <a:rPr lang="en-US" sz="1600" b="1" dirty="0">
                <a:solidFill>
                  <a:srgbClr val="D4652A"/>
                </a:solidFill>
                <a:latin typeface="Liter" pitchFamily="34" charset="0"/>
                <a:ea typeface="Liter" pitchFamily="34" charset="-122"/>
                <a:cs typeface="Liter" pitchFamily="34" charset="-120"/>
              </a:rPr>
              <a:t>TARGET USERS</a:t>
            </a:r>
            <a:endParaRPr lang="en-US" sz="1600" dirty="0"/>
          </a:p>
        </p:txBody>
      </p:sp>
      <p:sp>
        <p:nvSpPr>
          <p:cNvPr id="37" name="Shape 34"/>
          <p:cNvSpPr/>
          <p:nvPr/>
        </p:nvSpPr>
        <p:spPr>
          <a:xfrm>
            <a:off x="762000" y="6921500"/>
            <a:ext cx="14732000" cy="12700"/>
          </a:xfrm>
          <a:prstGeom prst="rect">
            <a:avLst/>
          </a:prstGeom>
          <a:solidFill>
            <a:srgbClr val="E0D8D0"/>
          </a:solidFill>
          <a:ln/>
        </p:spPr>
        <p:txBody>
          <a:bodyPr/>
          <a:lstStyle/>
          <a:p>
            <a:endParaRPr lang="en-US"/>
          </a:p>
        </p:txBody>
      </p:sp>
      <p:sp>
        <p:nvSpPr>
          <p:cNvPr id="38" name="Shape 35"/>
          <p:cNvSpPr/>
          <p:nvPr/>
        </p:nvSpPr>
        <p:spPr>
          <a:xfrm>
            <a:off x="762000" y="7112000"/>
            <a:ext cx="2159000" cy="457200"/>
          </a:xfrm>
          <a:prstGeom prst="roundRect">
            <a:avLst>
              <a:gd name="adj" fmla="val 16000"/>
            </a:avLst>
          </a:prstGeom>
          <a:solidFill>
            <a:srgbClr val="D4652A"/>
          </a:solidFill>
          <a:ln/>
        </p:spPr>
        <p:txBody>
          <a:bodyPr/>
          <a:lstStyle/>
          <a:p>
            <a:endParaRPr lang="en-US"/>
          </a:p>
        </p:txBody>
      </p:sp>
      <p:sp>
        <p:nvSpPr>
          <p:cNvPr id="39" name="Text 36"/>
          <p:cNvSpPr/>
          <p:nvPr/>
        </p:nvSpPr>
        <p:spPr>
          <a:xfrm>
            <a:off x="762000" y="7112000"/>
            <a:ext cx="2159000" cy="457200"/>
          </a:xfrm>
          <a:prstGeom prst="rect">
            <a:avLst/>
          </a:prstGeom>
          <a:noFill/>
          <a:ln/>
        </p:spPr>
        <p:txBody>
          <a:bodyPr wrap="none" lIns="0" tIns="0" rIns="0" bIns="0" rtlCol="0" anchor="ctr"/>
          <a:lstStyle/>
          <a:p>
            <a:pPr algn="ctr">
              <a:lnSpc>
                <a:spcPct val="120000"/>
              </a:lnSpc>
            </a:pPr>
            <a:r>
              <a:rPr lang="en-US" sz="1300" dirty="0">
                <a:solidFill>
                  <a:srgbClr val="FFFFFF"/>
                </a:solidFill>
                <a:latin typeface="Quattrocento Sans" pitchFamily="34" charset="0"/>
                <a:ea typeface="Quattrocento Sans" pitchFamily="34" charset="-122"/>
                <a:cs typeface="Quattrocento Sans" pitchFamily="34" charset="-120"/>
              </a:rPr>
              <a:t>Food Enthusiasts</a:t>
            </a:r>
            <a:endParaRPr lang="en-US" sz="1300" dirty="0"/>
          </a:p>
        </p:txBody>
      </p:sp>
      <p:sp>
        <p:nvSpPr>
          <p:cNvPr id="40" name="Shape 37"/>
          <p:cNvSpPr/>
          <p:nvPr/>
        </p:nvSpPr>
        <p:spPr>
          <a:xfrm>
            <a:off x="3111500" y="7112000"/>
            <a:ext cx="2540000" cy="457200"/>
          </a:xfrm>
          <a:prstGeom prst="roundRect">
            <a:avLst>
              <a:gd name="adj" fmla="val 16000"/>
            </a:avLst>
          </a:prstGeom>
          <a:solidFill>
            <a:srgbClr val="D4652A"/>
          </a:solidFill>
          <a:ln/>
        </p:spPr>
        <p:txBody>
          <a:bodyPr/>
          <a:lstStyle/>
          <a:p>
            <a:endParaRPr lang="en-US"/>
          </a:p>
        </p:txBody>
      </p:sp>
      <p:sp>
        <p:nvSpPr>
          <p:cNvPr id="41" name="Text 38"/>
          <p:cNvSpPr/>
          <p:nvPr/>
        </p:nvSpPr>
        <p:spPr>
          <a:xfrm>
            <a:off x="3111500" y="7112000"/>
            <a:ext cx="2540000" cy="457200"/>
          </a:xfrm>
          <a:prstGeom prst="rect">
            <a:avLst/>
          </a:prstGeom>
          <a:noFill/>
          <a:ln/>
        </p:spPr>
        <p:txBody>
          <a:bodyPr wrap="none" lIns="0" tIns="0" rIns="0" bIns="0" rtlCol="0" anchor="ctr"/>
          <a:lstStyle/>
          <a:p>
            <a:pPr algn="ctr">
              <a:lnSpc>
                <a:spcPct val="120000"/>
              </a:lnSpc>
            </a:pPr>
            <a:r>
              <a:rPr lang="en-US" sz="1300" dirty="0">
                <a:solidFill>
                  <a:srgbClr val="FFFFFF"/>
                </a:solidFill>
                <a:latin typeface="Quattrocento Sans" pitchFamily="34" charset="0"/>
                <a:ea typeface="Quattrocento Sans" pitchFamily="34" charset="-122"/>
                <a:cs typeface="Quattrocento Sans" pitchFamily="34" charset="-120"/>
              </a:rPr>
              <a:t>Health-Conscious Diners</a:t>
            </a:r>
            <a:endParaRPr lang="en-US" sz="1300" dirty="0"/>
          </a:p>
        </p:txBody>
      </p:sp>
      <p:sp>
        <p:nvSpPr>
          <p:cNvPr id="42" name="Shape 39"/>
          <p:cNvSpPr/>
          <p:nvPr/>
        </p:nvSpPr>
        <p:spPr>
          <a:xfrm>
            <a:off x="5842000" y="7112000"/>
            <a:ext cx="2286000" cy="457200"/>
          </a:xfrm>
          <a:prstGeom prst="roundRect">
            <a:avLst>
              <a:gd name="adj" fmla="val 16000"/>
            </a:avLst>
          </a:prstGeom>
          <a:solidFill>
            <a:srgbClr val="D4652A"/>
          </a:solidFill>
          <a:ln/>
        </p:spPr>
        <p:txBody>
          <a:bodyPr/>
          <a:lstStyle/>
          <a:p>
            <a:endParaRPr lang="en-US"/>
          </a:p>
        </p:txBody>
      </p:sp>
      <p:sp>
        <p:nvSpPr>
          <p:cNvPr id="43" name="Text 40"/>
          <p:cNvSpPr/>
          <p:nvPr/>
        </p:nvSpPr>
        <p:spPr>
          <a:xfrm>
            <a:off x="5842000" y="7112000"/>
            <a:ext cx="2286000" cy="457200"/>
          </a:xfrm>
          <a:prstGeom prst="rect">
            <a:avLst/>
          </a:prstGeom>
          <a:noFill/>
          <a:ln/>
        </p:spPr>
        <p:txBody>
          <a:bodyPr wrap="none" lIns="0" tIns="0" rIns="0" bIns="0" rtlCol="0" anchor="ctr"/>
          <a:lstStyle/>
          <a:p>
            <a:pPr algn="ctr">
              <a:lnSpc>
                <a:spcPct val="120000"/>
              </a:lnSpc>
            </a:pPr>
            <a:r>
              <a:rPr lang="en-US" sz="1300" dirty="0">
                <a:solidFill>
                  <a:srgbClr val="FFFFFF"/>
                </a:solidFill>
                <a:latin typeface="Quattrocento Sans" pitchFamily="34" charset="0"/>
                <a:ea typeface="Quattrocento Sans" pitchFamily="34" charset="-122"/>
                <a:cs typeface="Quattrocento Sans" pitchFamily="34" charset="-120"/>
              </a:rPr>
              <a:t>Busy Professionals</a:t>
            </a:r>
            <a:endParaRPr lang="en-US" sz="1300" dirty="0"/>
          </a:p>
        </p:txBody>
      </p:sp>
      <p:sp>
        <p:nvSpPr>
          <p:cNvPr id="44" name="Shape 41"/>
          <p:cNvSpPr/>
          <p:nvPr/>
        </p:nvSpPr>
        <p:spPr>
          <a:xfrm>
            <a:off x="8318500" y="7112000"/>
            <a:ext cx="2413000" cy="457200"/>
          </a:xfrm>
          <a:prstGeom prst="roundRect">
            <a:avLst>
              <a:gd name="adj" fmla="val 16000"/>
            </a:avLst>
          </a:prstGeom>
          <a:solidFill>
            <a:srgbClr val="B85C28"/>
          </a:solidFill>
          <a:ln/>
        </p:spPr>
        <p:txBody>
          <a:bodyPr/>
          <a:lstStyle/>
          <a:p>
            <a:endParaRPr lang="en-US"/>
          </a:p>
        </p:txBody>
      </p:sp>
      <p:sp>
        <p:nvSpPr>
          <p:cNvPr id="45" name="Text 42"/>
          <p:cNvSpPr/>
          <p:nvPr/>
        </p:nvSpPr>
        <p:spPr>
          <a:xfrm>
            <a:off x="8318500" y="7112000"/>
            <a:ext cx="2413000" cy="457200"/>
          </a:xfrm>
          <a:prstGeom prst="rect">
            <a:avLst/>
          </a:prstGeom>
          <a:noFill/>
          <a:ln/>
        </p:spPr>
        <p:txBody>
          <a:bodyPr wrap="none" lIns="0" tIns="0" rIns="0" bIns="0" rtlCol="0" anchor="ctr"/>
          <a:lstStyle/>
          <a:p>
            <a:pPr algn="ctr">
              <a:lnSpc>
                <a:spcPct val="120000"/>
              </a:lnSpc>
            </a:pPr>
            <a:r>
              <a:rPr lang="en-US" sz="1300" dirty="0">
                <a:solidFill>
                  <a:srgbClr val="FFFFFF"/>
                </a:solidFill>
                <a:latin typeface="Quattrocento Sans" pitchFamily="34" charset="0"/>
                <a:ea typeface="Quattrocento Sans" pitchFamily="34" charset="-122"/>
                <a:cs typeface="Quattrocento Sans" pitchFamily="34" charset="-120"/>
              </a:rPr>
              <a:t>Restaurant Managers</a:t>
            </a:r>
            <a:endParaRPr lang="en-US" sz="1300" dirty="0"/>
          </a:p>
        </p:txBody>
      </p:sp>
      <p:sp>
        <p:nvSpPr>
          <p:cNvPr id="46" name="Shape 43"/>
          <p:cNvSpPr/>
          <p:nvPr/>
        </p:nvSpPr>
        <p:spPr>
          <a:xfrm>
            <a:off x="10922000" y="7112000"/>
            <a:ext cx="2286000" cy="457200"/>
          </a:xfrm>
          <a:prstGeom prst="roundRect">
            <a:avLst>
              <a:gd name="adj" fmla="val 16000"/>
            </a:avLst>
          </a:prstGeom>
          <a:solidFill>
            <a:srgbClr val="B85C28"/>
          </a:solidFill>
          <a:ln/>
        </p:spPr>
        <p:txBody>
          <a:bodyPr/>
          <a:lstStyle/>
          <a:p>
            <a:endParaRPr lang="en-US"/>
          </a:p>
        </p:txBody>
      </p:sp>
      <p:sp>
        <p:nvSpPr>
          <p:cNvPr id="47" name="Text 44"/>
          <p:cNvSpPr/>
          <p:nvPr/>
        </p:nvSpPr>
        <p:spPr>
          <a:xfrm>
            <a:off x="10922000" y="7112000"/>
            <a:ext cx="2286000" cy="457200"/>
          </a:xfrm>
          <a:prstGeom prst="rect">
            <a:avLst/>
          </a:prstGeom>
          <a:noFill/>
          <a:ln/>
        </p:spPr>
        <p:txBody>
          <a:bodyPr wrap="none" lIns="0" tIns="0" rIns="0" bIns="0" rtlCol="0" anchor="ctr"/>
          <a:lstStyle/>
          <a:p>
            <a:pPr algn="ctr">
              <a:lnSpc>
                <a:spcPct val="120000"/>
              </a:lnSpc>
            </a:pPr>
            <a:r>
              <a:rPr lang="en-US" sz="1300" dirty="0">
                <a:solidFill>
                  <a:srgbClr val="FFFFFF"/>
                </a:solidFill>
                <a:latin typeface="Quattrocento Sans" pitchFamily="34" charset="0"/>
                <a:ea typeface="Quattrocento Sans" pitchFamily="34" charset="-122"/>
                <a:cs typeface="Quattrocento Sans" pitchFamily="34" charset="-120"/>
              </a:rPr>
              <a:t>Administrators</a:t>
            </a:r>
            <a:endParaRPr lang="en-US" sz="1300" dirty="0"/>
          </a:p>
        </p:txBody>
      </p:sp>
      <p:sp>
        <p:nvSpPr>
          <p:cNvPr id="48" name="Text 45"/>
          <p:cNvSpPr/>
          <p:nvPr/>
        </p:nvSpPr>
        <p:spPr>
          <a:xfrm>
            <a:off x="762000" y="7874000"/>
            <a:ext cx="1524000" cy="508000"/>
          </a:xfrm>
          <a:prstGeom prst="rect">
            <a:avLst/>
          </a:prstGeom>
          <a:noFill/>
          <a:ln/>
        </p:spPr>
        <p:txBody>
          <a:bodyPr wrap="none" lIns="0" tIns="0" rIns="0" bIns="0" rtlCol="0" anchor="ctr"/>
          <a:lstStyle/>
          <a:p>
            <a:pPr algn="ctr">
              <a:lnSpc>
                <a:spcPct val="120000"/>
              </a:lnSpc>
            </a:pPr>
            <a:r>
              <a:rPr lang="en-US" sz="2800" b="1" dirty="0">
                <a:solidFill>
                  <a:srgbClr val="D4652A"/>
                </a:solidFill>
                <a:latin typeface="Liter" pitchFamily="34" charset="0"/>
                <a:ea typeface="Liter" pitchFamily="34" charset="-122"/>
                <a:cs typeface="Liter" pitchFamily="34" charset="-120"/>
              </a:rPr>
              <a:t>20+</a:t>
            </a:r>
            <a:endParaRPr lang="en-US" sz="2800" dirty="0"/>
          </a:p>
        </p:txBody>
      </p:sp>
      <p:sp>
        <p:nvSpPr>
          <p:cNvPr id="49" name="Text 46"/>
          <p:cNvSpPr/>
          <p:nvPr/>
        </p:nvSpPr>
        <p:spPr>
          <a:xfrm>
            <a:off x="762000" y="8382000"/>
            <a:ext cx="1524000" cy="254000"/>
          </a:xfrm>
          <a:prstGeom prst="rect">
            <a:avLst/>
          </a:prstGeom>
          <a:noFill/>
          <a:ln/>
        </p:spPr>
        <p:txBody>
          <a:bodyPr wrap="none" lIns="0" tIns="0" rIns="0" bIns="0" rtlCol="0" anchor="ctr"/>
          <a:lstStyle/>
          <a:p>
            <a:pPr algn="ctr">
              <a:lnSpc>
                <a:spcPct val="120000"/>
              </a:lnSpc>
            </a:pPr>
            <a:r>
              <a:rPr lang="en-US" sz="1100" dirty="0">
                <a:solidFill>
                  <a:srgbClr val="5C5C5C"/>
                </a:solidFill>
                <a:latin typeface="Quattrocento Sans" pitchFamily="34" charset="0"/>
                <a:ea typeface="Quattrocento Sans" pitchFamily="34" charset="-122"/>
                <a:cs typeface="Quattrocento Sans" pitchFamily="34" charset="-120"/>
              </a:rPr>
              <a:t>Components</a:t>
            </a:r>
            <a:endParaRPr lang="en-US" sz="1100" dirty="0"/>
          </a:p>
        </p:txBody>
      </p:sp>
      <p:sp>
        <p:nvSpPr>
          <p:cNvPr id="50" name="Text 47"/>
          <p:cNvSpPr/>
          <p:nvPr/>
        </p:nvSpPr>
        <p:spPr>
          <a:xfrm>
            <a:off x="2540000" y="7874000"/>
            <a:ext cx="1524000" cy="508000"/>
          </a:xfrm>
          <a:prstGeom prst="rect">
            <a:avLst/>
          </a:prstGeom>
          <a:noFill/>
          <a:ln/>
        </p:spPr>
        <p:txBody>
          <a:bodyPr wrap="none" lIns="0" tIns="0" rIns="0" bIns="0" rtlCol="0" anchor="ctr"/>
          <a:lstStyle/>
          <a:p>
            <a:pPr algn="ctr">
              <a:lnSpc>
                <a:spcPct val="120000"/>
              </a:lnSpc>
            </a:pPr>
            <a:r>
              <a:rPr lang="en-US" sz="2800" b="1" dirty="0">
                <a:solidFill>
                  <a:srgbClr val="D4652A"/>
                </a:solidFill>
                <a:latin typeface="Liter" pitchFamily="34" charset="0"/>
                <a:ea typeface="Liter" pitchFamily="34" charset="-122"/>
                <a:cs typeface="Liter" pitchFamily="34" charset="-120"/>
              </a:rPr>
              <a:t>8</a:t>
            </a:r>
            <a:endParaRPr lang="en-US" sz="2800" dirty="0"/>
          </a:p>
        </p:txBody>
      </p:sp>
      <p:sp>
        <p:nvSpPr>
          <p:cNvPr id="51" name="Text 48"/>
          <p:cNvSpPr/>
          <p:nvPr/>
        </p:nvSpPr>
        <p:spPr>
          <a:xfrm>
            <a:off x="2540000" y="8382000"/>
            <a:ext cx="1524000" cy="254000"/>
          </a:xfrm>
          <a:prstGeom prst="rect">
            <a:avLst/>
          </a:prstGeom>
          <a:noFill/>
          <a:ln/>
        </p:spPr>
        <p:txBody>
          <a:bodyPr wrap="none" lIns="0" tIns="0" rIns="0" bIns="0" rtlCol="0" anchor="ctr"/>
          <a:lstStyle/>
          <a:p>
            <a:pPr algn="ctr">
              <a:lnSpc>
                <a:spcPct val="120000"/>
              </a:lnSpc>
            </a:pPr>
            <a:r>
              <a:rPr lang="en-US" sz="1100" dirty="0">
                <a:solidFill>
                  <a:srgbClr val="5C5C5C"/>
                </a:solidFill>
                <a:latin typeface="Quattrocento Sans" pitchFamily="34" charset="0"/>
                <a:ea typeface="Quattrocento Sans" pitchFamily="34" charset="-122"/>
                <a:cs typeface="Quattrocento Sans" pitchFamily="34" charset="-120"/>
              </a:rPr>
              <a:t>Pages</a:t>
            </a:r>
            <a:endParaRPr lang="en-US" sz="1100" dirty="0"/>
          </a:p>
        </p:txBody>
      </p:sp>
      <p:sp>
        <p:nvSpPr>
          <p:cNvPr id="52" name="Text 49"/>
          <p:cNvSpPr/>
          <p:nvPr/>
        </p:nvSpPr>
        <p:spPr>
          <a:xfrm>
            <a:off x="4318000" y="7874000"/>
            <a:ext cx="1524000" cy="508000"/>
          </a:xfrm>
          <a:prstGeom prst="rect">
            <a:avLst/>
          </a:prstGeom>
          <a:noFill/>
          <a:ln/>
        </p:spPr>
        <p:txBody>
          <a:bodyPr wrap="none" lIns="0" tIns="0" rIns="0" bIns="0" rtlCol="0" anchor="ctr"/>
          <a:lstStyle/>
          <a:p>
            <a:pPr algn="ctr">
              <a:lnSpc>
                <a:spcPct val="120000"/>
              </a:lnSpc>
            </a:pPr>
            <a:r>
              <a:rPr lang="en-US" sz="2800" b="1" dirty="0">
                <a:solidFill>
                  <a:srgbClr val="D4652A"/>
                </a:solidFill>
                <a:latin typeface="Liter" pitchFamily="34" charset="0"/>
                <a:ea typeface="Liter" pitchFamily="34" charset="-122"/>
                <a:cs typeface="Liter" pitchFamily="34" charset="-120"/>
              </a:rPr>
              <a:t>50+</a:t>
            </a:r>
            <a:endParaRPr lang="en-US" sz="2800" dirty="0"/>
          </a:p>
        </p:txBody>
      </p:sp>
      <p:sp>
        <p:nvSpPr>
          <p:cNvPr id="53" name="Text 50"/>
          <p:cNvSpPr/>
          <p:nvPr/>
        </p:nvSpPr>
        <p:spPr>
          <a:xfrm>
            <a:off x="4318000" y="8382000"/>
            <a:ext cx="1524000" cy="254000"/>
          </a:xfrm>
          <a:prstGeom prst="rect">
            <a:avLst/>
          </a:prstGeom>
          <a:noFill/>
          <a:ln/>
        </p:spPr>
        <p:txBody>
          <a:bodyPr wrap="none" lIns="0" tIns="0" rIns="0" bIns="0" rtlCol="0" anchor="ctr"/>
          <a:lstStyle/>
          <a:p>
            <a:pPr algn="ctr">
              <a:lnSpc>
                <a:spcPct val="120000"/>
              </a:lnSpc>
            </a:pPr>
            <a:r>
              <a:rPr lang="en-US" sz="1100" dirty="0">
                <a:solidFill>
                  <a:srgbClr val="5C5C5C"/>
                </a:solidFill>
                <a:latin typeface="Quattrocento Sans" pitchFamily="34" charset="0"/>
                <a:ea typeface="Quattrocento Sans" pitchFamily="34" charset="-122"/>
                <a:cs typeface="Quattrocento Sans" pitchFamily="34" charset="-120"/>
              </a:rPr>
              <a:t>UI Components</a:t>
            </a:r>
            <a:endParaRPr lang="en-US" sz="1100" dirty="0"/>
          </a:p>
        </p:txBody>
      </p:sp>
      <p:sp>
        <p:nvSpPr>
          <p:cNvPr id="54" name="Text 51"/>
          <p:cNvSpPr/>
          <p:nvPr/>
        </p:nvSpPr>
        <p:spPr>
          <a:xfrm>
            <a:off x="762000" y="8763000"/>
            <a:ext cx="5080000" cy="254000"/>
          </a:xfrm>
          <a:prstGeom prst="rect">
            <a:avLst/>
          </a:prstGeom>
          <a:noFill/>
          <a:ln/>
        </p:spPr>
        <p:txBody>
          <a:bodyPr wrap="none" lIns="0" tIns="0" rIns="0" bIns="0" rtlCol="0" anchor="ctr"/>
          <a:lstStyle/>
          <a:p>
            <a:pPr algn="l">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Restaurant Finder | Graduation Project Defense</a:t>
            </a:r>
            <a:endParaRPr lang="en-US" sz="1200" dirty="0"/>
          </a:p>
        </p:txBody>
      </p:sp>
      <p:sp>
        <p:nvSpPr>
          <p:cNvPr id="55" name="Text 52"/>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03 / 12</a:t>
            </a:r>
            <a:endParaRPr lang="en-US" sz="12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2D2D2D"/>
          </a:solidFill>
          <a:ln/>
        </p:spPr>
        <p:txBody>
          <a:bodyPr/>
          <a:lstStyle/>
          <a:p>
            <a:endParaRPr lang="en-US"/>
          </a:p>
        </p:txBody>
      </p:sp>
      <p:sp>
        <p:nvSpPr>
          <p:cNvPr id="4" name="Text 1"/>
          <p:cNvSpPr/>
          <p:nvPr/>
        </p:nvSpPr>
        <p:spPr>
          <a:xfrm>
            <a:off x="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PROBLEM</a:t>
            </a:r>
            <a:endParaRPr lang="en-US" sz="1100" dirty="0"/>
          </a:p>
        </p:txBody>
      </p:sp>
      <p:sp>
        <p:nvSpPr>
          <p:cNvPr id="5" name="Text 2"/>
          <p:cNvSpPr/>
          <p:nvPr/>
        </p:nvSpPr>
        <p:spPr>
          <a:xfrm>
            <a:off x="32512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SOLUTION</a:t>
            </a:r>
            <a:endParaRPr lang="en-US" sz="1100" dirty="0"/>
          </a:p>
        </p:txBody>
      </p:sp>
      <p:sp>
        <p:nvSpPr>
          <p:cNvPr id="6" name="Text 3"/>
          <p:cNvSpPr/>
          <p:nvPr/>
        </p:nvSpPr>
        <p:spPr>
          <a:xfrm>
            <a:off x="6502400" y="0"/>
            <a:ext cx="3251200" cy="406400"/>
          </a:xfrm>
          <a:prstGeom prst="rect">
            <a:avLst/>
          </a:prstGeom>
          <a:noFill/>
          <a:ln/>
        </p:spPr>
        <p:txBody>
          <a:bodyPr wrap="none" lIns="0" tIns="0" rIns="0" bIns="0" rtlCol="0" anchor="ctr"/>
          <a:lstStyle/>
          <a:p>
            <a:pPr algn="ctr">
              <a:lnSpc>
                <a:spcPct val="120000"/>
              </a:lnSpc>
            </a:pPr>
            <a:r>
              <a:rPr lang="en-US" sz="1100" b="1" dirty="0">
                <a:solidFill>
                  <a:srgbClr val="D4652A"/>
                </a:solidFill>
                <a:latin typeface="Quattrocento Sans" pitchFamily="34" charset="0"/>
                <a:ea typeface="Quattrocento Sans" pitchFamily="34" charset="-122"/>
                <a:cs typeface="Quattrocento Sans" pitchFamily="34" charset="-120"/>
              </a:rPr>
              <a:t>TECH STACK</a:t>
            </a:r>
            <a:endParaRPr lang="en-US" sz="1100" dirty="0"/>
          </a:p>
        </p:txBody>
      </p:sp>
      <p:sp>
        <p:nvSpPr>
          <p:cNvPr id="7" name="Shape 4"/>
          <p:cNvSpPr/>
          <p:nvPr/>
        </p:nvSpPr>
        <p:spPr>
          <a:xfrm>
            <a:off x="7493000" y="419100"/>
            <a:ext cx="1270000" cy="38100"/>
          </a:xfrm>
          <a:prstGeom prst="rect">
            <a:avLst/>
          </a:prstGeom>
          <a:solidFill>
            <a:srgbClr val="D4652A"/>
          </a:solidFill>
          <a:ln/>
        </p:spPr>
        <p:txBody>
          <a:bodyPr/>
          <a:lstStyle/>
          <a:p>
            <a:endParaRPr lang="en-US"/>
          </a:p>
        </p:txBody>
      </p:sp>
      <p:sp>
        <p:nvSpPr>
          <p:cNvPr id="8" name="Text 5"/>
          <p:cNvSpPr/>
          <p:nvPr/>
        </p:nvSpPr>
        <p:spPr>
          <a:xfrm>
            <a:off x="97536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FEATURES</a:t>
            </a:r>
            <a:endParaRPr lang="en-US" sz="1100" dirty="0"/>
          </a:p>
        </p:txBody>
      </p:sp>
      <p:sp>
        <p:nvSpPr>
          <p:cNvPr id="9" name="Text 6"/>
          <p:cNvSpPr/>
          <p:nvPr/>
        </p:nvSpPr>
        <p:spPr>
          <a:xfrm>
            <a:off x="130048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ARCHITECTURE</a:t>
            </a:r>
            <a:endParaRPr lang="en-US" sz="1100" dirty="0"/>
          </a:p>
        </p:txBody>
      </p:sp>
      <p:sp>
        <p:nvSpPr>
          <p:cNvPr id="10" name="Text 7"/>
          <p:cNvSpPr/>
          <p:nvPr/>
        </p:nvSpPr>
        <p:spPr>
          <a:xfrm>
            <a:off x="762000" y="660400"/>
            <a:ext cx="10160000" cy="508000"/>
          </a:xfrm>
          <a:prstGeom prst="rect">
            <a:avLst/>
          </a:prstGeom>
          <a:noFill/>
          <a:ln/>
        </p:spPr>
        <p:txBody>
          <a:bodyPr wrap="none" lIns="0" tIns="0" rIns="0" bIns="0" rtlCol="0" anchor="ctr"/>
          <a:lstStyle/>
          <a:p>
            <a:pPr algn="l">
              <a:lnSpc>
                <a:spcPct val="130000"/>
              </a:lnSpc>
            </a:pPr>
            <a:r>
              <a:rPr lang="en-US" sz="2800" dirty="0">
                <a:solidFill>
                  <a:srgbClr val="1E1E1E"/>
                </a:solidFill>
                <a:latin typeface="Liter" pitchFamily="34" charset="0"/>
                <a:ea typeface="Liter" pitchFamily="34" charset="-122"/>
                <a:cs typeface="Liter" pitchFamily="34" charset="-120"/>
              </a:rPr>
              <a:t>Technology Stack: Frontend Architecture</a:t>
            </a:r>
            <a:endParaRPr lang="en-US" sz="2800" dirty="0"/>
          </a:p>
        </p:txBody>
      </p:sp>
      <p:sp>
        <p:nvSpPr>
          <p:cNvPr id="11" name="Shape 8"/>
          <p:cNvSpPr/>
          <p:nvPr/>
        </p:nvSpPr>
        <p:spPr>
          <a:xfrm>
            <a:off x="762000" y="1219200"/>
            <a:ext cx="1016000" cy="38100"/>
          </a:xfrm>
          <a:prstGeom prst="rect">
            <a:avLst/>
          </a:prstGeom>
          <a:solidFill>
            <a:srgbClr val="D4652A"/>
          </a:solidFill>
          <a:ln/>
        </p:spPr>
        <p:txBody>
          <a:bodyPr/>
          <a:lstStyle/>
          <a:p>
            <a:endParaRPr lang="en-US"/>
          </a:p>
        </p:txBody>
      </p:sp>
      <p:sp>
        <p:nvSpPr>
          <p:cNvPr id="12" name="Shape 9"/>
          <p:cNvSpPr/>
          <p:nvPr/>
        </p:nvSpPr>
        <p:spPr>
          <a:xfrm>
            <a:off x="762000" y="1524000"/>
            <a:ext cx="3429000" cy="2540000"/>
          </a:xfrm>
          <a:prstGeom prst="roundRect">
            <a:avLst>
              <a:gd name="adj" fmla="val 8000"/>
            </a:avLst>
          </a:prstGeom>
          <a:solidFill>
            <a:srgbClr val="F0EBE6"/>
          </a:solidFill>
          <a:ln/>
        </p:spPr>
        <p:txBody>
          <a:bodyPr/>
          <a:lstStyle/>
          <a:p>
            <a:endParaRPr lang="en-US"/>
          </a:p>
        </p:txBody>
      </p:sp>
      <p:sp>
        <p:nvSpPr>
          <p:cNvPr id="13" name="Shape 10"/>
          <p:cNvSpPr/>
          <p:nvPr/>
        </p:nvSpPr>
        <p:spPr>
          <a:xfrm>
            <a:off x="1016000" y="1778000"/>
            <a:ext cx="508000" cy="508000"/>
          </a:xfrm>
          <a:custGeom>
            <a:avLst/>
            <a:gdLst/>
            <a:ahLst/>
            <a:cxnLst/>
            <a:rect l="l" t="t" r="r" b="b"/>
            <a:pathLst>
              <a:path w="508000" h="508000">
                <a:moveTo>
                  <a:pt x="414933" y="175816"/>
                </a:moveTo>
                <a:cubicBezTo>
                  <a:pt x="409575" y="174030"/>
                  <a:pt x="404217" y="172343"/>
                  <a:pt x="398859" y="170755"/>
                </a:cubicBezTo>
                <a:cubicBezTo>
                  <a:pt x="399752" y="167084"/>
                  <a:pt x="400546" y="163413"/>
                  <a:pt x="401340" y="159742"/>
                </a:cubicBezTo>
                <a:cubicBezTo>
                  <a:pt x="413544" y="100608"/>
                  <a:pt x="405507" y="53082"/>
                  <a:pt x="378420" y="37405"/>
                </a:cubicBezTo>
                <a:cubicBezTo>
                  <a:pt x="352326" y="22423"/>
                  <a:pt x="309761" y="38001"/>
                  <a:pt x="266700" y="75505"/>
                </a:cubicBezTo>
                <a:cubicBezTo>
                  <a:pt x="262434" y="79177"/>
                  <a:pt x="258266" y="83046"/>
                  <a:pt x="254298" y="86916"/>
                </a:cubicBezTo>
                <a:cubicBezTo>
                  <a:pt x="251619" y="84336"/>
                  <a:pt x="248841" y="81756"/>
                  <a:pt x="246062" y="79276"/>
                </a:cubicBezTo>
                <a:cubicBezTo>
                  <a:pt x="200918" y="39191"/>
                  <a:pt x="155674" y="22324"/>
                  <a:pt x="128587" y="38100"/>
                </a:cubicBezTo>
                <a:cubicBezTo>
                  <a:pt x="102592" y="53181"/>
                  <a:pt x="94853" y="97929"/>
                  <a:pt x="105767" y="153888"/>
                </a:cubicBezTo>
                <a:cubicBezTo>
                  <a:pt x="106859" y="159445"/>
                  <a:pt x="108049" y="164902"/>
                  <a:pt x="109438" y="170458"/>
                </a:cubicBezTo>
                <a:cubicBezTo>
                  <a:pt x="103088" y="172244"/>
                  <a:pt x="96837" y="174228"/>
                  <a:pt x="90984" y="176312"/>
                </a:cubicBezTo>
                <a:cubicBezTo>
                  <a:pt x="38001" y="194667"/>
                  <a:pt x="0" y="223639"/>
                  <a:pt x="0" y="253603"/>
                </a:cubicBezTo>
                <a:cubicBezTo>
                  <a:pt x="0" y="284559"/>
                  <a:pt x="40481" y="315615"/>
                  <a:pt x="95548" y="334466"/>
                </a:cubicBezTo>
                <a:cubicBezTo>
                  <a:pt x="100012" y="335955"/>
                  <a:pt x="104477" y="337443"/>
                  <a:pt x="109041" y="338733"/>
                </a:cubicBezTo>
                <a:cubicBezTo>
                  <a:pt x="107553" y="344686"/>
                  <a:pt x="106263" y="350540"/>
                  <a:pt x="105073" y="356592"/>
                </a:cubicBezTo>
                <a:cubicBezTo>
                  <a:pt x="94655" y="411659"/>
                  <a:pt x="102791" y="455315"/>
                  <a:pt x="128786" y="470297"/>
                </a:cubicBezTo>
                <a:cubicBezTo>
                  <a:pt x="155575" y="485775"/>
                  <a:pt x="200620" y="469900"/>
                  <a:pt x="244475" y="431502"/>
                </a:cubicBezTo>
                <a:cubicBezTo>
                  <a:pt x="247948" y="428427"/>
                  <a:pt x="251420" y="425252"/>
                  <a:pt x="254893" y="421878"/>
                </a:cubicBezTo>
                <a:cubicBezTo>
                  <a:pt x="259259" y="426145"/>
                  <a:pt x="263823" y="430213"/>
                  <a:pt x="268387" y="434181"/>
                </a:cubicBezTo>
                <a:cubicBezTo>
                  <a:pt x="310852" y="470694"/>
                  <a:pt x="352822" y="485477"/>
                  <a:pt x="378718" y="470495"/>
                </a:cubicBezTo>
                <a:cubicBezTo>
                  <a:pt x="405507" y="455017"/>
                  <a:pt x="414238" y="408087"/>
                  <a:pt x="402927" y="350937"/>
                </a:cubicBezTo>
                <a:cubicBezTo>
                  <a:pt x="402034" y="346571"/>
                  <a:pt x="401042" y="342106"/>
                  <a:pt x="399951" y="337542"/>
                </a:cubicBezTo>
                <a:cubicBezTo>
                  <a:pt x="403126" y="336649"/>
                  <a:pt x="406202" y="335657"/>
                  <a:pt x="409277" y="334665"/>
                </a:cubicBezTo>
                <a:cubicBezTo>
                  <a:pt x="466527" y="315714"/>
                  <a:pt x="508000" y="285055"/>
                  <a:pt x="508000" y="253603"/>
                </a:cubicBezTo>
                <a:cubicBezTo>
                  <a:pt x="508000" y="223540"/>
                  <a:pt x="468908" y="194370"/>
                  <a:pt x="414933" y="175816"/>
                </a:cubicBezTo>
                <a:close/>
                <a:moveTo>
                  <a:pt x="280690" y="91579"/>
                </a:moveTo>
                <a:cubicBezTo>
                  <a:pt x="317599" y="59432"/>
                  <a:pt x="352028" y="46831"/>
                  <a:pt x="367705" y="55860"/>
                </a:cubicBezTo>
                <a:cubicBezTo>
                  <a:pt x="384473" y="65484"/>
                  <a:pt x="390922" y="104378"/>
                  <a:pt x="380405" y="155476"/>
                </a:cubicBezTo>
                <a:cubicBezTo>
                  <a:pt x="379710" y="158849"/>
                  <a:pt x="379016" y="162123"/>
                  <a:pt x="378123" y="165398"/>
                </a:cubicBezTo>
                <a:cubicBezTo>
                  <a:pt x="356096" y="160437"/>
                  <a:pt x="333772" y="156865"/>
                  <a:pt x="311348" y="154880"/>
                </a:cubicBezTo>
                <a:cubicBezTo>
                  <a:pt x="298450" y="136426"/>
                  <a:pt x="284361" y="118765"/>
                  <a:pt x="269081" y="102195"/>
                </a:cubicBezTo>
                <a:cubicBezTo>
                  <a:pt x="272951" y="98524"/>
                  <a:pt x="276721" y="95052"/>
                  <a:pt x="280690" y="91579"/>
                </a:cubicBezTo>
                <a:close/>
                <a:moveTo>
                  <a:pt x="165894" y="305098"/>
                </a:moveTo>
                <a:cubicBezTo>
                  <a:pt x="170954" y="313730"/>
                  <a:pt x="176113" y="322362"/>
                  <a:pt x="181570" y="330795"/>
                </a:cubicBezTo>
                <a:cubicBezTo>
                  <a:pt x="166092" y="329109"/>
                  <a:pt x="150713" y="326628"/>
                  <a:pt x="135533" y="323354"/>
                </a:cubicBezTo>
                <a:cubicBezTo>
                  <a:pt x="139898" y="309066"/>
                  <a:pt x="145355" y="294283"/>
                  <a:pt x="151705" y="279202"/>
                </a:cubicBezTo>
                <a:cubicBezTo>
                  <a:pt x="156270" y="287933"/>
                  <a:pt x="160933" y="296565"/>
                  <a:pt x="165894" y="305098"/>
                </a:cubicBezTo>
                <a:close/>
                <a:moveTo>
                  <a:pt x="135830" y="185737"/>
                </a:moveTo>
                <a:cubicBezTo>
                  <a:pt x="150118" y="182563"/>
                  <a:pt x="165298" y="179983"/>
                  <a:pt x="181074" y="177998"/>
                </a:cubicBezTo>
                <a:cubicBezTo>
                  <a:pt x="175816" y="186234"/>
                  <a:pt x="170656" y="194667"/>
                  <a:pt x="165795" y="203200"/>
                </a:cubicBezTo>
                <a:cubicBezTo>
                  <a:pt x="160933" y="211634"/>
                  <a:pt x="156170" y="220266"/>
                  <a:pt x="151705" y="228997"/>
                </a:cubicBezTo>
                <a:cubicBezTo>
                  <a:pt x="145455" y="214213"/>
                  <a:pt x="140196" y="199727"/>
                  <a:pt x="135830" y="185737"/>
                </a:cubicBezTo>
                <a:close/>
                <a:moveTo>
                  <a:pt x="163016" y="254099"/>
                </a:moveTo>
                <a:cubicBezTo>
                  <a:pt x="169565" y="240407"/>
                  <a:pt x="176709" y="227013"/>
                  <a:pt x="184249" y="213816"/>
                </a:cubicBezTo>
                <a:cubicBezTo>
                  <a:pt x="191790" y="200620"/>
                  <a:pt x="199926" y="187821"/>
                  <a:pt x="208459" y="175220"/>
                </a:cubicBezTo>
                <a:cubicBezTo>
                  <a:pt x="223341" y="174129"/>
                  <a:pt x="238522" y="173534"/>
                  <a:pt x="254000" y="173534"/>
                </a:cubicBezTo>
                <a:cubicBezTo>
                  <a:pt x="269478" y="173534"/>
                  <a:pt x="284758" y="174129"/>
                  <a:pt x="299541" y="175220"/>
                </a:cubicBezTo>
                <a:cubicBezTo>
                  <a:pt x="307975" y="187722"/>
                  <a:pt x="316012" y="200521"/>
                  <a:pt x="323652" y="213618"/>
                </a:cubicBezTo>
                <a:cubicBezTo>
                  <a:pt x="331291" y="226715"/>
                  <a:pt x="338435" y="240109"/>
                  <a:pt x="345182" y="253702"/>
                </a:cubicBezTo>
                <a:cubicBezTo>
                  <a:pt x="338534" y="267395"/>
                  <a:pt x="331391" y="280888"/>
                  <a:pt x="323751" y="294184"/>
                </a:cubicBezTo>
                <a:cubicBezTo>
                  <a:pt x="316210" y="307380"/>
                  <a:pt x="308173" y="320179"/>
                  <a:pt x="299740" y="332879"/>
                </a:cubicBezTo>
                <a:cubicBezTo>
                  <a:pt x="284956" y="333970"/>
                  <a:pt x="269577" y="334466"/>
                  <a:pt x="254000" y="334466"/>
                </a:cubicBezTo>
                <a:cubicBezTo>
                  <a:pt x="238423" y="334466"/>
                  <a:pt x="223341" y="333970"/>
                  <a:pt x="208756" y="333077"/>
                </a:cubicBezTo>
                <a:cubicBezTo>
                  <a:pt x="200124" y="320477"/>
                  <a:pt x="191988" y="307578"/>
                  <a:pt x="184348" y="294382"/>
                </a:cubicBezTo>
                <a:cubicBezTo>
                  <a:pt x="176709" y="281186"/>
                  <a:pt x="169664" y="267791"/>
                  <a:pt x="163016" y="254099"/>
                </a:cubicBezTo>
                <a:close/>
                <a:moveTo>
                  <a:pt x="342205" y="304899"/>
                </a:moveTo>
                <a:cubicBezTo>
                  <a:pt x="347266" y="296168"/>
                  <a:pt x="352028" y="287338"/>
                  <a:pt x="356691" y="278408"/>
                </a:cubicBezTo>
                <a:cubicBezTo>
                  <a:pt x="363041" y="292795"/>
                  <a:pt x="368598" y="307380"/>
                  <a:pt x="373459" y="322362"/>
                </a:cubicBezTo>
                <a:cubicBezTo>
                  <a:pt x="358080" y="325834"/>
                  <a:pt x="342503" y="328513"/>
                  <a:pt x="326827" y="330299"/>
                </a:cubicBezTo>
                <a:cubicBezTo>
                  <a:pt x="332184" y="321965"/>
                  <a:pt x="337245" y="313432"/>
                  <a:pt x="342205" y="304899"/>
                </a:cubicBezTo>
                <a:close/>
                <a:moveTo>
                  <a:pt x="356493" y="228997"/>
                </a:moveTo>
                <a:cubicBezTo>
                  <a:pt x="351830" y="220266"/>
                  <a:pt x="347067" y="211534"/>
                  <a:pt x="342106" y="203002"/>
                </a:cubicBezTo>
                <a:cubicBezTo>
                  <a:pt x="337245" y="194568"/>
                  <a:pt x="332184" y="186234"/>
                  <a:pt x="326926" y="177998"/>
                </a:cubicBezTo>
                <a:cubicBezTo>
                  <a:pt x="342900" y="179983"/>
                  <a:pt x="358180" y="182662"/>
                  <a:pt x="372467" y="185936"/>
                </a:cubicBezTo>
                <a:cubicBezTo>
                  <a:pt x="367903" y="200620"/>
                  <a:pt x="362545" y="214908"/>
                  <a:pt x="356493" y="228997"/>
                </a:cubicBezTo>
                <a:close/>
                <a:moveTo>
                  <a:pt x="254198" y="117376"/>
                </a:moveTo>
                <a:cubicBezTo>
                  <a:pt x="264616" y="128687"/>
                  <a:pt x="274439" y="140593"/>
                  <a:pt x="283567" y="152896"/>
                </a:cubicBezTo>
                <a:cubicBezTo>
                  <a:pt x="263922" y="152003"/>
                  <a:pt x="244177" y="152003"/>
                  <a:pt x="224532" y="152896"/>
                </a:cubicBezTo>
                <a:cubicBezTo>
                  <a:pt x="234255" y="140097"/>
                  <a:pt x="244277" y="128191"/>
                  <a:pt x="254198" y="117376"/>
                </a:cubicBezTo>
                <a:close/>
                <a:moveTo>
                  <a:pt x="139105" y="56555"/>
                </a:moveTo>
                <a:cubicBezTo>
                  <a:pt x="155773" y="46831"/>
                  <a:pt x="192782" y="60722"/>
                  <a:pt x="231775" y="95250"/>
                </a:cubicBezTo>
                <a:cubicBezTo>
                  <a:pt x="234255" y="97433"/>
                  <a:pt x="236736" y="99814"/>
                  <a:pt x="239316" y="102195"/>
                </a:cubicBezTo>
                <a:cubicBezTo>
                  <a:pt x="223937" y="118765"/>
                  <a:pt x="209748" y="136426"/>
                  <a:pt x="196751" y="154880"/>
                </a:cubicBezTo>
                <a:cubicBezTo>
                  <a:pt x="174327" y="156865"/>
                  <a:pt x="152102" y="160338"/>
                  <a:pt x="130076" y="165199"/>
                </a:cubicBezTo>
                <a:cubicBezTo>
                  <a:pt x="128786" y="160139"/>
                  <a:pt x="127695" y="154980"/>
                  <a:pt x="126603" y="149820"/>
                </a:cubicBezTo>
                <a:cubicBezTo>
                  <a:pt x="117277" y="101798"/>
                  <a:pt x="123428" y="65584"/>
                  <a:pt x="139105" y="56555"/>
                </a:cubicBezTo>
                <a:close/>
                <a:moveTo>
                  <a:pt x="114796" y="318095"/>
                </a:moveTo>
                <a:cubicBezTo>
                  <a:pt x="110629" y="316905"/>
                  <a:pt x="106561" y="315615"/>
                  <a:pt x="102493" y="314226"/>
                </a:cubicBezTo>
                <a:cubicBezTo>
                  <a:pt x="81359" y="307578"/>
                  <a:pt x="57348" y="297061"/>
                  <a:pt x="39985" y="283270"/>
                </a:cubicBezTo>
                <a:cubicBezTo>
                  <a:pt x="29964" y="276324"/>
                  <a:pt x="23217" y="265609"/>
                  <a:pt x="21332" y="253603"/>
                </a:cubicBezTo>
                <a:cubicBezTo>
                  <a:pt x="21332" y="235446"/>
                  <a:pt x="52685" y="212229"/>
                  <a:pt x="97929" y="196453"/>
                </a:cubicBezTo>
                <a:cubicBezTo>
                  <a:pt x="103584" y="194469"/>
                  <a:pt x="109339" y="192683"/>
                  <a:pt x="115094" y="190996"/>
                </a:cubicBezTo>
                <a:cubicBezTo>
                  <a:pt x="121841" y="212527"/>
                  <a:pt x="129977" y="233660"/>
                  <a:pt x="139402" y="254099"/>
                </a:cubicBezTo>
                <a:cubicBezTo>
                  <a:pt x="129877" y="274836"/>
                  <a:pt x="121642" y="296267"/>
                  <a:pt x="114796" y="318095"/>
                </a:cubicBezTo>
                <a:close/>
                <a:moveTo>
                  <a:pt x="230485" y="415330"/>
                </a:moveTo>
                <a:cubicBezTo>
                  <a:pt x="214114" y="430312"/>
                  <a:pt x="195163" y="442218"/>
                  <a:pt x="174526" y="450354"/>
                </a:cubicBezTo>
                <a:cubicBezTo>
                  <a:pt x="163513" y="455613"/>
                  <a:pt x="150813" y="456109"/>
                  <a:pt x="139502" y="451644"/>
                </a:cubicBezTo>
                <a:cubicBezTo>
                  <a:pt x="123726" y="442516"/>
                  <a:pt x="117177" y="407491"/>
                  <a:pt x="126107" y="360363"/>
                </a:cubicBezTo>
                <a:cubicBezTo>
                  <a:pt x="127198" y="354806"/>
                  <a:pt x="128389" y="349250"/>
                  <a:pt x="129778" y="343793"/>
                </a:cubicBezTo>
                <a:cubicBezTo>
                  <a:pt x="152003" y="348555"/>
                  <a:pt x="174427" y="351830"/>
                  <a:pt x="197148" y="353516"/>
                </a:cubicBezTo>
                <a:cubicBezTo>
                  <a:pt x="210245" y="372070"/>
                  <a:pt x="224631" y="389830"/>
                  <a:pt x="240010" y="406499"/>
                </a:cubicBezTo>
                <a:cubicBezTo>
                  <a:pt x="236835" y="409575"/>
                  <a:pt x="233660" y="412552"/>
                  <a:pt x="230485" y="415330"/>
                </a:cubicBezTo>
                <a:close/>
                <a:moveTo>
                  <a:pt x="254794" y="391220"/>
                </a:moveTo>
                <a:cubicBezTo>
                  <a:pt x="244673" y="380305"/>
                  <a:pt x="234553" y="368201"/>
                  <a:pt x="224730" y="355203"/>
                </a:cubicBezTo>
                <a:cubicBezTo>
                  <a:pt x="234255" y="355600"/>
                  <a:pt x="244078" y="355798"/>
                  <a:pt x="254000" y="355798"/>
                </a:cubicBezTo>
                <a:cubicBezTo>
                  <a:pt x="264220" y="355798"/>
                  <a:pt x="274241" y="355600"/>
                  <a:pt x="284162" y="355104"/>
                </a:cubicBezTo>
                <a:cubicBezTo>
                  <a:pt x="275034" y="367705"/>
                  <a:pt x="265212" y="379710"/>
                  <a:pt x="254794" y="391220"/>
                </a:cubicBezTo>
                <a:close/>
                <a:moveTo>
                  <a:pt x="384473" y="420985"/>
                </a:moveTo>
                <a:cubicBezTo>
                  <a:pt x="383580" y="433090"/>
                  <a:pt x="377627" y="444401"/>
                  <a:pt x="368102" y="452041"/>
                </a:cubicBezTo>
                <a:cubicBezTo>
                  <a:pt x="352326" y="461169"/>
                  <a:pt x="318691" y="449263"/>
                  <a:pt x="282377" y="418108"/>
                </a:cubicBezTo>
                <a:cubicBezTo>
                  <a:pt x="278209" y="414536"/>
                  <a:pt x="274042" y="410666"/>
                  <a:pt x="269776" y="406698"/>
                </a:cubicBezTo>
                <a:cubicBezTo>
                  <a:pt x="284956" y="389930"/>
                  <a:pt x="298946" y="372170"/>
                  <a:pt x="311646" y="353516"/>
                </a:cubicBezTo>
                <a:cubicBezTo>
                  <a:pt x="334367" y="351631"/>
                  <a:pt x="356989" y="348159"/>
                  <a:pt x="379313" y="343098"/>
                </a:cubicBezTo>
                <a:cubicBezTo>
                  <a:pt x="380305" y="347166"/>
                  <a:pt x="381198" y="351234"/>
                  <a:pt x="381992" y="355203"/>
                </a:cubicBezTo>
                <a:cubicBezTo>
                  <a:pt x="386854" y="376634"/>
                  <a:pt x="387648" y="398959"/>
                  <a:pt x="384473" y="420985"/>
                </a:cubicBezTo>
                <a:close/>
                <a:moveTo>
                  <a:pt x="402530" y="314325"/>
                </a:moveTo>
                <a:cubicBezTo>
                  <a:pt x="399752" y="315218"/>
                  <a:pt x="396974" y="316111"/>
                  <a:pt x="394097" y="316905"/>
                </a:cubicBezTo>
                <a:cubicBezTo>
                  <a:pt x="387152" y="295275"/>
                  <a:pt x="378619" y="274141"/>
                  <a:pt x="368796" y="253603"/>
                </a:cubicBezTo>
                <a:cubicBezTo>
                  <a:pt x="378321" y="233363"/>
                  <a:pt x="386358" y="212527"/>
                  <a:pt x="393105" y="191195"/>
                </a:cubicBezTo>
                <a:cubicBezTo>
                  <a:pt x="398264" y="192683"/>
                  <a:pt x="403225" y="194270"/>
                  <a:pt x="407988" y="195858"/>
                </a:cubicBezTo>
                <a:cubicBezTo>
                  <a:pt x="454223" y="211733"/>
                  <a:pt x="486668" y="235347"/>
                  <a:pt x="486668" y="253405"/>
                </a:cubicBezTo>
                <a:cubicBezTo>
                  <a:pt x="486668" y="272852"/>
                  <a:pt x="452041" y="297954"/>
                  <a:pt x="402530" y="314325"/>
                </a:cubicBezTo>
                <a:close/>
                <a:moveTo>
                  <a:pt x="254000" y="299442"/>
                </a:moveTo>
                <a:cubicBezTo>
                  <a:pt x="279080" y="299442"/>
                  <a:pt x="299442" y="279080"/>
                  <a:pt x="299442" y="254000"/>
                </a:cubicBezTo>
                <a:cubicBezTo>
                  <a:pt x="299442" y="228920"/>
                  <a:pt x="279080" y="208558"/>
                  <a:pt x="254000" y="208558"/>
                </a:cubicBezTo>
                <a:cubicBezTo>
                  <a:pt x="228920" y="208558"/>
                  <a:pt x="208558" y="228920"/>
                  <a:pt x="208558" y="254000"/>
                </a:cubicBezTo>
                <a:cubicBezTo>
                  <a:pt x="208558" y="279080"/>
                  <a:pt x="228920" y="299442"/>
                  <a:pt x="254000" y="299442"/>
                </a:cubicBezTo>
                <a:close/>
              </a:path>
            </a:pathLst>
          </a:custGeom>
          <a:solidFill>
            <a:srgbClr val="D4652A"/>
          </a:solidFill>
          <a:ln/>
        </p:spPr>
        <p:txBody>
          <a:bodyPr/>
          <a:lstStyle/>
          <a:p>
            <a:endParaRPr lang="en-US"/>
          </a:p>
        </p:txBody>
      </p:sp>
      <p:sp>
        <p:nvSpPr>
          <p:cNvPr id="14" name="Text 11"/>
          <p:cNvSpPr/>
          <p:nvPr/>
        </p:nvSpPr>
        <p:spPr>
          <a:xfrm>
            <a:off x="1651000" y="1778000"/>
            <a:ext cx="2286000" cy="381000"/>
          </a:xfrm>
          <a:prstGeom prst="rect">
            <a:avLst/>
          </a:prstGeom>
          <a:noFill/>
          <a:ln/>
        </p:spPr>
        <p:txBody>
          <a:bodyPr wrap="none" lIns="0" tIns="0" rIns="0" bIns="0" rtlCol="0" anchor="ctr"/>
          <a:lstStyle/>
          <a:p>
            <a:pPr algn="l">
              <a:lnSpc>
                <a:spcPct val="120000"/>
              </a:lnSpc>
            </a:pPr>
            <a:r>
              <a:rPr lang="en-US" sz="2000" b="1" dirty="0">
                <a:solidFill>
                  <a:srgbClr val="1E1E1E"/>
                </a:solidFill>
                <a:latin typeface="Liter" pitchFamily="34" charset="0"/>
                <a:ea typeface="Liter" pitchFamily="34" charset="-122"/>
                <a:cs typeface="Liter" pitchFamily="34" charset="-120"/>
              </a:rPr>
              <a:t>React </a:t>
            </a:r>
            <a:endParaRPr lang="en-US" sz="2000" dirty="0"/>
          </a:p>
        </p:txBody>
      </p:sp>
      <p:sp>
        <p:nvSpPr>
          <p:cNvPr id="15" name="Text 12"/>
          <p:cNvSpPr/>
          <p:nvPr/>
        </p:nvSpPr>
        <p:spPr>
          <a:xfrm>
            <a:off x="1651000" y="2159000"/>
            <a:ext cx="2286000" cy="254000"/>
          </a:xfrm>
          <a:prstGeom prst="rect">
            <a:avLst/>
          </a:prstGeom>
          <a:noFill/>
          <a:ln/>
        </p:spPr>
        <p:txBody>
          <a:bodyPr wrap="none" lIns="0" tIns="0" rIns="0" bIns="0" rtlCol="0" anchor="ctr"/>
          <a:lstStyle/>
          <a:p>
            <a:pPr algn="l">
              <a:lnSpc>
                <a:spcPct val="120000"/>
              </a:lnSpc>
            </a:pPr>
            <a:r>
              <a:rPr lang="en-US" sz="1200" dirty="0">
                <a:solidFill>
                  <a:srgbClr val="D4652A"/>
                </a:solidFill>
                <a:latin typeface="Quattrocento Sans" pitchFamily="34" charset="0"/>
                <a:ea typeface="Quattrocento Sans" pitchFamily="34" charset="-122"/>
                <a:cs typeface="Quattrocento Sans" pitchFamily="34" charset="-120"/>
              </a:rPr>
              <a:t>UI Framework</a:t>
            </a:r>
            <a:endParaRPr lang="en-US" sz="1200" dirty="0"/>
          </a:p>
        </p:txBody>
      </p:sp>
      <p:sp>
        <p:nvSpPr>
          <p:cNvPr id="16" name="Text 13"/>
          <p:cNvSpPr/>
          <p:nvPr/>
        </p:nvSpPr>
        <p:spPr>
          <a:xfrm>
            <a:off x="1016000" y="2540000"/>
            <a:ext cx="2921000" cy="1270000"/>
          </a:xfrm>
          <a:prstGeom prst="rect">
            <a:avLst/>
          </a:prstGeom>
          <a:noFill/>
          <a:ln/>
        </p:spPr>
        <p:txBody>
          <a:bodyPr wrap="square" lIns="0" tIns="0" rIns="0" bIns="0" rtlCol="0" anchor="t"/>
          <a:lstStyle/>
          <a:p>
            <a:pPr algn="l">
              <a:lnSpc>
                <a:spcPct val="150000"/>
              </a:lnSpc>
            </a:pPr>
            <a:r>
              <a:rPr lang="en-US" sz="1400" dirty="0">
                <a:solidFill>
                  <a:srgbClr val="5C5C5C"/>
                </a:solidFill>
                <a:latin typeface="Quattrocento Sans" pitchFamily="34" charset="0"/>
                <a:ea typeface="Quattrocento Sans" pitchFamily="34" charset="-122"/>
                <a:cs typeface="Quattrocento Sans" pitchFamily="34" charset="-120"/>
              </a:rPr>
              <a:t>Latest version with modern hooks, concurrent features, and optimal performance</a:t>
            </a:r>
            <a:endParaRPr lang="en-US" sz="1400" dirty="0"/>
          </a:p>
        </p:txBody>
      </p:sp>
      <p:sp>
        <p:nvSpPr>
          <p:cNvPr id="17" name="Shape 14"/>
          <p:cNvSpPr/>
          <p:nvPr/>
        </p:nvSpPr>
        <p:spPr>
          <a:xfrm>
            <a:off x="4445000" y="1524000"/>
            <a:ext cx="3429000" cy="2540000"/>
          </a:xfrm>
          <a:prstGeom prst="roundRect">
            <a:avLst>
              <a:gd name="adj" fmla="val 8000"/>
            </a:avLst>
          </a:prstGeom>
          <a:solidFill>
            <a:srgbClr val="F0EBE6"/>
          </a:solidFill>
          <a:ln/>
        </p:spPr>
        <p:txBody>
          <a:bodyPr/>
          <a:lstStyle/>
          <a:p>
            <a:endParaRPr lang="en-US"/>
          </a:p>
        </p:txBody>
      </p:sp>
      <p:sp>
        <p:nvSpPr>
          <p:cNvPr id="18" name="Shape 15"/>
          <p:cNvSpPr/>
          <p:nvPr/>
        </p:nvSpPr>
        <p:spPr>
          <a:xfrm>
            <a:off x="4699000" y="1778000"/>
            <a:ext cx="508000" cy="508000"/>
          </a:xfrm>
          <a:custGeom>
            <a:avLst/>
            <a:gdLst/>
            <a:ahLst/>
            <a:cxnLst/>
            <a:rect l="l" t="t" r="r" b="b"/>
            <a:pathLst>
              <a:path w="508000" h="508000">
                <a:moveTo>
                  <a:pt x="384175" y="-9823"/>
                </a:moveTo>
                <a:cubicBezTo>
                  <a:pt x="397669" y="-1290"/>
                  <a:pt x="402658" y="14188"/>
                  <a:pt x="396535" y="27682"/>
                </a:cubicBezTo>
                <a:lnTo>
                  <a:pt x="307635" y="222250"/>
                </a:lnTo>
                <a:lnTo>
                  <a:pt x="471714" y="222250"/>
                </a:lnTo>
                <a:cubicBezTo>
                  <a:pt x="487022" y="222250"/>
                  <a:pt x="500629" y="230584"/>
                  <a:pt x="505846" y="243185"/>
                </a:cubicBezTo>
                <a:cubicBezTo>
                  <a:pt x="511062" y="255786"/>
                  <a:pt x="506639" y="269875"/>
                  <a:pt x="494960" y="278408"/>
                </a:cubicBezTo>
                <a:lnTo>
                  <a:pt x="168388" y="516533"/>
                </a:lnTo>
                <a:cubicBezTo>
                  <a:pt x="155575" y="525859"/>
                  <a:pt x="137319" y="526355"/>
                  <a:pt x="123825" y="517823"/>
                </a:cubicBezTo>
                <a:cubicBezTo>
                  <a:pt x="110331" y="509290"/>
                  <a:pt x="105342" y="493812"/>
                  <a:pt x="111465" y="480318"/>
                </a:cubicBezTo>
                <a:lnTo>
                  <a:pt x="200365" y="285750"/>
                </a:lnTo>
                <a:lnTo>
                  <a:pt x="36286" y="285750"/>
                </a:lnTo>
                <a:cubicBezTo>
                  <a:pt x="20978" y="285750"/>
                  <a:pt x="7371" y="277416"/>
                  <a:pt x="2154" y="264815"/>
                </a:cubicBezTo>
                <a:cubicBezTo>
                  <a:pt x="-3062" y="252214"/>
                  <a:pt x="1361" y="238125"/>
                  <a:pt x="13040" y="229592"/>
                </a:cubicBezTo>
                <a:lnTo>
                  <a:pt x="339612" y="-8533"/>
                </a:lnTo>
                <a:cubicBezTo>
                  <a:pt x="352425" y="-17859"/>
                  <a:pt x="370681" y="-18355"/>
                  <a:pt x="384175" y="-9823"/>
                </a:cubicBezTo>
                <a:close/>
              </a:path>
            </a:pathLst>
          </a:custGeom>
          <a:solidFill>
            <a:srgbClr val="D4652A"/>
          </a:solidFill>
          <a:ln/>
        </p:spPr>
        <p:txBody>
          <a:bodyPr/>
          <a:lstStyle/>
          <a:p>
            <a:endParaRPr lang="en-US"/>
          </a:p>
        </p:txBody>
      </p:sp>
      <p:sp>
        <p:nvSpPr>
          <p:cNvPr id="19" name="Text 16"/>
          <p:cNvSpPr/>
          <p:nvPr/>
        </p:nvSpPr>
        <p:spPr>
          <a:xfrm>
            <a:off x="5334000" y="1778000"/>
            <a:ext cx="2286000" cy="381000"/>
          </a:xfrm>
          <a:prstGeom prst="rect">
            <a:avLst/>
          </a:prstGeom>
          <a:noFill/>
          <a:ln/>
        </p:spPr>
        <p:txBody>
          <a:bodyPr wrap="none" lIns="0" tIns="0" rIns="0" bIns="0" rtlCol="0" anchor="ctr"/>
          <a:lstStyle/>
          <a:p>
            <a:pPr algn="l">
              <a:lnSpc>
                <a:spcPct val="120000"/>
              </a:lnSpc>
            </a:pPr>
            <a:r>
              <a:rPr lang="en-US" sz="2000" b="1" dirty="0">
                <a:solidFill>
                  <a:srgbClr val="1E1E1E"/>
                </a:solidFill>
                <a:latin typeface="Liter" pitchFamily="34" charset="0"/>
                <a:ea typeface="Liter" pitchFamily="34" charset="-122"/>
                <a:cs typeface="Liter" pitchFamily="34" charset="-120"/>
              </a:rPr>
              <a:t>Vite</a:t>
            </a:r>
            <a:endParaRPr lang="en-US" sz="2000" dirty="0"/>
          </a:p>
        </p:txBody>
      </p:sp>
      <p:sp>
        <p:nvSpPr>
          <p:cNvPr id="20" name="Text 17"/>
          <p:cNvSpPr/>
          <p:nvPr/>
        </p:nvSpPr>
        <p:spPr>
          <a:xfrm>
            <a:off x="5334000" y="2159000"/>
            <a:ext cx="2286000" cy="254000"/>
          </a:xfrm>
          <a:prstGeom prst="rect">
            <a:avLst/>
          </a:prstGeom>
          <a:noFill/>
          <a:ln/>
        </p:spPr>
        <p:txBody>
          <a:bodyPr wrap="none" lIns="0" tIns="0" rIns="0" bIns="0" rtlCol="0" anchor="ctr"/>
          <a:lstStyle/>
          <a:p>
            <a:pPr algn="l">
              <a:lnSpc>
                <a:spcPct val="120000"/>
              </a:lnSpc>
            </a:pPr>
            <a:r>
              <a:rPr lang="en-US" sz="1200" dirty="0">
                <a:solidFill>
                  <a:srgbClr val="D4652A"/>
                </a:solidFill>
                <a:latin typeface="Quattrocento Sans" pitchFamily="34" charset="0"/>
                <a:ea typeface="Quattrocento Sans" pitchFamily="34" charset="-122"/>
                <a:cs typeface="Quattrocento Sans" pitchFamily="34" charset="-120"/>
              </a:rPr>
              <a:t>Build Tool</a:t>
            </a:r>
            <a:endParaRPr lang="en-US" sz="1200" dirty="0"/>
          </a:p>
        </p:txBody>
      </p:sp>
      <p:sp>
        <p:nvSpPr>
          <p:cNvPr id="21" name="Text 18"/>
          <p:cNvSpPr/>
          <p:nvPr/>
        </p:nvSpPr>
        <p:spPr>
          <a:xfrm>
            <a:off x="4699000" y="2540000"/>
            <a:ext cx="2921000" cy="1270000"/>
          </a:xfrm>
          <a:prstGeom prst="rect">
            <a:avLst/>
          </a:prstGeom>
          <a:noFill/>
          <a:ln/>
        </p:spPr>
        <p:txBody>
          <a:bodyPr wrap="square" lIns="0" tIns="0" rIns="0" bIns="0" rtlCol="0" anchor="t"/>
          <a:lstStyle/>
          <a:p>
            <a:pPr algn="l">
              <a:lnSpc>
                <a:spcPct val="150000"/>
              </a:lnSpc>
            </a:pPr>
            <a:r>
              <a:rPr lang="en-US" sz="1400" dirty="0">
                <a:solidFill>
                  <a:srgbClr val="5C5C5C"/>
                </a:solidFill>
                <a:latin typeface="Quattrocento Sans" pitchFamily="34" charset="0"/>
                <a:ea typeface="Quattrocento Sans" pitchFamily="34" charset="-122"/>
                <a:cs typeface="Quattrocento Sans" pitchFamily="34" charset="-120"/>
              </a:rPr>
              <a:t>Ultra-fast development with sub-second HMR and optimized production builds</a:t>
            </a:r>
            <a:endParaRPr lang="en-US" sz="1400" dirty="0"/>
          </a:p>
        </p:txBody>
      </p:sp>
      <p:sp>
        <p:nvSpPr>
          <p:cNvPr id="22" name="Shape 19"/>
          <p:cNvSpPr/>
          <p:nvPr/>
        </p:nvSpPr>
        <p:spPr>
          <a:xfrm>
            <a:off x="8128000" y="1524000"/>
            <a:ext cx="3429000" cy="2540000"/>
          </a:xfrm>
          <a:prstGeom prst="roundRect">
            <a:avLst>
              <a:gd name="adj" fmla="val 8000"/>
            </a:avLst>
          </a:prstGeom>
          <a:solidFill>
            <a:srgbClr val="F0EBE6"/>
          </a:solidFill>
          <a:ln/>
        </p:spPr>
        <p:txBody>
          <a:bodyPr/>
          <a:lstStyle/>
          <a:p>
            <a:endParaRPr lang="en-US"/>
          </a:p>
        </p:txBody>
      </p:sp>
      <p:sp>
        <p:nvSpPr>
          <p:cNvPr id="23" name="Shape 20"/>
          <p:cNvSpPr/>
          <p:nvPr/>
        </p:nvSpPr>
        <p:spPr>
          <a:xfrm>
            <a:off x="8382000" y="1778000"/>
            <a:ext cx="508000" cy="508000"/>
          </a:xfrm>
          <a:custGeom>
            <a:avLst/>
            <a:gdLst/>
            <a:ahLst/>
            <a:cxnLst/>
            <a:rect l="l" t="t" r="r" b="b"/>
            <a:pathLst>
              <a:path w="508000" h="508000">
                <a:moveTo>
                  <a:pt x="285750" y="31750"/>
                </a:moveTo>
                <a:cubicBezTo>
                  <a:pt x="285750" y="49312"/>
                  <a:pt x="299938" y="63500"/>
                  <a:pt x="317500" y="63500"/>
                </a:cubicBezTo>
                <a:lnTo>
                  <a:pt x="357188" y="63500"/>
                </a:lnTo>
                <a:cubicBezTo>
                  <a:pt x="370384" y="63500"/>
                  <a:pt x="381000" y="74116"/>
                  <a:pt x="381000" y="87313"/>
                </a:cubicBezTo>
                <a:cubicBezTo>
                  <a:pt x="381000" y="100509"/>
                  <a:pt x="370384" y="111125"/>
                  <a:pt x="357188" y="111125"/>
                </a:cubicBezTo>
                <a:lnTo>
                  <a:pt x="31750" y="111125"/>
                </a:lnTo>
                <a:cubicBezTo>
                  <a:pt x="14188" y="111125"/>
                  <a:pt x="0" y="125313"/>
                  <a:pt x="0" y="142875"/>
                </a:cubicBezTo>
                <a:cubicBezTo>
                  <a:pt x="0" y="160437"/>
                  <a:pt x="14188" y="174625"/>
                  <a:pt x="31750" y="174625"/>
                </a:cubicBezTo>
                <a:lnTo>
                  <a:pt x="357188" y="174625"/>
                </a:lnTo>
                <a:cubicBezTo>
                  <a:pt x="405408" y="174625"/>
                  <a:pt x="444500" y="135533"/>
                  <a:pt x="444500" y="87313"/>
                </a:cubicBezTo>
                <a:cubicBezTo>
                  <a:pt x="444500" y="39092"/>
                  <a:pt x="405408" y="0"/>
                  <a:pt x="357188" y="0"/>
                </a:cubicBezTo>
                <a:lnTo>
                  <a:pt x="317500" y="0"/>
                </a:lnTo>
                <a:cubicBezTo>
                  <a:pt x="299938" y="0"/>
                  <a:pt x="285750" y="14188"/>
                  <a:pt x="285750" y="31750"/>
                </a:cubicBezTo>
                <a:close/>
                <a:moveTo>
                  <a:pt x="349250" y="381000"/>
                </a:moveTo>
                <a:cubicBezTo>
                  <a:pt x="349250" y="398562"/>
                  <a:pt x="363438" y="412750"/>
                  <a:pt x="381000" y="412750"/>
                </a:cubicBezTo>
                <a:lnTo>
                  <a:pt x="412750" y="412750"/>
                </a:lnTo>
                <a:cubicBezTo>
                  <a:pt x="465336" y="412750"/>
                  <a:pt x="508000" y="370086"/>
                  <a:pt x="508000" y="317500"/>
                </a:cubicBezTo>
                <a:cubicBezTo>
                  <a:pt x="508000" y="264914"/>
                  <a:pt x="465336" y="222250"/>
                  <a:pt x="412750" y="222250"/>
                </a:cubicBezTo>
                <a:lnTo>
                  <a:pt x="31750" y="222250"/>
                </a:lnTo>
                <a:cubicBezTo>
                  <a:pt x="14188" y="222250"/>
                  <a:pt x="0" y="236438"/>
                  <a:pt x="0" y="254000"/>
                </a:cubicBezTo>
                <a:cubicBezTo>
                  <a:pt x="0" y="271562"/>
                  <a:pt x="14188" y="285750"/>
                  <a:pt x="31750" y="285750"/>
                </a:cubicBezTo>
                <a:lnTo>
                  <a:pt x="412750" y="285750"/>
                </a:lnTo>
                <a:cubicBezTo>
                  <a:pt x="430312" y="285750"/>
                  <a:pt x="444500" y="299938"/>
                  <a:pt x="444500" y="317500"/>
                </a:cubicBezTo>
                <a:cubicBezTo>
                  <a:pt x="444500" y="335062"/>
                  <a:pt x="430312" y="349250"/>
                  <a:pt x="412750" y="349250"/>
                </a:cubicBezTo>
                <a:lnTo>
                  <a:pt x="381000" y="349250"/>
                </a:lnTo>
                <a:cubicBezTo>
                  <a:pt x="363438" y="349250"/>
                  <a:pt x="349250" y="363438"/>
                  <a:pt x="349250" y="381000"/>
                </a:cubicBezTo>
                <a:close/>
                <a:moveTo>
                  <a:pt x="127000" y="508000"/>
                </a:moveTo>
                <a:lnTo>
                  <a:pt x="166688" y="508000"/>
                </a:lnTo>
                <a:cubicBezTo>
                  <a:pt x="214908" y="508000"/>
                  <a:pt x="254000" y="468908"/>
                  <a:pt x="254000" y="420688"/>
                </a:cubicBezTo>
                <a:cubicBezTo>
                  <a:pt x="254000" y="372467"/>
                  <a:pt x="214908" y="333375"/>
                  <a:pt x="166688" y="333375"/>
                </a:cubicBezTo>
                <a:lnTo>
                  <a:pt x="31750" y="333375"/>
                </a:lnTo>
                <a:cubicBezTo>
                  <a:pt x="14188" y="333375"/>
                  <a:pt x="0" y="347563"/>
                  <a:pt x="0" y="365125"/>
                </a:cubicBezTo>
                <a:cubicBezTo>
                  <a:pt x="0" y="382687"/>
                  <a:pt x="14188" y="396875"/>
                  <a:pt x="31750" y="396875"/>
                </a:cubicBezTo>
                <a:lnTo>
                  <a:pt x="166688" y="396875"/>
                </a:lnTo>
                <a:cubicBezTo>
                  <a:pt x="179884" y="396875"/>
                  <a:pt x="190500" y="407491"/>
                  <a:pt x="190500" y="420688"/>
                </a:cubicBezTo>
                <a:cubicBezTo>
                  <a:pt x="190500" y="433884"/>
                  <a:pt x="179884" y="444500"/>
                  <a:pt x="166688" y="444500"/>
                </a:cubicBezTo>
                <a:lnTo>
                  <a:pt x="127000" y="444500"/>
                </a:lnTo>
                <a:cubicBezTo>
                  <a:pt x="109438" y="444500"/>
                  <a:pt x="95250" y="458688"/>
                  <a:pt x="95250" y="476250"/>
                </a:cubicBezTo>
                <a:cubicBezTo>
                  <a:pt x="95250" y="493812"/>
                  <a:pt x="109438" y="508000"/>
                  <a:pt x="127000" y="508000"/>
                </a:cubicBezTo>
                <a:close/>
              </a:path>
            </a:pathLst>
          </a:custGeom>
          <a:solidFill>
            <a:srgbClr val="D4652A"/>
          </a:solidFill>
          <a:ln/>
        </p:spPr>
        <p:txBody>
          <a:bodyPr/>
          <a:lstStyle/>
          <a:p>
            <a:endParaRPr lang="en-US"/>
          </a:p>
        </p:txBody>
      </p:sp>
      <p:sp>
        <p:nvSpPr>
          <p:cNvPr id="24" name="Text 21"/>
          <p:cNvSpPr/>
          <p:nvPr/>
        </p:nvSpPr>
        <p:spPr>
          <a:xfrm>
            <a:off x="9017000" y="1778000"/>
            <a:ext cx="2286000" cy="381000"/>
          </a:xfrm>
          <a:prstGeom prst="rect">
            <a:avLst/>
          </a:prstGeom>
          <a:noFill/>
          <a:ln/>
        </p:spPr>
        <p:txBody>
          <a:bodyPr wrap="none" lIns="0" tIns="0" rIns="0" bIns="0" rtlCol="0" anchor="ctr"/>
          <a:lstStyle/>
          <a:p>
            <a:pPr algn="l">
              <a:lnSpc>
                <a:spcPct val="120000"/>
              </a:lnSpc>
            </a:pPr>
            <a:r>
              <a:rPr lang="en-US" sz="2000" b="1" dirty="0">
                <a:solidFill>
                  <a:srgbClr val="1E1E1E"/>
                </a:solidFill>
                <a:latin typeface="Liter" pitchFamily="34" charset="0"/>
                <a:ea typeface="Liter" pitchFamily="34" charset="-122"/>
                <a:cs typeface="Liter" pitchFamily="34" charset="-120"/>
              </a:rPr>
              <a:t>Tailwind CSS</a:t>
            </a:r>
            <a:endParaRPr lang="en-US" sz="2000" dirty="0"/>
          </a:p>
        </p:txBody>
      </p:sp>
      <p:sp>
        <p:nvSpPr>
          <p:cNvPr id="25" name="Text 22"/>
          <p:cNvSpPr/>
          <p:nvPr/>
        </p:nvSpPr>
        <p:spPr>
          <a:xfrm>
            <a:off x="9017000" y="2159000"/>
            <a:ext cx="2286000" cy="254000"/>
          </a:xfrm>
          <a:prstGeom prst="rect">
            <a:avLst/>
          </a:prstGeom>
          <a:noFill/>
          <a:ln/>
        </p:spPr>
        <p:txBody>
          <a:bodyPr wrap="none" lIns="0" tIns="0" rIns="0" bIns="0" rtlCol="0" anchor="ctr"/>
          <a:lstStyle/>
          <a:p>
            <a:pPr algn="l">
              <a:lnSpc>
                <a:spcPct val="120000"/>
              </a:lnSpc>
            </a:pPr>
            <a:r>
              <a:rPr lang="en-US" sz="1200" dirty="0">
                <a:solidFill>
                  <a:srgbClr val="D4652A"/>
                </a:solidFill>
                <a:latin typeface="Quattrocento Sans" pitchFamily="34" charset="0"/>
                <a:ea typeface="Quattrocento Sans" pitchFamily="34" charset="-122"/>
                <a:cs typeface="Quattrocento Sans" pitchFamily="34" charset="-120"/>
              </a:rPr>
              <a:t>Styling</a:t>
            </a:r>
            <a:endParaRPr lang="en-US" sz="1200" dirty="0"/>
          </a:p>
        </p:txBody>
      </p:sp>
      <p:sp>
        <p:nvSpPr>
          <p:cNvPr id="26" name="Text 23"/>
          <p:cNvSpPr/>
          <p:nvPr/>
        </p:nvSpPr>
        <p:spPr>
          <a:xfrm>
            <a:off x="8382000" y="2540000"/>
            <a:ext cx="2921000" cy="1270000"/>
          </a:xfrm>
          <a:prstGeom prst="rect">
            <a:avLst/>
          </a:prstGeom>
          <a:noFill/>
          <a:ln/>
        </p:spPr>
        <p:txBody>
          <a:bodyPr wrap="square" lIns="0" tIns="0" rIns="0" bIns="0" rtlCol="0" anchor="t"/>
          <a:lstStyle/>
          <a:p>
            <a:pPr algn="l">
              <a:lnSpc>
                <a:spcPct val="150000"/>
              </a:lnSpc>
            </a:pPr>
            <a:r>
              <a:rPr lang="en-US" sz="1400" dirty="0">
                <a:solidFill>
                  <a:srgbClr val="5C5C5C"/>
                </a:solidFill>
                <a:latin typeface="Quattrocento Sans" pitchFamily="34" charset="0"/>
                <a:ea typeface="Quattrocento Sans" pitchFamily="34" charset="-122"/>
                <a:cs typeface="Quattrocento Sans" pitchFamily="34" charset="-120"/>
              </a:rPr>
              <a:t>Utility-first responsive styling with minimal custom CSS overhead</a:t>
            </a:r>
            <a:endParaRPr lang="en-US" sz="1400" dirty="0"/>
          </a:p>
        </p:txBody>
      </p:sp>
      <p:sp>
        <p:nvSpPr>
          <p:cNvPr id="27" name="Shape 24"/>
          <p:cNvSpPr/>
          <p:nvPr/>
        </p:nvSpPr>
        <p:spPr>
          <a:xfrm>
            <a:off x="11811000" y="1524000"/>
            <a:ext cx="3429000" cy="2540000"/>
          </a:xfrm>
          <a:prstGeom prst="roundRect">
            <a:avLst>
              <a:gd name="adj" fmla="val 8000"/>
            </a:avLst>
          </a:prstGeom>
          <a:solidFill>
            <a:srgbClr val="F0EBE6"/>
          </a:solidFill>
          <a:ln/>
        </p:spPr>
        <p:txBody>
          <a:bodyPr/>
          <a:lstStyle/>
          <a:p>
            <a:endParaRPr lang="en-US"/>
          </a:p>
        </p:txBody>
      </p:sp>
      <p:sp>
        <p:nvSpPr>
          <p:cNvPr id="28" name="Shape 25"/>
          <p:cNvSpPr/>
          <p:nvPr/>
        </p:nvSpPr>
        <p:spPr>
          <a:xfrm>
            <a:off x="12065000" y="1778000"/>
            <a:ext cx="508000" cy="508000"/>
          </a:xfrm>
          <a:custGeom>
            <a:avLst/>
            <a:gdLst/>
            <a:ahLst/>
            <a:cxnLst/>
            <a:rect l="l" t="t" r="r" b="b"/>
            <a:pathLst>
              <a:path w="508000" h="508000">
                <a:moveTo>
                  <a:pt x="230684" y="5159"/>
                </a:moveTo>
                <a:cubicBezTo>
                  <a:pt x="245467" y="-1687"/>
                  <a:pt x="262533" y="-1687"/>
                  <a:pt x="277316" y="5159"/>
                </a:cubicBezTo>
                <a:lnTo>
                  <a:pt x="494209" y="105370"/>
                </a:lnTo>
                <a:cubicBezTo>
                  <a:pt x="502642" y="109240"/>
                  <a:pt x="508000" y="117673"/>
                  <a:pt x="508000" y="127000"/>
                </a:cubicBezTo>
                <a:cubicBezTo>
                  <a:pt x="508000" y="136327"/>
                  <a:pt x="502642" y="144760"/>
                  <a:pt x="494209" y="148630"/>
                </a:cubicBezTo>
                <a:lnTo>
                  <a:pt x="277316" y="248841"/>
                </a:lnTo>
                <a:cubicBezTo>
                  <a:pt x="262533" y="255687"/>
                  <a:pt x="245467" y="255687"/>
                  <a:pt x="230684" y="248841"/>
                </a:cubicBezTo>
                <a:lnTo>
                  <a:pt x="13791" y="148630"/>
                </a:lnTo>
                <a:cubicBezTo>
                  <a:pt x="5358" y="144661"/>
                  <a:pt x="0" y="136227"/>
                  <a:pt x="0" y="127000"/>
                </a:cubicBezTo>
                <a:cubicBezTo>
                  <a:pt x="0" y="117773"/>
                  <a:pt x="5358" y="109240"/>
                  <a:pt x="13791" y="105370"/>
                </a:cubicBezTo>
                <a:lnTo>
                  <a:pt x="230684" y="5159"/>
                </a:lnTo>
                <a:close/>
                <a:moveTo>
                  <a:pt x="47724" y="216694"/>
                </a:moveTo>
                <a:lnTo>
                  <a:pt x="210741" y="292001"/>
                </a:lnTo>
                <a:cubicBezTo>
                  <a:pt x="238224" y="304701"/>
                  <a:pt x="269875" y="304701"/>
                  <a:pt x="297359" y="292001"/>
                </a:cubicBezTo>
                <a:lnTo>
                  <a:pt x="460375" y="216694"/>
                </a:lnTo>
                <a:lnTo>
                  <a:pt x="494209" y="232370"/>
                </a:lnTo>
                <a:cubicBezTo>
                  <a:pt x="502642" y="236240"/>
                  <a:pt x="508000" y="244673"/>
                  <a:pt x="508000" y="254000"/>
                </a:cubicBezTo>
                <a:cubicBezTo>
                  <a:pt x="508000" y="263327"/>
                  <a:pt x="502642" y="271760"/>
                  <a:pt x="494209" y="275630"/>
                </a:cubicBezTo>
                <a:lnTo>
                  <a:pt x="277316" y="375841"/>
                </a:lnTo>
                <a:cubicBezTo>
                  <a:pt x="262533" y="382687"/>
                  <a:pt x="245467" y="382687"/>
                  <a:pt x="230684" y="375841"/>
                </a:cubicBezTo>
                <a:lnTo>
                  <a:pt x="13791" y="275630"/>
                </a:lnTo>
                <a:cubicBezTo>
                  <a:pt x="5358" y="271661"/>
                  <a:pt x="0" y="263227"/>
                  <a:pt x="0" y="254000"/>
                </a:cubicBezTo>
                <a:cubicBezTo>
                  <a:pt x="0" y="244773"/>
                  <a:pt x="5358" y="236240"/>
                  <a:pt x="13791" y="232370"/>
                </a:cubicBezTo>
                <a:lnTo>
                  <a:pt x="47625" y="216694"/>
                </a:lnTo>
                <a:close/>
                <a:moveTo>
                  <a:pt x="13791" y="359370"/>
                </a:moveTo>
                <a:lnTo>
                  <a:pt x="47625" y="343694"/>
                </a:lnTo>
                <a:lnTo>
                  <a:pt x="210641" y="419001"/>
                </a:lnTo>
                <a:cubicBezTo>
                  <a:pt x="238125" y="431701"/>
                  <a:pt x="269776" y="431701"/>
                  <a:pt x="297259" y="419001"/>
                </a:cubicBezTo>
                <a:lnTo>
                  <a:pt x="460276" y="343694"/>
                </a:lnTo>
                <a:lnTo>
                  <a:pt x="494109" y="359370"/>
                </a:lnTo>
                <a:cubicBezTo>
                  <a:pt x="502543" y="363240"/>
                  <a:pt x="507901" y="371673"/>
                  <a:pt x="507901" y="381000"/>
                </a:cubicBezTo>
                <a:cubicBezTo>
                  <a:pt x="507901" y="390327"/>
                  <a:pt x="502543" y="398760"/>
                  <a:pt x="494109" y="402630"/>
                </a:cubicBezTo>
                <a:lnTo>
                  <a:pt x="277217" y="502841"/>
                </a:lnTo>
                <a:cubicBezTo>
                  <a:pt x="262434" y="509687"/>
                  <a:pt x="245368" y="509687"/>
                  <a:pt x="230584" y="502841"/>
                </a:cubicBezTo>
                <a:lnTo>
                  <a:pt x="13791" y="402630"/>
                </a:lnTo>
                <a:cubicBezTo>
                  <a:pt x="5358" y="398661"/>
                  <a:pt x="0" y="390227"/>
                  <a:pt x="0" y="381000"/>
                </a:cubicBezTo>
                <a:cubicBezTo>
                  <a:pt x="0" y="371773"/>
                  <a:pt x="5358" y="363240"/>
                  <a:pt x="13791" y="359370"/>
                </a:cubicBezTo>
                <a:close/>
              </a:path>
            </a:pathLst>
          </a:custGeom>
          <a:solidFill>
            <a:srgbClr val="D4652A"/>
          </a:solidFill>
          <a:ln/>
        </p:spPr>
        <p:txBody>
          <a:bodyPr/>
          <a:lstStyle/>
          <a:p>
            <a:endParaRPr lang="en-US"/>
          </a:p>
        </p:txBody>
      </p:sp>
      <p:sp>
        <p:nvSpPr>
          <p:cNvPr id="29" name="Text 26"/>
          <p:cNvSpPr/>
          <p:nvPr/>
        </p:nvSpPr>
        <p:spPr>
          <a:xfrm>
            <a:off x="12700000" y="1778000"/>
            <a:ext cx="2286000" cy="381000"/>
          </a:xfrm>
          <a:prstGeom prst="rect">
            <a:avLst/>
          </a:prstGeom>
          <a:noFill/>
          <a:ln/>
        </p:spPr>
        <p:txBody>
          <a:bodyPr wrap="none" lIns="0" tIns="0" rIns="0" bIns="0" rtlCol="0" anchor="ctr"/>
          <a:lstStyle/>
          <a:p>
            <a:pPr algn="l">
              <a:lnSpc>
                <a:spcPct val="120000"/>
              </a:lnSpc>
            </a:pPr>
            <a:r>
              <a:rPr lang="en-US" sz="2000" b="1" dirty="0">
                <a:solidFill>
                  <a:srgbClr val="1E1E1E"/>
                </a:solidFill>
                <a:latin typeface="Liter" pitchFamily="34" charset="0"/>
                <a:ea typeface="Liter" pitchFamily="34" charset="-122"/>
                <a:cs typeface="Liter" pitchFamily="34" charset="-120"/>
              </a:rPr>
              <a:t>Radix UI</a:t>
            </a:r>
            <a:endParaRPr lang="en-US" sz="2000" dirty="0"/>
          </a:p>
        </p:txBody>
      </p:sp>
      <p:sp>
        <p:nvSpPr>
          <p:cNvPr id="30" name="Text 27"/>
          <p:cNvSpPr/>
          <p:nvPr/>
        </p:nvSpPr>
        <p:spPr>
          <a:xfrm>
            <a:off x="12700000" y="2159000"/>
            <a:ext cx="2286000" cy="254000"/>
          </a:xfrm>
          <a:prstGeom prst="rect">
            <a:avLst/>
          </a:prstGeom>
          <a:noFill/>
          <a:ln/>
        </p:spPr>
        <p:txBody>
          <a:bodyPr wrap="none" lIns="0" tIns="0" rIns="0" bIns="0" rtlCol="0" anchor="ctr"/>
          <a:lstStyle/>
          <a:p>
            <a:pPr algn="l">
              <a:lnSpc>
                <a:spcPct val="120000"/>
              </a:lnSpc>
            </a:pPr>
            <a:r>
              <a:rPr lang="en-US" sz="1200" dirty="0">
                <a:solidFill>
                  <a:srgbClr val="D4652A"/>
                </a:solidFill>
                <a:latin typeface="Quattrocento Sans" pitchFamily="34" charset="0"/>
                <a:ea typeface="Quattrocento Sans" pitchFamily="34" charset="-122"/>
                <a:cs typeface="Quattrocento Sans" pitchFamily="34" charset="-120"/>
              </a:rPr>
              <a:t>Components</a:t>
            </a:r>
            <a:endParaRPr lang="en-US" sz="1200" dirty="0"/>
          </a:p>
        </p:txBody>
      </p:sp>
      <p:sp>
        <p:nvSpPr>
          <p:cNvPr id="31" name="Text 28"/>
          <p:cNvSpPr/>
          <p:nvPr/>
        </p:nvSpPr>
        <p:spPr>
          <a:xfrm>
            <a:off x="12065000" y="2540000"/>
            <a:ext cx="2921000" cy="1270000"/>
          </a:xfrm>
          <a:prstGeom prst="rect">
            <a:avLst/>
          </a:prstGeom>
          <a:noFill/>
          <a:ln/>
        </p:spPr>
        <p:txBody>
          <a:bodyPr wrap="square" lIns="0" tIns="0" rIns="0" bIns="0" rtlCol="0" anchor="t"/>
          <a:lstStyle/>
          <a:p>
            <a:pPr algn="l">
              <a:lnSpc>
                <a:spcPct val="150000"/>
              </a:lnSpc>
            </a:pPr>
            <a:r>
              <a:rPr lang="en-US" sz="1400" dirty="0">
                <a:solidFill>
                  <a:srgbClr val="5C5C5C"/>
                </a:solidFill>
                <a:latin typeface="Quattrocento Sans" pitchFamily="34" charset="0"/>
                <a:ea typeface="Quattrocento Sans" pitchFamily="34" charset="-122"/>
                <a:cs typeface="Quattrocento Sans" pitchFamily="34" charset="-120"/>
              </a:rPr>
              <a:t>Accessible unstyled primitives with full Tailwind customization</a:t>
            </a:r>
            <a:endParaRPr lang="en-US" sz="1400" dirty="0"/>
          </a:p>
        </p:txBody>
      </p:sp>
      <p:sp>
        <p:nvSpPr>
          <p:cNvPr id="32" name="Shape 29"/>
          <p:cNvSpPr/>
          <p:nvPr/>
        </p:nvSpPr>
        <p:spPr>
          <a:xfrm>
            <a:off x="762000" y="4318000"/>
            <a:ext cx="3429000" cy="2540000"/>
          </a:xfrm>
          <a:prstGeom prst="roundRect">
            <a:avLst>
              <a:gd name="adj" fmla="val 8000"/>
            </a:avLst>
          </a:prstGeom>
          <a:solidFill>
            <a:srgbClr val="F0EBE6"/>
          </a:solidFill>
          <a:ln/>
        </p:spPr>
        <p:txBody>
          <a:bodyPr/>
          <a:lstStyle/>
          <a:p>
            <a:endParaRPr lang="en-US"/>
          </a:p>
        </p:txBody>
      </p:sp>
      <p:sp>
        <p:nvSpPr>
          <p:cNvPr id="33" name="Shape 30"/>
          <p:cNvSpPr/>
          <p:nvPr/>
        </p:nvSpPr>
        <p:spPr>
          <a:xfrm>
            <a:off x="1016000" y="4572000"/>
            <a:ext cx="508000" cy="508000"/>
          </a:xfrm>
          <a:custGeom>
            <a:avLst/>
            <a:gdLst/>
            <a:ahLst/>
            <a:cxnLst/>
            <a:rect l="l" t="t" r="r" b="b"/>
            <a:pathLst>
              <a:path w="508000" h="508000">
                <a:moveTo>
                  <a:pt x="508000" y="95250"/>
                </a:moveTo>
                <a:cubicBezTo>
                  <a:pt x="508000" y="145058"/>
                  <a:pt x="449362" y="219373"/>
                  <a:pt x="424061" y="249039"/>
                </a:cubicBezTo>
                <a:cubicBezTo>
                  <a:pt x="420291" y="253405"/>
                  <a:pt x="414734" y="255091"/>
                  <a:pt x="409674" y="254000"/>
                </a:cubicBezTo>
                <a:lnTo>
                  <a:pt x="317500" y="254000"/>
                </a:lnTo>
                <a:cubicBezTo>
                  <a:pt x="299938" y="254000"/>
                  <a:pt x="285750" y="268188"/>
                  <a:pt x="285750" y="285750"/>
                </a:cubicBezTo>
                <a:cubicBezTo>
                  <a:pt x="285750" y="303312"/>
                  <a:pt x="299938" y="317500"/>
                  <a:pt x="317500" y="317500"/>
                </a:cubicBezTo>
                <a:lnTo>
                  <a:pt x="412750" y="317500"/>
                </a:lnTo>
                <a:cubicBezTo>
                  <a:pt x="465336" y="317500"/>
                  <a:pt x="508000" y="360164"/>
                  <a:pt x="508000" y="412750"/>
                </a:cubicBezTo>
                <a:cubicBezTo>
                  <a:pt x="508000" y="465336"/>
                  <a:pt x="465336" y="508000"/>
                  <a:pt x="412750" y="508000"/>
                </a:cubicBezTo>
                <a:lnTo>
                  <a:pt x="138509" y="508000"/>
                </a:lnTo>
                <a:cubicBezTo>
                  <a:pt x="147141" y="498177"/>
                  <a:pt x="157659" y="485577"/>
                  <a:pt x="168275" y="471488"/>
                </a:cubicBezTo>
                <a:cubicBezTo>
                  <a:pt x="174526" y="463153"/>
                  <a:pt x="180975" y="454025"/>
                  <a:pt x="187127" y="444500"/>
                </a:cubicBezTo>
                <a:lnTo>
                  <a:pt x="412750" y="444500"/>
                </a:lnTo>
                <a:cubicBezTo>
                  <a:pt x="430312" y="444500"/>
                  <a:pt x="444500" y="430312"/>
                  <a:pt x="444500" y="412750"/>
                </a:cubicBezTo>
                <a:cubicBezTo>
                  <a:pt x="444500" y="395188"/>
                  <a:pt x="430312" y="381000"/>
                  <a:pt x="412750" y="381000"/>
                </a:cubicBezTo>
                <a:lnTo>
                  <a:pt x="317500" y="381000"/>
                </a:lnTo>
                <a:cubicBezTo>
                  <a:pt x="264914" y="381000"/>
                  <a:pt x="222250" y="338336"/>
                  <a:pt x="222250" y="285750"/>
                </a:cubicBezTo>
                <a:cubicBezTo>
                  <a:pt x="222250" y="233164"/>
                  <a:pt x="264914" y="190500"/>
                  <a:pt x="317500" y="190500"/>
                </a:cubicBezTo>
                <a:lnTo>
                  <a:pt x="356989" y="190500"/>
                </a:lnTo>
                <a:cubicBezTo>
                  <a:pt x="336153" y="159246"/>
                  <a:pt x="317500" y="123329"/>
                  <a:pt x="317500" y="95250"/>
                </a:cubicBezTo>
                <a:cubicBezTo>
                  <a:pt x="317500" y="42664"/>
                  <a:pt x="360164" y="0"/>
                  <a:pt x="412750" y="0"/>
                </a:cubicBezTo>
                <a:cubicBezTo>
                  <a:pt x="465336" y="0"/>
                  <a:pt x="508000" y="42664"/>
                  <a:pt x="508000" y="95250"/>
                </a:cubicBezTo>
                <a:close/>
                <a:moveTo>
                  <a:pt x="116185" y="485279"/>
                </a:moveTo>
                <a:cubicBezTo>
                  <a:pt x="112415" y="489545"/>
                  <a:pt x="109041" y="493316"/>
                  <a:pt x="106164" y="496491"/>
                </a:cubicBezTo>
                <a:lnTo>
                  <a:pt x="104378" y="498475"/>
                </a:lnTo>
                <a:lnTo>
                  <a:pt x="104180" y="498277"/>
                </a:lnTo>
                <a:cubicBezTo>
                  <a:pt x="98227" y="502841"/>
                  <a:pt x="89694" y="502245"/>
                  <a:pt x="84336" y="496491"/>
                </a:cubicBezTo>
                <a:cubicBezTo>
                  <a:pt x="59333" y="469305"/>
                  <a:pt x="0" y="399355"/>
                  <a:pt x="0" y="349250"/>
                </a:cubicBezTo>
                <a:cubicBezTo>
                  <a:pt x="0" y="296664"/>
                  <a:pt x="42664" y="254000"/>
                  <a:pt x="95250" y="254000"/>
                </a:cubicBezTo>
                <a:cubicBezTo>
                  <a:pt x="147836" y="254000"/>
                  <a:pt x="190500" y="296664"/>
                  <a:pt x="190500" y="349250"/>
                </a:cubicBezTo>
                <a:cubicBezTo>
                  <a:pt x="190500" y="379016"/>
                  <a:pt x="169565" y="415727"/>
                  <a:pt x="147340" y="446385"/>
                </a:cubicBezTo>
                <a:cubicBezTo>
                  <a:pt x="136723" y="460970"/>
                  <a:pt x="125809" y="474166"/>
                  <a:pt x="116780" y="484584"/>
                </a:cubicBezTo>
                <a:lnTo>
                  <a:pt x="116185" y="485279"/>
                </a:lnTo>
                <a:close/>
                <a:moveTo>
                  <a:pt x="127000" y="349250"/>
                </a:moveTo>
                <a:cubicBezTo>
                  <a:pt x="127000" y="331727"/>
                  <a:pt x="112773" y="317500"/>
                  <a:pt x="95250" y="317500"/>
                </a:cubicBezTo>
                <a:cubicBezTo>
                  <a:pt x="77727" y="317500"/>
                  <a:pt x="63500" y="331727"/>
                  <a:pt x="63500" y="349250"/>
                </a:cubicBezTo>
                <a:cubicBezTo>
                  <a:pt x="63500" y="366773"/>
                  <a:pt x="77727" y="381000"/>
                  <a:pt x="95250" y="381000"/>
                </a:cubicBezTo>
                <a:cubicBezTo>
                  <a:pt x="112773" y="381000"/>
                  <a:pt x="127000" y="366773"/>
                  <a:pt x="127000" y="349250"/>
                </a:cubicBezTo>
                <a:close/>
                <a:moveTo>
                  <a:pt x="412750" y="127000"/>
                </a:moveTo>
                <a:cubicBezTo>
                  <a:pt x="430273" y="127000"/>
                  <a:pt x="444500" y="112773"/>
                  <a:pt x="444500" y="95250"/>
                </a:cubicBezTo>
                <a:cubicBezTo>
                  <a:pt x="444500" y="77727"/>
                  <a:pt x="430273" y="63500"/>
                  <a:pt x="412750" y="63500"/>
                </a:cubicBezTo>
                <a:cubicBezTo>
                  <a:pt x="395227" y="63500"/>
                  <a:pt x="381000" y="77727"/>
                  <a:pt x="381000" y="95250"/>
                </a:cubicBezTo>
                <a:cubicBezTo>
                  <a:pt x="381000" y="112773"/>
                  <a:pt x="395227" y="127000"/>
                  <a:pt x="412750" y="127000"/>
                </a:cubicBezTo>
                <a:close/>
              </a:path>
            </a:pathLst>
          </a:custGeom>
          <a:solidFill>
            <a:srgbClr val="D4652A"/>
          </a:solidFill>
          <a:ln/>
        </p:spPr>
        <p:txBody>
          <a:bodyPr/>
          <a:lstStyle/>
          <a:p>
            <a:endParaRPr lang="en-US"/>
          </a:p>
        </p:txBody>
      </p:sp>
      <p:sp>
        <p:nvSpPr>
          <p:cNvPr id="34" name="Text 31"/>
          <p:cNvSpPr/>
          <p:nvPr/>
        </p:nvSpPr>
        <p:spPr>
          <a:xfrm>
            <a:off x="1651000" y="4572000"/>
            <a:ext cx="2286000" cy="381000"/>
          </a:xfrm>
          <a:prstGeom prst="rect">
            <a:avLst/>
          </a:prstGeom>
          <a:noFill/>
          <a:ln/>
        </p:spPr>
        <p:txBody>
          <a:bodyPr wrap="none" lIns="0" tIns="0" rIns="0" bIns="0" rtlCol="0" anchor="ctr"/>
          <a:lstStyle/>
          <a:p>
            <a:pPr algn="l">
              <a:lnSpc>
                <a:spcPct val="120000"/>
              </a:lnSpc>
            </a:pPr>
            <a:r>
              <a:rPr lang="en-US" sz="2000" b="1" dirty="0">
                <a:solidFill>
                  <a:srgbClr val="1E1E1E"/>
                </a:solidFill>
                <a:latin typeface="Liter" pitchFamily="34" charset="0"/>
                <a:ea typeface="Liter" pitchFamily="34" charset="-122"/>
                <a:cs typeface="Liter" pitchFamily="34" charset="-120"/>
              </a:rPr>
              <a:t>React Router </a:t>
            </a:r>
            <a:endParaRPr lang="en-US" sz="2000" dirty="0"/>
          </a:p>
        </p:txBody>
      </p:sp>
      <p:sp>
        <p:nvSpPr>
          <p:cNvPr id="35" name="Text 32"/>
          <p:cNvSpPr/>
          <p:nvPr/>
        </p:nvSpPr>
        <p:spPr>
          <a:xfrm>
            <a:off x="1651000" y="4953000"/>
            <a:ext cx="2286000" cy="254000"/>
          </a:xfrm>
          <a:prstGeom prst="rect">
            <a:avLst/>
          </a:prstGeom>
          <a:noFill/>
          <a:ln/>
        </p:spPr>
        <p:txBody>
          <a:bodyPr wrap="none" lIns="0" tIns="0" rIns="0" bIns="0" rtlCol="0" anchor="ctr"/>
          <a:lstStyle/>
          <a:p>
            <a:pPr algn="l">
              <a:lnSpc>
                <a:spcPct val="120000"/>
              </a:lnSpc>
            </a:pPr>
            <a:r>
              <a:rPr lang="en-US" sz="1200" dirty="0">
                <a:solidFill>
                  <a:srgbClr val="D4652A"/>
                </a:solidFill>
                <a:latin typeface="Quattrocento Sans" pitchFamily="34" charset="0"/>
                <a:ea typeface="Quattrocento Sans" pitchFamily="34" charset="-122"/>
                <a:cs typeface="Quattrocento Sans" pitchFamily="34" charset="-120"/>
              </a:rPr>
              <a:t>Routing</a:t>
            </a:r>
            <a:endParaRPr lang="en-US" sz="1200" dirty="0"/>
          </a:p>
        </p:txBody>
      </p:sp>
      <p:sp>
        <p:nvSpPr>
          <p:cNvPr id="36" name="Text 33"/>
          <p:cNvSpPr/>
          <p:nvPr/>
        </p:nvSpPr>
        <p:spPr>
          <a:xfrm>
            <a:off x="1016000" y="5334000"/>
            <a:ext cx="2921000" cy="1270000"/>
          </a:xfrm>
          <a:prstGeom prst="rect">
            <a:avLst/>
          </a:prstGeom>
          <a:noFill/>
          <a:ln/>
        </p:spPr>
        <p:txBody>
          <a:bodyPr wrap="square" lIns="0" tIns="0" rIns="0" bIns="0" rtlCol="0" anchor="t"/>
          <a:lstStyle/>
          <a:p>
            <a:pPr algn="l">
              <a:lnSpc>
                <a:spcPct val="150000"/>
              </a:lnSpc>
            </a:pPr>
            <a:r>
              <a:rPr lang="en-US" sz="1400" dirty="0">
                <a:solidFill>
                  <a:srgbClr val="5C5C5C"/>
                </a:solidFill>
                <a:latin typeface="Quattrocento Sans" pitchFamily="34" charset="0"/>
                <a:ea typeface="Quattrocento Sans" pitchFamily="34" charset="-122"/>
                <a:cs typeface="Quattrocento Sans" pitchFamily="34" charset="-120"/>
              </a:rPr>
              <a:t>Client-side routing with code splitting and lazy loading support</a:t>
            </a:r>
            <a:endParaRPr lang="en-US" sz="1400" dirty="0"/>
          </a:p>
        </p:txBody>
      </p:sp>
      <p:sp>
        <p:nvSpPr>
          <p:cNvPr id="37" name="Shape 34"/>
          <p:cNvSpPr/>
          <p:nvPr/>
        </p:nvSpPr>
        <p:spPr>
          <a:xfrm>
            <a:off x="4445000" y="4318000"/>
            <a:ext cx="3429000" cy="2540000"/>
          </a:xfrm>
          <a:prstGeom prst="roundRect">
            <a:avLst>
              <a:gd name="adj" fmla="val 8000"/>
            </a:avLst>
          </a:prstGeom>
          <a:solidFill>
            <a:srgbClr val="F0EBE6"/>
          </a:solidFill>
          <a:ln/>
        </p:spPr>
        <p:txBody>
          <a:bodyPr/>
          <a:lstStyle/>
          <a:p>
            <a:endParaRPr lang="en-US"/>
          </a:p>
        </p:txBody>
      </p:sp>
      <p:sp>
        <p:nvSpPr>
          <p:cNvPr id="38" name="Shape 35"/>
          <p:cNvSpPr/>
          <p:nvPr/>
        </p:nvSpPr>
        <p:spPr>
          <a:xfrm>
            <a:off x="4699000" y="4572000"/>
            <a:ext cx="508000" cy="508000"/>
          </a:xfrm>
          <a:custGeom>
            <a:avLst/>
            <a:gdLst/>
            <a:ahLst/>
            <a:cxnLst/>
            <a:rect l="l" t="t" r="r" b="b"/>
            <a:pathLst>
              <a:path w="508000" h="508000">
                <a:moveTo>
                  <a:pt x="330597" y="66278"/>
                </a:moveTo>
                <a:cubicBezTo>
                  <a:pt x="344355" y="52090"/>
                  <a:pt x="340122" y="32246"/>
                  <a:pt x="321204" y="21927"/>
                </a:cubicBezTo>
                <a:cubicBezTo>
                  <a:pt x="302286" y="11609"/>
                  <a:pt x="275828" y="14784"/>
                  <a:pt x="262070" y="28972"/>
                </a:cubicBezTo>
                <a:lnTo>
                  <a:pt x="121841" y="173534"/>
                </a:lnTo>
                <a:lnTo>
                  <a:pt x="72231" y="136327"/>
                </a:lnTo>
                <a:cubicBezTo>
                  <a:pt x="55695" y="123924"/>
                  <a:pt x="28840" y="123924"/>
                  <a:pt x="12303" y="136327"/>
                </a:cubicBezTo>
                <a:cubicBezTo>
                  <a:pt x="-4233" y="148729"/>
                  <a:pt x="-4233" y="168870"/>
                  <a:pt x="12303" y="181273"/>
                </a:cubicBezTo>
                <a:lnTo>
                  <a:pt x="96970" y="244773"/>
                </a:lnTo>
                <a:cubicBezTo>
                  <a:pt x="105701" y="251321"/>
                  <a:pt x="117872" y="254695"/>
                  <a:pt x="130175" y="254000"/>
                </a:cubicBezTo>
                <a:cubicBezTo>
                  <a:pt x="142478" y="253305"/>
                  <a:pt x="153855" y="248543"/>
                  <a:pt x="161131" y="241002"/>
                </a:cubicBezTo>
                <a:lnTo>
                  <a:pt x="330465" y="66377"/>
                </a:lnTo>
                <a:close/>
                <a:moveTo>
                  <a:pt x="499930" y="201216"/>
                </a:moveTo>
                <a:cubicBezTo>
                  <a:pt x="513689" y="187027"/>
                  <a:pt x="509455" y="167184"/>
                  <a:pt x="490537" y="156865"/>
                </a:cubicBezTo>
                <a:cubicBezTo>
                  <a:pt x="471620" y="146546"/>
                  <a:pt x="445161" y="149721"/>
                  <a:pt x="431403" y="163909"/>
                </a:cubicBezTo>
                <a:lnTo>
                  <a:pt x="206507" y="395784"/>
                </a:lnTo>
                <a:lnTo>
                  <a:pt x="114565" y="326827"/>
                </a:lnTo>
                <a:cubicBezTo>
                  <a:pt x="98028" y="314424"/>
                  <a:pt x="71173" y="314424"/>
                  <a:pt x="54636" y="326827"/>
                </a:cubicBezTo>
                <a:cubicBezTo>
                  <a:pt x="38100" y="339229"/>
                  <a:pt x="38100" y="359370"/>
                  <a:pt x="54636" y="371773"/>
                </a:cubicBezTo>
                <a:lnTo>
                  <a:pt x="181636" y="467023"/>
                </a:lnTo>
                <a:cubicBezTo>
                  <a:pt x="190368" y="473571"/>
                  <a:pt x="202539" y="476945"/>
                  <a:pt x="214842" y="476250"/>
                </a:cubicBezTo>
                <a:cubicBezTo>
                  <a:pt x="227145" y="475555"/>
                  <a:pt x="238522" y="470793"/>
                  <a:pt x="245798" y="463252"/>
                </a:cubicBezTo>
                <a:lnTo>
                  <a:pt x="499798" y="201315"/>
                </a:lnTo>
                <a:close/>
              </a:path>
            </a:pathLst>
          </a:custGeom>
          <a:solidFill>
            <a:srgbClr val="D4652A"/>
          </a:solidFill>
          <a:ln/>
        </p:spPr>
        <p:txBody>
          <a:bodyPr/>
          <a:lstStyle/>
          <a:p>
            <a:endParaRPr lang="en-US"/>
          </a:p>
        </p:txBody>
      </p:sp>
      <p:sp>
        <p:nvSpPr>
          <p:cNvPr id="39" name="Text 36"/>
          <p:cNvSpPr/>
          <p:nvPr/>
        </p:nvSpPr>
        <p:spPr>
          <a:xfrm>
            <a:off x="5334000" y="4572000"/>
            <a:ext cx="2286000" cy="381000"/>
          </a:xfrm>
          <a:prstGeom prst="rect">
            <a:avLst/>
          </a:prstGeom>
          <a:noFill/>
          <a:ln/>
        </p:spPr>
        <p:txBody>
          <a:bodyPr wrap="none" lIns="0" tIns="0" rIns="0" bIns="0" rtlCol="0" anchor="ctr"/>
          <a:lstStyle/>
          <a:p>
            <a:pPr algn="l">
              <a:lnSpc>
                <a:spcPct val="120000"/>
              </a:lnSpc>
            </a:pPr>
            <a:r>
              <a:rPr lang="en-US" sz="1800" b="1" dirty="0">
                <a:solidFill>
                  <a:srgbClr val="1E1E1E"/>
                </a:solidFill>
                <a:latin typeface="Liter" pitchFamily="34" charset="0"/>
                <a:ea typeface="Liter" pitchFamily="34" charset="-122"/>
                <a:cs typeface="Liter" pitchFamily="34" charset="-120"/>
              </a:rPr>
              <a:t>Hook Form + Zod</a:t>
            </a:r>
            <a:endParaRPr lang="en-US" sz="1800" dirty="0"/>
          </a:p>
        </p:txBody>
      </p:sp>
      <p:sp>
        <p:nvSpPr>
          <p:cNvPr id="40" name="Text 37"/>
          <p:cNvSpPr/>
          <p:nvPr/>
        </p:nvSpPr>
        <p:spPr>
          <a:xfrm>
            <a:off x="5334000" y="4953000"/>
            <a:ext cx="2286000" cy="254000"/>
          </a:xfrm>
          <a:prstGeom prst="rect">
            <a:avLst/>
          </a:prstGeom>
          <a:noFill/>
          <a:ln/>
        </p:spPr>
        <p:txBody>
          <a:bodyPr wrap="none" lIns="0" tIns="0" rIns="0" bIns="0" rtlCol="0" anchor="ctr"/>
          <a:lstStyle/>
          <a:p>
            <a:pPr algn="l">
              <a:lnSpc>
                <a:spcPct val="120000"/>
              </a:lnSpc>
            </a:pPr>
            <a:r>
              <a:rPr lang="en-US" sz="1200" dirty="0">
                <a:solidFill>
                  <a:srgbClr val="D4652A"/>
                </a:solidFill>
                <a:latin typeface="Quattrocento Sans" pitchFamily="34" charset="0"/>
                <a:ea typeface="Quattrocento Sans" pitchFamily="34" charset="-122"/>
                <a:cs typeface="Quattrocento Sans" pitchFamily="34" charset="-120"/>
              </a:rPr>
              <a:t>Forms</a:t>
            </a:r>
            <a:endParaRPr lang="en-US" sz="1200" dirty="0"/>
          </a:p>
        </p:txBody>
      </p:sp>
      <p:sp>
        <p:nvSpPr>
          <p:cNvPr id="41" name="Text 38"/>
          <p:cNvSpPr/>
          <p:nvPr/>
        </p:nvSpPr>
        <p:spPr>
          <a:xfrm>
            <a:off x="4699000" y="5334000"/>
            <a:ext cx="2921000" cy="1270000"/>
          </a:xfrm>
          <a:prstGeom prst="rect">
            <a:avLst/>
          </a:prstGeom>
          <a:noFill/>
          <a:ln/>
        </p:spPr>
        <p:txBody>
          <a:bodyPr wrap="square" lIns="0" tIns="0" rIns="0" bIns="0" rtlCol="0" anchor="t"/>
          <a:lstStyle/>
          <a:p>
            <a:pPr algn="l">
              <a:lnSpc>
                <a:spcPct val="150000"/>
              </a:lnSpc>
            </a:pPr>
            <a:r>
              <a:rPr lang="en-US" sz="1400" dirty="0">
                <a:solidFill>
                  <a:srgbClr val="5C5C5C"/>
                </a:solidFill>
                <a:latin typeface="Quattrocento Sans" pitchFamily="34" charset="0"/>
                <a:ea typeface="Quattrocento Sans" pitchFamily="34" charset="-122"/>
                <a:cs typeface="Quattrocento Sans" pitchFamily="34" charset="-120"/>
              </a:rPr>
              <a:t>Robust form handling with schema validation and instant user feedback</a:t>
            </a:r>
            <a:endParaRPr lang="en-US" sz="1400" dirty="0"/>
          </a:p>
        </p:txBody>
      </p:sp>
      <p:sp>
        <p:nvSpPr>
          <p:cNvPr id="42" name="Shape 39"/>
          <p:cNvSpPr/>
          <p:nvPr/>
        </p:nvSpPr>
        <p:spPr>
          <a:xfrm>
            <a:off x="8128000" y="4318000"/>
            <a:ext cx="3429000" cy="2540000"/>
          </a:xfrm>
          <a:prstGeom prst="roundRect">
            <a:avLst>
              <a:gd name="adj" fmla="val 8000"/>
            </a:avLst>
          </a:prstGeom>
          <a:solidFill>
            <a:srgbClr val="F0EBE6"/>
          </a:solidFill>
          <a:ln/>
        </p:spPr>
        <p:txBody>
          <a:bodyPr/>
          <a:lstStyle/>
          <a:p>
            <a:endParaRPr lang="en-US"/>
          </a:p>
        </p:txBody>
      </p:sp>
      <p:sp>
        <p:nvSpPr>
          <p:cNvPr id="43" name="Shape 40"/>
          <p:cNvSpPr/>
          <p:nvPr/>
        </p:nvSpPr>
        <p:spPr>
          <a:xfrm>
            <a:off x="8382000" y="4572000"/>
            <a:ext cx="508000" cy="508000"/>
          </a:xfrm>
          <a:custGeom>
            <a:avLst/>
            <a:gdLst/>
            <a:ahLst/>
            <a:cxnLst/>
            <a:rect l="l" t="t" r="r" b="b"/>
            <a:pathLst>
              <a:path w="508000" h="508000">
                <a:moveTo>
                  <a:pt x="173534" y="269875"/>
                </a:moveTo>
                <a:cubicBezTo>
                  <a:pt x="184150" y="269875"/>
                  <a:pt x="194072" y="275134"/>
                  <a:pt x="199926" y="283964"/>
                </a:cubicBezTo>
                <a:lnTo>
                  <a:pt x="211634" y="301625"/>
                </a:lnTo>
                <a:lnTo>
                  <a:pt x="238125" y="301625"/>
                </a:lnTo>
                <a:cubicBezTo>
                  <a:pt x="264418" y="301625"/>
                  <a:pt x="285750" y="322957"/>
                  <a:pt x="285750" y="349250"/>
                </a:cubicBezTo>
                <a:lnTo>
                  <a:pt x="285750" y="460375"/>
                </a:lnTo>
                <a:cubicBezTo>
                  <a:pt x="285750" y="486668"/>
                  <a:pt x="264418" y="508000"/>
                  <a:pt x="238125" y="508000"/>
                </a:cubicBezTo>
                <a:lnTo>
                  <a:pt x="47625" y="508000"/>
                </a:lnTo>
                <a:cubicBezTo>
                  <a:pt x="21332" y="508000"/>
                  <a:pt x="0" y="486668"/>
                  <a:pt x="0" y="460375"/>
                </a:cubicBezTo>
                <a:lnTo>
                  <a:pt x="0" y="349250"/>
                </a:lnTo>
                <a:cubicBezTo>
                  <a:pt x="0" y="322957"/>
                  <a:pt x="21332" y="301625"/>
                  <a:pt x="47625" y="301625"/>
                </a:cubicBezTo>
                <a:lnTo>
                  <a:pt x="74116" y="301625"/>
                </a:lnTo>
                <a:lnTo>
                  <a:pt x="85824" y="283964"/>
                </a:lnTo>
                <a:cubicBezTo>
                  <a:pt x="91678" y="275134"/>
                  <a:pt x="101600" y="269875"/>
                  <a:pt x="112216" y="269875"/>
                </a:cubicBezTo>
                <a:lnTo>
                  <a:pt x="173434" y="269875"/>
                </a:lnTo>
                <a:close/>
                <a:moveTo>
                  <a:pt x="449957" y="257969"/>
                </a:moveTo>
                <a:cubicBezTo>
                  <a:pt x="455513" y="253107"/>
                  <a:pt x="463748" y="252710"/>
                  <a:pt x="469702" y="257076"/>
                </a:cubicBezTo>
                <a:cubicBezTo>
                  <a:pt x="475655" y="261441"/>
                  <a:pt x="477937" y="269379"/>
                  <a:pt x="474960" y="276225"/>
                </a:cubicBezTo>
                <a:lnTo>
                  <a:pt x="436860" y="365125"/>
                </a:lnTo>
                <a:lnTo>
                  <a:pt x="492125" y="365125"/>
                </a:lnTo>
                <a:cubicBezTo>
                  <a:pt x="498773" y="365125"/>
                  <a:pt x="504627" y="369193"/>
                  <a:pt x="507008" y="375444"/>
                </a:cubicBezTo>
                <a:cubicBezTo>
                  <a:pt x="509389" y="381695"/>
                  <a:pt x="507603" y="388640"/>
                  <a:pt x="502642" y="393005"/>
                </a:cubicBezTo>
                <a:lnTo>
                  <a:pt x="375642" y="504130"/>
                </a:lnTo>
                <a:cubicBezTo>
                  <a:pt x="370086" y="508992"/>
                  <a:pt x="361851" y="509389"/>
                  <a:pt x="355898" y="505023"/>
                </a:cubicBezTo>
                <a:cubicBezTo>
                  <a:pt x="349945" y="500658"/>
                  <a:pt x="347663" y="492720"/>
                  <a:pt x="350639" y="485874"/>
                </a:cubicBezTo>
                <a:lnTo>
                  <a:pt x="388838" y="396875"/>
                </a:lnTo>
                <a:lnTo>
                  <a:pt x="333474" y="396875"/>
                </a:lnTo>
                <a:cubicBezTo>
                  <a:pt x="326827" y="396875"/>
                  <a:pt x="320973" y="392807"/>
                  <a:pt x="318591" y="386556"/>
                </a:cubicBezTo>
                <a:cubicBezTo>
                  <a:pt x="316210" y="380305"/>
                  <a:pt x="317996" y="373360"/>
                  <a:pt x="322957" y="368995"/>
                </a:cubicBezTo>
                <a:lnTo>
                  <a:pt x="449957" y="257870"/>
                </a:lnTo>
                <a:close/>
                <a:moveTo>
                  <a:pt x="142875" y="357188"/>
                </a:moveTo>
                <a:cubicBezTo>
                  <a:pt x="116590" y="357188"/>
                  <a:pt x="95250" y="378528"/>
                  <a:pt x="95250" y="404813"/>
                </a:cubicBezTo>
                <a:cubicBezTo>
                  <a:pt x="95250" y="431097"/>
                  <a:pt x="116590" y="452437"/>
                  <a:pt x="142875" y="452437"/>
                </a:cubicBezTo>
                <a:cubicBezTo>
                  <a:pt x="169160" y="452437"/>
                  <a:pt x="190500" y="431097"/>
                  <a:pt x="190500" y="404813"/>
                </a:cubicBezTo>
                <a:cubicBezTo>
                  <a:pt x="190500" y="378528"/>
                  <a:pt x="169160" y="357188"/>
                  <a:pt x="142875" y="357188"/>
                </a:cubicBezTo>
                <a:close/>
                <a:moveTo>
                  <a:pt x="480020" y="397"/>
                </a:moveTo>
                <a:cubicBezTo>
                  <a:pt x="486470" y="-695"/>
                  <a:pt x="493018" y="794"/>
                  <a:pt x="498376" y="4763"/>
                </a:cubicBezTo>
                <a:cubicBezTo>
                  <a:pt x="504428" y="9227"/>
                  <a:pt x="508000" y="16371"/>
                  <a:pt x="508000" y="23812"/>
                </a:cubicBezTo>
                <a:lnTo>
                  <a:pt x="508000" y="174625"/>
                </a:lnTo>
                <a:lnTo>
                  <a:pt x="507702" y="179487"/>
                </a:lnTo>
                <a:cubicBezTo>
                  <a:pt x="504428" y="203498"/>
                  <a:pt x="477441" y="222250"/>
                  <a:pt x="444500" y="222250"/>
                </a:cubicBezTo>
                <a:cubicBezTo>
                  <a:pt x="409476" y="222250"/>
                  <a:pt x="381000" y="200918"/>
                  <a:pt x="381000" y="174625"/>
                </a:cubicBezTo>
                <a:cubicBezTo>
                  <a:pt x="381000" y="148332"/>
                  <a:pt x="409476" y="127000"/>
                  <a:pt x="444500" y="127000"/>
                </a:cubicBezTo>
                <a:cubicBezTo>
                  <a:pt x="449957" y="127000"/>
                  <a:pt x="455315" y="127595"/>
                  <a:pt x="460375" y="128588"/>
                </a:cubicBezTo>
                <a:lnTo>
                  <a:pt x="460375" y="79673"/>
                </a:lnTo>
                <a:lnTo>
                  <a:pt x="349250" y="113010"/>
                </a:lnTo>
                <a:lnTo>
                  <a:pt x="349250" y="222349"/>
                </a:lnTo>
                <a:lnTo>
                  <a:pt x="348952" y="227211"/>
                </a:lnTo>
                <a:cubicBezTo>
                  <a:pt x="345678" y="251222"/>
                  <a:pt x="318691" y="269974"/>
                  <a:pt x="285750" y="269974"/>
                </a:cubicBezTo>
                <a:cubicBezTo>
                  <a:pt x="250726" y="269974"/>
                  <a:pt x="222250" y="248642"/>
                  <a:pt x="222250" y="222349"/>
                </a:cubicBezTo>
                <a:cubicBezTo>
                  <a:pt x="222250" y="196056"/>
                  <a:pt x="250726" y="174724"/>
                  <a:pt x="285750" y="174724"/>
                </a:cubicBezTo>
                <a:cubicBezTo>
                  <a:pt x="291207" y="174724"/>
                  <a:pt x="296565" y="175320"/>
                  <a:pt x="301625" y="176312"/>
                </a:cubicBezTo>
                <a:lnTo>
                  <a:pt x="301625" y="71438"/>
                </a:lnTo>
                <a:cubicBezTo>
                  <a:pt x="301625" y="60920"/>
                  <a:pt x="308570" y="51594"/>
                  <a:pt x="318591" y="48617"/>
                </a:cubicBezTo>
                <a:lnTo>
                  <a:pt x="477341" y="992"/>
                </a:lnTo>
                <a:lnTo>
                  <a:pt x="480020" y="397"/>
                </a:lnTo>
                <a:close/>
                <a:moveTo>
                  <a:pt x="187424" y="0"/>
                </a:moveTo>
                <a:cubicBezTo>
                  <a:pt x="224234" y="0"/>
                  <a:pt x="254000" y="29766"/>
                  <a:pt x="254000" y="66576"/>
                </a:cubicBezTo>
                <a:lnTo>
                  <a:pt x="254000" y="72628"/>
                </a:lnTo>
                <a:cubicBezTo>
                  <a:pt x="254000" y="128290"/>
                  <a:pt x="179388" y="183852"/>
                  <a:pt x="144562" y="206871"/>
                </a:cubicBezTo>
                <a:cubicBezTo>
                  <a:pt x="133846" y="213916"/>
                  <a:pt x="120154" y="213916"/>
                  <a:pt x="109438" y="206871"/>
                </a:cubicBezTo>
                <a:cubicBezTo>
                  <a:pt x="74612" y="183952"/>
                  <a:pt x="0" y="128290"/>
                  <a:pt x="0" y="72628"/>
                </a:cubicBezTo>
                <a:lnTo>
                  <a:pt x="0" y="66576"/>
                </a:lnTo>
                <a:cubicBezTo>
                  <a:pt x="0" y="29766"/>
                  <a:pt x="29766" y="0"/>
                  <a:pt x="66576" y="0"/>
                </a:cubicBezTo>
                <a:cubicBezTo>
                  <a:pt x="87511" y="0"/>
                  <a:pt x="107156" y="9823"/>
                  <a:pt x="119757" y="26591"/>
                </a:cubicBezTo>
                <a:lnTo>
                  <a:pt x="127000" y="36314"/>
                </a:lnTo>
                <a:lnTo>
                  <a:pt x="134243" y="26591"/>
                </a:lnTo>
                <a:cubicBezTo>
                  <a:pt x="146844" y="9823"/>
                  <a:pt x="166489" y="0"/>
                  <a:pt x="187424" y="0"/>
                </a:cubicBezTo>
                <a:close/>
              </a:path>
            </a:pathLst>
          </a:custGeom>
          <a:solidFill>
            <a:srgbClr val="D4652A"/>
          </a:solidFill>
          <a:ln/>
        </p:spPr>
        <p:txBody>
          <a:bodyPr/>
          <a:lstStyle/>
          <a:p>
            <a:endParaRPr lang="en-US"/>
          </a:p>
        </p:txBody>
      </p:sp>
      <p:sp>
        <p:nvSpPr>
          <p:cNvPr id="44" name="Text 41"/>
          <p:cNvSpPr/>
          <p:nvPr/>
        </p:nvSpPr>
        <p:spPr>
          <a:xfrm>
            <a:off x="9017000" y="4572000"/>
            <a:ext cx="2286000" cy="381000"/>
          </a:xfrm>
          <a:prstGeom prst="rect">
            <a:avLst/>
          </a:prstGeom>
          <a:noFill/>
          <a:ln/>
        </p:spPr>
        <p:txBody>
          <a:bodyPr wrap="none" lIns="0" tIns="0" rIns="0" bIns="0" rtlCol="0" anchor="ctr"/>
          <a:lstStyle/>
          <a:p>
            <a:pPr algn="l">
              <a:lnSpc>
                <a:spcPct val="120000"/>
              </a:lnSpc>
            </a:pPr>
            <a:r>
              <a:rPr lang="en-US" sz="2000" b="1" dirty="0">
                <a:solidFill>
                  <a:srgbClr val="1E1E1E"/>
                </a:solidFill>
                <a:latin typeface="Liter" pitchFamily="34" charset="0"/>
                <a:ea typeface="Liter" pitchFamily="34" charset="-122"/>
                <a:cs typeface="Liter" pitchFamily="34" charset="-120"/>
              </a:rPr>
              <a:t>Lucide React</a:t>
            </a:r>
            <a:endParaRPr lang="en-US" sz="2000" dirty="0"/>
          </a:p>
        </p:txBody>
      </p:sp>
      <p:sp>
        <p:nvSpPr>
          <p:cNvPr id="45" name="Text 42"/>
          <p:cNvSpPr/>
          <p:nvPr/>
        </p:nvSpPr>
        <p:spPr>
          <a:xfrm>
            <a:off x="9017000" y="4953000"/>
            <a:ext cx="2286000" cy="254000"/>
          </a:xfrm>
          <a:prstGeom prst="rect">
            <a:avLst/>
          </a:prstGeom>
          <a:noFill/>
          <a:ln/>
        </p:spPr>
        <p:txBody>
          <a:bodyPr wrap="none" lIns="0" tIns="0" rIns="0" bIns="0" rtlCol="0" anchor="ctr"/>
          <a:lstStyle/>
          <a:p>
            <a:pPr algn="l">
              <a:lnSpc>
                <a:spcPct val="120000"/>
              </a:lnSpc>
            </a:pPr>
            <a:r>
              <a:rPr lang="en-US" sz="1200" dirty="0">
                <a:solidFill>
                  <a:srgbClr val="D4652A"/>
                </a:solidFill>
                <a:latin typeface="Quattrocento Sans" pitchFamily="34" charset="0"/>
                <a:ea typeface="Quattrocento Sans" pitchFamily="34" charset="-122"/>
                <a:cs typeface="Quattrocento Sans" pitchFamily="34" charset="-120"/>
              </a:rPr>
              <a:t>Icons</a:t>
            </a:r>
            <a:endParaRPr lang="en-US" sz="1200" dirty="0"/>
          </a:p>
        </p:txBody>
      </p:sp>
      <p:sp>
        <p:nvSpPr>
          <p:cNvPr id="46" name="Text 43"/>
          <p:cNvSpPr/>
          <p:nvPr/>
        </p:nvSpPr>
        <p:spPr>
          <a:xfrm>
            <a:off x="8382000" y="5334000"/>
            <a:ext cx="2921000" cy="1270000"/>
          </a:xfrm>
          <a:prstGeom prst="rect">
            <a:avLst/>
          </a:prstGeom>
          <a:noFill/>
          <a:ln/>
        </p:spPr>
        <p:txBody>
          <a:bodyPr wrap="square" lIns="0" tIns="0" rIns="0" bIns="0" rtlCol="0" anchor="t"/>
          <a:lstStyle/>
          <a:p>
            <a:pPr algn="l">
              <a:lnSpc>
                <a:spcPct val="150000"/>
              </a:lnSpc>
            </a:pPr>
            <a:r>
              <a:rPr lang="en-US" sz="1400" dirty="0">
                <a:solidFill>
                  <a:srgbClr val="5C5C5C"/>
                </a:solidFill>
                <a:latin typeface="Quattrocento Sans" pitchFamily="34" charset="0"/>
                <a:ea typeface="Quattrocento Sans" pitchFamily="34" charset="-122"/>
                <a:cs typeface="Quattrocento Sans" pitchFamily="34" charset="-120"/>
              </a:rPr>
              <a:t>Consistent, clean icon system throughout the entire application</a:t>
            </a:r>
            <a:endParaRPr lang="en-US" sz="1400" dirty="0"/>
          </a:p>
        </p:txBody>
      </p:sp>
      <p:sp>
        <p:nvSpPr>
          <p:cNvPr id="47" name="Shape 44"/>
          <p:cNvSpPr/>
          <p:nvPr/>
        </p:nvSpPr>
        <p:spPr>
          <a:xfrm>
            <a:off x="11811000" y="4318000"/>
            <a:ext cx="3429000" cy="2540000"/>
          </a:xfrm>
          <a:prstGeom prst="roundRect">
            <a:avLst>
              <a:gd name="adj" fmla="val 8000"/>
            </a:avLst>
          </a:prstGeom>
          <a:solidFill>
            <a:srgbClr val="F0EBE6"/>
          </a:solidFill>
          <a:ln/>
        </p:spPr>
        <p:txBody>
          <a:bodyPr/>
          <a:lstStyle/>
          <a:p>
            <a:endParaRPr lang="en-US"/>
          </a:p>
        </p:txBody>
      </p:sp>
      <p:sp>
        <p:nvSpPr>
          <p:cNvPr id="48" name="Shape 45"/>
          <p:cNvSpPr/>
          <p:nvPr/>
        </p:nvSpPr>
        <p:spPr>
          <a:xfrm>
            <a:off x="12065000" y="4572000"/>
            <a:ext cx="508000" cy="508000"/>
          </a:xfrm>
          <a:custGeom>
            <a:avLst/>
            <a:gdLst/>
            <a:ahLst/>
            <a:cxnLst/>
            <a:rect l="l" t="t" r="r" b="b"/>
            <a:pathLst>
              <a:path w="508000" h="508000">
                <a:moveTo>
                  <a:pt x="451908" y="238125"/>
                </a:moveTo>
                <a:lnTo>
                  <a:pt x="296686" y="238125"/>
                </a:lnTo>
                <a:cubicBezTo>
                  <a:pt x="281076" y="238125"/>
                  <a:pt x="268464" y="223937"/>
                  <a:pt x="268464" y="206375"/>
                </a:cubicBezTo>
                <a:lnTo>
                  <a:pt x="268464" y="31750"/>
                </a:lnTo>
                <a:cubicBezTo>
                  <a:pt x="268464" y="14188"/>
                  <a:pt x="281164" y="-198"/>
                  <a:pt x="296598" y="2084"/>
                </a:cubicBezTo>
                <a:cubicBezTo>
                  <a:pt x="390966" y="16173"/>
                  <a:pt x="465755" y="100310"/>
                  <a:pt x="478278" y="206474"/>
                </a:cubicBezTo>
                <a:cubicBezTo>
                  <a:pt x="480307" y="223838"/>
                  <a:pt x="467519" y="238125"/>
                  <a:pt x="451908" y="238125"/>
                </a:cubicBezTo>
                <a:close/>
                <a:moveTo>
                  <a:pt x="196321" y="36909"/>
                </a:moveTo>
                <a:cubicBezTo>
                  <a:pt x="212284" y="33139"/>
                  <a:pt x="226131" y="47823"/>
                  <a:pt x="226131" y="66179"/>
                </a:cubicBezTo>
                <a:lnTo>
                  <a:pt x="226131" y="261937"/>
                </a:lnTo>
                <a:cubicBezTo>
                  <a:pt x="226131" y="267494"/>
                  <a:pt x="227894" y="272852"/>
                  <a:pt x="230981" y="277118"/>
                </a:cubicBezTo>
                <a:lnTo>
                  <a:pt x="347486" y="435273"/>
                </a:lnTo>
                <a:cubicBezTo>
                  <a:pt x="357805" y="449263"/>
                  <a:pt x="355600" y="470396"/>
                  <a:pt x="341401" y="479028"/>
                </a:cubicBezTo>
                <a:cubicBezTo>
                  <a:pt x="311326" y="497483"/>
                  <a:pt x="276842" y="508000"/>
                  <a:pt x="240242" y="508000"/>
                </a:cubicBezTo>
                <a:cubicBezTo>
                  <a:pt x="123384" y="508000"/>
                  <a:pt x="28575" y="401340"/>
                  <a:pt x="28575" y="269875"/>
                </a:cubicBezTo>
                <a:cubicBezTo>
                  <a:pt x="28575" y="155277"/>
                  <a:pt x="100453" y="59630"/>
                  <a:pt x="196321" y="36909"/>
                </a:cubicBezTo>
                <a:close/>
                <a:moveTo>
                  <a:pt x="421393" y="285750"/>
                </a:moveTo>
                <a:lnTo>
                  <a:pt x="477838" y="285750"/>
                </a:lnTo>
                <a:cubicBezTo>
                  <a:pt x="494153" y="285750"/>
                  <a:pt x="507206" y="301327"/>
                  <a:pt x="503855" y="319286"/>
                </a:cubicBezTo>
                <a:cubicBezTo>
                  <a:pt x="494859" y="367308"/>
                  <a:pt x="472987" y="409972"/>
                  <a:pt x="442472" y="442516"/>
                </a:cubicBezTo>
                <a:cubicBezTo>
                  <a:pt x="431624" y="454124"/>
                  <a:pt x="414602" y="451644"/>
                  <a:pt x="405077" y="438646"/>
                </a:cubicBezTo>
                <a:lnTo>
                  <a:pt x="330641" y="337741"/>
                </a:lnTo>
                <a:cubicBezTo>
                  <a:pt x="315383" y="317004"/>
                  <a:pt x="328524" y="285750"/>
                  <a:pt x="352337" y="285750"/>
                </a:cubicBezTo>
                <a:lnTo>
                  <a:pt x="421305" y="285750"/>
                </a:lnTo>
                <a:close/>
              </a:path>
            </a:pathLst>
          </a:custGeom>
          <a:solidFill>
            <a:srgbClr val="D4652A"/>
          </a:solidFill>
          <a:ln/>
        </p:spPr>
        <p:txBody>
          <a:bodyPr/>
          <a:lstStyle/>
          <a:p>
            <a:endParaRPr lang="en-US"/>
          </a:p>
        </p:txBody>
      </p:sp>
      <p:sp>
        <p:nvSpPr>
          <p:cNvPr id="49" name="Text 46"/>
          <p:cNvSpPr/>
          <p:nvPr/>
        </p:nvSpPr>
        <p:spPr>
          <a:xfrm>
            <a:off x="12700000" y="4572000"/>
            <a:ext cx="2286000" cy="381000"/>
          </a:xfrm>
          <a:prstGeom prst="rect">
            <a:avLst/>
          </a:prstGeom>
          <a:noFill/>
          <a:ln/>
        </p:spPr>
        <p:txBody>
          <a:bodyPr wrap="none" lIns="0" tIns="0" rIns="0" bIns="0" rtlCol="0" anchor="ctr"/>
          <a:lstStyle/>
          <a:p>
            <a:pPr algn="l">
              <a:lnSpc>
                <a:spcPct val="120000"/>
              </a:lnSpc>
            </a:pPr>
            <a:r>
              <a:rPr lang="en-US" sz="2000" b="1" dirty="0">
                <a:solidFill>
                  <a:srgbClr val="1E1E1E"/>
                </a:solidFill>
                <a:latin typeface="Liter" pitchFamily="34" charset="0"/>
                <a:ea typeface="Liter" pitchFamily="34" charset="-122"/>
                <a:cs typeface="Liter" pitchFamily="34" charset="-120"/>
              </a:rPr>
              <a:t>Recharts</a:t>
            </a:r>
            <a:endParaRPr lang="en-US" sz="2000" dirty="0"/>
          </a:p>
        </p:txBody>
      </p:sp>
      <p:sp>
        <p:nvSpPr>
          <p:cNvPr id="50" name="Text 47"/>
          <p:cNvSpPr/>
          <p:nvPr/>
        </p:nvSpPr>
        <p:spPr>
          <a:xfrm>
            <a:off x="12700000" y="4953000"/>
            <a:ext cx="2286000" cy="254000"/>
          </a:xfrm>
          <a:prstGeom prst="rect">
            <a:avLst/>
          </a:prstGeom>
          <a:noFill/>
          <a:ln/>
        </p:spPr>
        <p:txBody>
          <a:bodyPr wrap="none" lIns="0" tIns="0" rIns="0" bIns="0" rtlCol="0" anchor="ctr"/>
          <a:lstStyle/>
          <a:p>
            <a:pPr algn="l">
              <a:lnSpc>
                <a:spcPct val="120000"/>
              </a:lnSpc>
            </a:pPr>
            <a:r>
              <a:rPr lang="en-US" sz="1200" dirty="0">
                <a:solidFill>
                  <a:srgbClr val="D4652A"/>
                </a:solidFill>
                <a:latin typeface="Quattrocento Sans" pitchFamily="34" charset="0"/>
                <a:ea typeface="Quattrocento Sans" pitchFamily="34" charset="-122"/>
                <a:cs typeface="Quattrocento Sans" pitchFamily="34" charset="-120"/>
              </a:rPr>
              <a:t>Charts</a:t>
            </a:r>
            <a:endParaRPr lang="en-US" sz="1200" dirty="0"/>
          </a:p>
        </p:txBody>
      </p:sp>
      <p:sp>
        <p:nvSpPr>
          <p:cNvPr id="51" name="Text 48"/>
          <p:cNvSpPr/>
          <p:nvPr/>
        </p:nvSpPr>
        <p:spPr>
          <a:xfrm>
            <a:off x="12065000" y="5334000"/>
            <a:ext cx="2921000" cy="1270000"/>
          </a:xfrm>
          <a:prstGeom prst="rect">
            <a:avLst/>
          </a:prstGeom>
          <a:noFill/>
          <a:ln/>
        </p:spPr>
        <p:txBody>
          <a:bodyPr wrap="square" lIns="0" tIns="0" rIns="0" bIns="0" rtlCol="0" anchor="t"/>
          <a:lstStyle/>
          <a:p>
            <a:pPr algn="l">
              <a:lnSpc>
                <a:spcPct val="150000"/>
              </a:lnSpc>
            </a:pPr>
            <a:r>
              <a:rPr lang="en-US" sz="1400" dirty="0">
                <a:solidFill>
                  <a:srgbClr val="5C5C5C"/>
                </a:solidFill>
                <a:latin typeface="Quattrocento Sans" pitchFamily="34" charset="0"/>
                <a:ea typeface="Quattrocento Sans" pitchFamily="34" charset="-122"/>
                <a:cs typeface="Quattrocento Sans" pitchFamily="34" charset="-120"/>
              </a:rPr>
              <a:t>Data visualization for admin dashboard analytics and insights</a:t>
            </a:r>
            <a:endParaRPr lang="en-US" sz="1400" dirty="0"/>
          </a:p>
        </p:txBody>
      </p:sp>
      <p:sp>
        <p:nvSpPr>
          <p:cNvPr id="52" name="Shape 49"/>
          <p:cNvSpPr/>
          <p:nvPr/>
        </p:nvSpPr>
        <p:spPr>
          <a:xfrm>
            <a:off x="762000" y="7429500"/>
            <a:ext cx="14732000" cy="508000"/>
          </a:xfrm>
          <a:prstGeom prst="roundRect">
            <a:avLst>
              <a:gd name="adj" fmla="val 6000"/>
            </a:avLst>
          </a:prstGeom>
          <a:solidFill>
            <a:srgbClr val="2D2D2D"/>
          </a:solidFill>
          <a:ln/>
        </p:spPr>
        <p:txBody>
          <a:bodyPr/>
          <a:lstStyle/>
          <a:p>
            <a:endParaRPr lang="en-US"/>
          </a:p>
        </p:txBody>
      </p:sp>
      <p:sp>
        <p:nvSpPr>
          <p:cNvPr id="53" name="Text 50"/>
          <p:cNvSpPr/>
          <p:nvPr/>
        </p:nvSpPr>
        <p:spPr>
          <a:xfrm>
            <a:off x="1016000" y="7429500"/>
            <a:ext cx="14224000" cy="508000"/>
          </a:xfrm>
          <a:prstGeom prst="rect">
            <a:avLst/>
          </a:prstGeom>
          <a:noFill/>
          <a:ln/>
        </p:spPr>
        <p:txBody>
          <a:bodyPr wrap="square" lIns="0" tIns="0" rIns="0" bIns="0" rtlCol="0" anchor="ctr"/>
          <a:lstStyle/>
          <a:p>
            <a:pPr algn="ctr">
              <a:lnSpc>
                <a:spcPct val="120000"/>
              </a:lnSpc>
            </a:pPr>
            <a:r>
              <a:rPr lang="en-US" sz="1600" b="1" dirty="0">
                <a:solidFill>
                  <a:srgbClr val="D4652A"/>
                </a:solidFill>
                <a:latin typeface="Quattrocento Sans" pitchFamily="34" charset="0"/>
                <a:ea typeface="Quattrocento Sans" pitchFamily="34" charset="-122"/>
                <a:cs typeface="Quattrocento Sans" pitchFamily="34" charset="-120"/>
              </a:rPr>
              <a:t>Performance Targets:</a:t>
            </a:r>
            <a:r>
              <a:rPr lang="en-US" sz="1600" dirty="0">
                <a:solidFill>
                  <a:srgbClr val="FFFFFF"/>
                </a:solidFill>
                <a:latin typeface="Quattrocento Sans" pitchFamily="34" charset="0"/>
                <a:ea typeface="Quattrocento Sans" pitchFamily="34" charset="-122"/>
                <a:cs typeface="Quattrocento Sans" pitchFamily="34" charset="-120"/>
              </a:rPr>
              <a:t>  First Contentful Paint &lt; 2s  |  Vite Build &lt; 1s  |  20+ Components  |  8 Pages  |  Mobile-First Responsive</a:t>
            </a:r>
            <a:endParaRPr lang="en-US" sz="1600" dirty="0"/>
          </a:p>
        </p:txBody>
      </p:sp>
      <p:sp>
        <p:nvSpPr>
          <p:cNvPr id="54" name="Text 51"/>
          <p:cNvSpPr/>
          <p:nvPr/>
        </p:nvSpPr>
        <p:spPr>
          <a:xfrm>
            <a:off x="762000" y="8763000"/>
            <a:ext cx="5080000" cy="254000"/>
          </a:xfrm>
          <a:prstGeom prst="rect">
            <a:avLst/>
          </a:prstGeom>
          <a:noFill/>
          <a:ln/>
        </p:spPr>
        <p:txBody>
          <a:bodyPr wrap="none" lIns="0" tIns="0" rIns="0" bIns="0" rtlCol="0" anchor="ctr"/>
          <a:lstStyle/>
          <a:p>
            <a:pPr algn="l">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Restaurant Finder | Graduation Project Defense</a:t>
            </a:r>
            <a:endParaRPr lang="en-US" sz="1200" dirty="0"/>
          </a:p>
        </p:txBody>
      </p:sp>
      <p:sp>
        <p:nvSpPr>
          <p:cNvPr id="55" name="Text 52"/>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04 / 12</a:t>
            </a:r>
            <a:endParaRPr lang="en-US" sz="12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2D2D2D"/>
          </a:solidFill>
          <a:ln/>
        </p:spPr>
        <p:txBody>
          <a:bodyPr/>
          <a:lstStyle/>
          <a:p>
            <a:endParaRPr lang="en-US"/>
          </a:p>
        </p:txBody>
      </p:sp>
      <p:sp>
        <p:nvSpPr>
          <p:cNvPr id="4" name="Text 1"/>
          <p:cNvSpPr/>
          <p:nvPr/>
        </p:nvSpPr>
        <p:spPr>
          <a:xfrm>
            <a:off x="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PROBLEM</a:t>
            </a:r>
            <a:endParaRPr lang="en-US" sz="1100" dirty="0"/>
          </a:p>
        </p:txBody>
      </p:sp>
      <p:sp>
        <p:nvSpPr>
          <p:cNvPr id="5" name="Text 2"/>
          <p:cNvSpPr/>
          <p:nvPr/>
        </p:nvSpPr>
        <p:spPr>
          <a:xfrm>
            <a:off x="32512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SOLUTION</a:t>
            </a:r>
            <a:endParaRPr lang="en-US" sz="1100" dirty="0"/>
          </a:p>
        </p:txBody>
      </p:sp>
      <p:sp>
        <p:nvSpPr>
          <p:cNvPr id="6" name="Text 3"/>
          <p:cNvSpPr/>
          <p:nvPr/>
        </p:nvSpPr>
        <p:spPr>
          <a:xfrm>
            <a:off x="6502400" y="0"/>
            <a:ext cx="3251200" cy="406400"/>
          </a:xfrm>
          <a:prstGeom prst="rect">
            <a:avLst/>
          </a:prstGeom>
          <a:noFill/>
          <a:ln/>
        </p:spPr>
        <p:txBody>
          <a:bodyPr wrap="none" lIns="0" tIns="0" rIns="0" bIns="0" rtlCol="0" anchor="ctr"/>
          <a:lstStyle/>
          <a:p>
            <a:pPr algn="ctr">
              <a:lnSpc>
                <a:spcPct val="120000"/>
              </a:lnSpc>
            </a:pPr>
            <a:r>
              <a:rPr lang="en-US" sz="1100" b="1" dirty="0">
                <a:solidFill>
                  <a:srgbClr val="D4652A"/>
                </a:solidFill>
                <a:latin typeface="Quattrocento Sans" pitchFamily="34" charset="0"/>
                <a:ea typeface="Quattrocento Sans" pitchFamily="34" charset="-122"/>
                <a:cs typeface="Quattrocento Sans" pitchFamily="34" charset="-120"/>
              </a:rPr>
              <a:t>TECH STACK</a:t>
            </a:r>
            <a:endParaRPr lang="en-US" sz="1100" dirty="0"/>
          </a:p>
        </p:txBody>
      </p:sp>
      <p:sp>
        <p:nvSpPr>
          <p:cNvPr id="7" name="Shape 4"/>
          <p:cNvSpPr/>
          <p:nvPr/>
        </p:nvSpPr>
        <p:spPr>
          <a:xfrm>
            <a:off x="7493000" y="419100"/>
            <a:ext cx="1270000" cy="38100"/>
          </a:xfrm>
          <a:prstGeom prst="rect">
            <a:avLst/>
          </a:prstGeom>
          <a:solidFill>
            <a:srgbClr val="D4652A"/>
          </a:solidFill>
          <a:ln/>
        </p:spPr>
        <p:txBody>
          <a:bodyPr/>
          <a:lstStyle/>
          <a:p>
            <a:endParaRPr lang="en-US"/>
          </a:p>
        </p:txBody>
      </p:sp>
      <p:sp>
        <p:nvSpPr>
          <p:cNvPr id="8" name="Text 5"/>
          <p:cNvSpPr/>
          <p:nvPr/>
        </p:nvSpPr>
        <p:spPr>
          <a:xfrm>
            <a:off x="97536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FEATURES</a:t>
            </a:r>
            <a:endParaRPr lang="en-US" sz="1100" dirty="0"/>
          </a:p>
        </p:txBody>
      </p:sp>
      <p:sp>
        <p:nvSpPr>
          <p:cNvPr id="9" name="Text 6"/>
          <p:cNvSpPr/>
          <p:nvPr/>
        </p:nvSpPr>
        <p:spPr>
          <a:xfrm>
            <a:off x="130048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ARCHITECTURE</a:t>
            </a:r>
            <a:endParaRPr lang="en-US" sz="1100" dirty="0"/>
          </a:p>
        </p:txBody>
      </p:sp>
      <p:sp>
        <p:nvSpPr>
          <p:cNvPr id="10" name="Text 7"/>
          <p:cNvSpPr/>
          <p:nvPr/>
        </p:nvSpPr>
        <p:spPr>
          <a:xfrm>
            <a:off x="762000" y="660400"/>
            <a:ext cx="10160000" cy="508000"/>
          </a:xfrm>
          <a:prstGeom prst="rect">
            <a:avLst/>
          </a:prstGeom>
          <a:noFill/>
          <a:ln/>
        </p:spPr>
        <p:txBody>
          <a:bodyPr wrap="none" lIns="0" tIns="0" rIns="0" bIns="0" rtlCol="0" anchor="ctr"/>
          <a:lstStyle/>
          <a:p>
            <a:pPr algn="l">
              <a:lnSpc>
                <a:spcPct val="130000"/>
              </a:lnSpc>
            </a:pPr>
            <a:r>
              <a:rPr lang="en-US" sz="2800" dirty="0">
                <a:solidFill>
                  <a:srgbClr val="1E1E1E"/>
                </a:solidFill>
                <a:latin typeface="Liter" pitchFamily="34" charset="0"/>
                <a:ea typeface="Liter" pitchFamily="34" charset="-122"/>
                <a:cs typeface="Liter" pitchFamily="34" charset="-120"/>
              </a:rPr>
              <a:t>Technology Stack: Backend &amp; API Integration</a:t>
            </a:r>
            <a:endParaRPr lang="en-US" sz="2800" dirty="0"/>
          </a:p>
        </p:txBody>
      </p:sp>
      <p:sp>
        <p:nvSpPr>
          <p:cNvPr id="11" name="Shape 8"/>
          <p:cNvSpPr/>
          <p:nvPr/>
        </p:nvSpPr>
        <p:spPr>
          <a:xfrm>
            <a:off x="762000" y="1219200"/>
            <a:ext cx="1016000" cy="38100"/>
          </a:xfrm>
          <a:prstGeom prst="rect">
            <a:avLst/>
          </a:prstGeom>
          <a:solidFill>
            <a:srgbClr val="D4652A"/>
          </a:solidFill>
          <a:ln/>
        </p:spPr>
        <p:txBody>
          <a:bodyPr/>
          <a:lstStyle/>
          <a:p>
            <a:endParaRPr lang="en-US"/>
          </a:p>
        </p:txBody>
      </p:sp>
      <p:sp>
        <p:nvSpPr>
          <p:cNvPr id="12" name="Shape 9"/>
          <p:cNvSpPr/>
          <p:nvPr/>
        </p:nvSpPr>
        <p:spPr>
          <a:xfrm>
            <a:off x="762000" y="1651000"/>
            <a:ext cx="3810000" cy="2286000"/>
          </a:xfrm>
          <a:prstGeom prst="roundRect">
            <a:avLst>
              <a:gd name="adj" fmla="val 8000"/>
            </a:avLst>
          </a:prstGeom>
          <a:solidFill>
            <a:srgbClr val="F0EBE6"/>
          </a:solidFill>
          <a:ln w="12700">
            <a:solidFill>
              <a:srgbClr val="D4652A"/>
            </a:solidFill>
            <a:prstDash val="solid"/>
          </a:ln>
        </p:spPr>
        <p:txBody>
          <a:bodyPr/>
          <a:lstStyle/>
          <a:p>
            <a:endParaRPr lang="en-US"/>
          </a:p>
        </p:txBody>
      </p:sp>
      <p:sp>
        <p:nvSpPr>
          <p:cNvPr id="13" name="Shape 10"/>
          <p:cNvSpPr/>
          <p:nvPr/>
        </p:nvSpPr>
        <p:spPr>
          <a:xfrm>
            <a:off x="2159000" y="1841500"/>
            <a:ext cx="508000" cy="508000"/>
          </a:xfrm>
          <a:custGeom>
            <a:avLst/>
            <a:gdLst/>
            <a:ahLst/>
            <a:cxnLst/>
            <a:rect l="l" t="t" r="r" b="b"/>
            <a:pathLst>
              <a:path w="508000" h="508000">
                <a:moveTo>
                  <a:pt x="63500" y="31750"/>
                </a:moveTo>
                <a:cubicBezTo>
                  <a:pt x="28476" y="31750"/>
                  <a:pt x="0" y="60226"/>
                  <a:pt x="0" y="95250"/>
                </a:cubicBezTo>
                <a:lnTo>
                  <a:pt x="0" y="349250"/>
                </a:lnTo>
                <a:cubicBezTo>
                  <a:pt x="0" y="384274"/>
                  <a:pt x="28476" y="412750"/>
                  <a:pt x="63500" y="412750"/>
                </a:cubicBezTo>
                <a:lnTo>
                  <a:pt x="206375" y="412750"/>
                </a:lnTo>
                <a:lnTo>
                  <a:pt x="190500" y="460375"/>
                </a:lnTo>
                <a:lnTo>
                  <a:pt x="119063" y="460375"/>
                </a:lnTo>
                <a:cubicBezTo>
                  <a:pt x="105866" y="460375"/>
                  <a:pt x="95250" y="470991"/>
                  <a:pt x="95250" y="484187"/>
                </a:cubicBezTo>
                <a:cubicBezTo>
                  <a:pt x="95250" y="497384"/>
                  <a:pt x="105866" y="508000"/>
                  <a:pt x="119063" y="508000"/>
                </a:cubicBezTo>
                <a:lnTo>
                  <a:pt x="388938" y="508000"/>
                </a:lnTo>
                <a:cubicBezTo>
                  <a:pt x="402134" y="508000"/>
                  <a:pt x="412750" y="497384"/>
                  <a:pt x="412750" y="484187"/>
                </a:cubicBezTo>
                <a:cubicBezTo>
                  <a:pt x="412750" y="470991"/>
                  <a:pt x="402134" y="460375"/>
                  <a:pt x="388938" y="460375"/>
                </a:cubicBezTo>
                <a:lnTo>
                  <a:pt x="317500" y="460375"/>
                </a:lnTo>
                <a:lnTo>
                  <a:pt x="301625" y="412750"/>
                </a:lnTo>
                <a:lnTo>
                  <a:pt x="444500" y="412750"/>
                </a:lnTo>
                <a:cubicBezTo>
                  <a:pt x="479524" y="412750"/>
                  <a:pt x="508000" y="384274"/>
                  <a:pt x="508000" y="349250"/>
                </a:cubicBezTo>
                <a:lnTo>
                  <a:pt x="508000" y="95250"/>
                </a:lnTo>
                <a:cubicBezTo>
                  <a:pt x="508000" y="60226"/>
                  <a:pt x="479524" y="31750"/>
                  <a:pt x="444500" y="31750"/>
                </a:cubicBezTo>
                <a:lnTo>
                  <a:pt x="63500" y="31750"/>
                </a:lnTo>
                <a:close/>
                <a:moveTo>
                  <a:pt x="95250" y="95250"/>
                </a:moveTo>
                <a:lnTo>
                  <a:pt x="412750" y="95250"/>
                </a:lnTo>
                <a:cubicBezTo>
                  <a:pt x="430312" y="95250"/>
                  <a:pt x="444500" y="109438"/>
                  <a:pt x="444500" y="127000"/>
                </a:cubicBezTo>
                <a:lnTo>
                  <a:pt x="444500" y="285750"/>
                </a:lnTo>
                <a:cubicBezTo>
                  <a:pt x="444500" y="303312"/>
                  <a:pt x="430312" y="317500"/>
                  <a:pt x="412750" y="317500"/>
                </a:cubicBezTo>
                <a:lnTo>
                  <a:pt x="95250" y="317500"/>
                </a:lnTo>
                <a:cubicBezTo>
                  <a:pt x="77688" y="317500"/>
                  <a:pt x="63500" y="303312"/>
                  <a:pt x="63500" y="285750"/>
                </a:cubicBezTo>
                <a:lnTo>
                  <a:pt x="63500" y="127000"/>
                </a:lnTo>
                <a:cubicBezTo>
                  <a:pt x="63500" y="109438"/>
                  <a:pt x="77688" y="95250"/>
                  <a:pt x="95250" y="95250"/>
                </a:cubicBezTo>
                <a:close/>
              </a:path>
            </a:pathLst>
          </a:custGeom>
          <a:solidFill>
            <a:srgbClr val="D4652A"/>
          </a:solidFill>
          <a:ln/>
        </p:spPr>
        <p:txBody>
          <a:bodyPr/>
          <a:lstStyle/>
          <a:p>
            <a:endParaRPr lang="en-US"/>
          </a:p>
        </p:txBody>
      </p:sp>
      <p:sp>
        <p:nvSpPr>
          <p:cNvPr id="14" name="Text 11"/>
          <p:cNvSpPr/>
          <p:nvPr/>
        </p:nvSpPr>
        <p:spPr>
          <a:xfrm>
            <a:off x="1016000" y="2476500"/>
            <a:ext cx="3302000" cy="355600"/>
          </a:xfrm>
          <a:prstGeom prst="rect">
            <a:avLst/>
          </a:prstGeom>
          <a:noFill/>
          <a:ln/>
        </p:spPr>
        <p:txBody>
          <a:bodyPr wrap="none" lIns="0" tIns="0" rIns="0" bIns="0" rtlCol="0" anchor="ctr"/>
          <a:lstStyle/>
          <a:p>
            <a:pPr algn="ctr">
              <a:lnSpc>
                <a:spcPct val="120000"/>
              </a:lnSpc>
            </a:pPr>
            <a:r>
              <a:rPr lang="en-US" sz="1800" b="1" dirty="0">
                <a:solidFill>
                  <a:srgbClr val="1E1E1E"/>
                </a:solidFill>
                <a:latin typeface="Liter" pitchFamily="34" charset="0"/>
                <a:ea typeface="Liter" pitchFamily="34" charset="-122"/>
                <a:cs typeface="Liter" pitchFamily="34" charset="-120"/>
              </a:rPr>
              <a:t>React Frontend</a:t>
            </a:r>
            <a:endParaRPr lang="en-US" sz="1800" dirty="0"/>
          </a:p>
        </p:txBody>
      </p:sp>
      <p:sp>
        <p:nvSpPr>
          <p:cNvPr id="15" name="Text 12"/>
          <p:cNvSpPr/>
          <p:nvPr/>
        </p:nvSpPr>
        <p:spPr>
          <a:xfrm>
            <a:off x="1016000" y="2857500"/>
            <a:ext cx="3302000" cy="889000"/>
          </a:xfrm>
          <a:prstGeom prst="rect">
            <a:avLst/>
          </a:prstGeom>
          <a:noFill/>
          <a:ln/>
        </p:spPr>
        <p:txBody>
          <a:bodyPr wrap="square" lIns="0" tIns="0" rIns="0" bIns="0" rtlCol="0" anchor="t"/>
          <a:lstStyle/>
          <a:p>
            <a:pPr algn="ctr">
              <a:lnSpc>
                <a:spcPct val="140000"/>
              </a:lnSpc>
            </a:pPr>
            <a:r>
              <a:rPr lang="en-US" sz="1300" dirty="0">
                <a:solidFill>
                  <a:srgbClr val="5C5C5C"/>
                </a:solidFill>
                <a:latin typeface="Quattrocento Sans" pitchFamily="34" charset="0"/>
                <a:ea typeface="Quattrocento Sans" pitchFamily="34" charset="-122"/>
                <a:cs typeface="Quattrocento Sans" pitchFamily="34" charset="-120"/>
              </a:rPr>
              <a:t>SPA with 20+ components</a:t>
            </a:r>
            <a:endParaRPr lang="en-US" sz="1300" dirty="0"/>
          </a:p>
          <a:p>
            <a:pPr algn="ctr">
              <a:lnSpc>
                <a:spcPct val="140000"/>
              </a:lnSpc>
            </a:pPr>
            <a:r>
              <a:rPr lang="en-US" sz="1300" dirty="0">
                <a:solidFill>
                  <a:srgbClr val="5C5C5C"/>
                </a:solidFill>
                <a:latin typeface="Quattrocento Sans" pitchFamily="34" charset="0"/>
                <a:ea typeface="Quattrocento Sans" pitchFamily="34" charset="-122"/>
                <a:cs typeface="Quattrocento Sans" pitchFamily="34" charset="-120"/>
              </a:rPr>
              <a:t>localStorage for user data</a:t>
            </a:r>
            <a:endParaRPr lang="en-US" sz="1300" dirty="0"/>
          </a:p>
        </p:txBody>
      </p:sp>
      <p:sp>
        <p:nvSpPr>
          <p:cNvPr id="16" name="Shape 13"/>
          <p:cNvSpPr/>
          <p:nvPr/>
        </p:nvSpPr>
        <p:spPr>
          <a:xfrm>
            <a:off x="4699000" y="2667000"/>
            <a:ext cx="1016000" cy="0"/>
          </a:xfrm>
          <a:prstGeom prst="straightConnector1">
            <a:avLst/>
          </a:prstGeom>
          <a:noFill/>
          <a:ln w="25400">
            <a:solidFill>
              <a:srgbClr val="D4652A"/>
            </a:solidFill>
            <a:prstDash val="solid"/>
            <a:headEnd type="none"/>
            <a:tailEnd type="arrow"/>
          </a:ln>
        </p:spPr>
        <p:txBody>
          <a:bodyPr/>
          <a:lstStyle/>
          <a:p>
            <a:endParaRPr lang="en-US"/>
          </a:p>
        </p:txBody>
      </p:sp>
      <p:sp>
        <p:nvSpPr>
          <p:cNvPr id="17" name="Text 14"/>
          <p:cNvSpPr/>
          <p:nvPr/>
        </p:nvSpPr>
        <p:spPr>
          <a:xfrm>
            <a:off x="4762500" y="2349500"/>
            <a:ext cx="889000" cy="228600"/>
          </a:xfrm>
          <a:prstGeom prst="rect">
            <a:avLst/>
          </a:prstGeom>
          <a:noFill/>
          <a:ln/>
        </p:spPr>
        <p:txBody>
          <a:bodyPr wrap="none" lIns="0" tIns="0" rIns="0" bIns="0" rtlCol="0" anchor="ctr"/>
          <a:lstStyle/>
          <a:p>
            <a:pPr algn="ctr">
              <a:lnSpc>
                <a:spcPct val="120000"/>
              </a:lnSpc>
            </a:pPr>
            <a:r>
              <a:rPr lang="en-US" sz="1000" dirty="0">
                <a:solidFill>
                  <a:srgbClr val="D4652A"/>
                </a:solidFill>
                <a:latin typeface="Quattrocento Sans" pitchFamily="34" charset="0"/>
                <a:ea typeface="Quattrocento Sans" pitchFamily="34" charset="-122"/>
                <a:cs typeface="Quattrocento Sans" pitchFamily="34" charset="-120"/>
              </a:rPr>
              <a:t>HTTP</a:t>
            </a:r>
            <a:endParaRPr lang="en-US" sz="1000" dirty="0"/>
          </a:p>
        </p:txBody>
      </p:sp>
      <p:sp>
        <p:nvSpPr>
          <p:cNvPr id="18" name="Shape 15"/>
          <p:cNvSpPr/>
          <p:nvPr/>
        </p:nvSpPr>
        <p:spPr>
          <a:xfrm>
            <a:off x="5842000" y="1651000"/>
            <a:ext cx="3810000" cy="2286000"/>
          </a:xfrm>
          <a:prstGeom prst="roundRect">
            <a:avLst>
              <a:gd name="adj" fmla="val 8000"/>
            </a:avLst>
          </a:prstGeom>
          <a:solidFill>
            <a:srgbClr val="F0EBE6"/>
          </a:solidFill>
          <a:ln w="12700">
            <a:solidFill>
              <a:srgbClr val="D4652A"/>
            </a:solidFill>
            <a:prstDash val="solid"/>
          </a:ln>
        </p:spPr>
        <p:txBody>
          <a:bodyPr/>
          <a:lstStyle/>
          <a:p>
            <a:endParaRPr lang="en-US"/>
          </a:p>
        </p:txBody>
      </p:sp>
      <p:sp>
        <p:nvSpPr>
          <p:cNvPr id="19" name="Shape 16"/>
          <p:cNvSpPr/>
          <p:nvPr/>
        </p:nvSpPr>
        <p:spPr>
          <a:xfrm>
            <a:off x="7239000" y="1841500"/>
            <a:ext cx="508000" cy="508000"/>
          </a:xfrm>
          <a:custGeom>
            <a:avLst/>
            <a:gdLst/>
            <a:ahLst/>
            <a:cxnLst/>
            <a:rect l="l" t="t" r="r" b="b"/>
            <a:pathLst>
              <a:path w="508000" h="508000">
                <a:moveTo>
                  <a:pt x="72571" y="31750"/>
                </a:moveTo>
                <a:cubicBezTo>
                  <a:pt x="32544" y="31750"/>
                  <a:pt x="0" y="60226"/>
                  <a:pt x="0" y="95250"/>
                </a:cubicBezTo>
                <a:lnTo>
                  <a:pt x="0" y="158750"/>
                </a:lnTo>
                <a:cubicBezTo>
                  <a:pt x="0" y="193774"/>
                  <a:pt x="32544" y="222250"/>
                  <a:pt x="72571" y="222250"/>
                </a:cubicBezTo>
                <a:lnTo>
                  <a:pt x="435429" y="222250"/>
                </a:lnTo>
                <a:cubicBezTo>
                  <a:pt x="475456" y="222250"/>
                  <a:pt x="508000" y="193774"/>
                  <a:pt x="508000" y="158750"/>
                </a:cubicBezTo>
                <a:lnTo>
                  <a:pt x="508000" y="95250"/>
                </a:lnTo>
                <a:cubicBezTo>
                  <a:pt x="508000" y="60226"/>
                  <a:pt x="475456" y="31750"/>
                  <a:pt x="435429" y="31750"/>
                </a:cubicBezTo>
                <a:lnTo>
                  <a:pt x="72571" y="31750"/>
                </a:lnTo>
                <a:close/>
                <a:moveTo>
                  <a:pt x="317500" y="103188"/>
                </a:moveTo>
                <a:cubicBezTo>
                  <a:pt x="332520" y="103188"/>
                  <a:pt x="344714" y="113858"/>
                  <a:pt x="344714" y="127000"/>
                </a:cubicBezTo>
                <a:cubicBezTo>
                  <a:pt x="344714" y="140142"/>
                  <a:pt x="332520" y="150813"/>
                  <a:pt x="317500" y="150813"/>
                </a:cubicBezTo>
                <a:cubicBezTo>
                  <a:pt x="302480" y="150813"/>
                  <a:pt x="290286" y="140142"/>
                  <a:pt x="290286" y="127000"/>
                </a:cubicBezTo>
                <a:cubicBezTo>
                  <a:pt x="290286" y="113858"/>
                  <a:pt x="302480" y="103188"/>
                  <a:pt x="317500" y="103188"/>
                </a:cubicBezTo>
                <a:close/>
                <a:moveTo>
                  <a:pt x="381000" y="127000"/>
                </a:moveTo>
                <a:cubicBezTo>
                  <a:pt x="381000" y="113858"/>
                  <a:pt x="393194" y="103188"/>
                  <a:pt x="408214" y="103188"/>
                </a:cubicBezTo>
                <a:cubicBezTo>
                  <a:pt x="423234" y="103188"/>
                  <a:pt x="435429" y="113858"/>
                  <a:pt x="435429" y="127000"/>
                </a:cubicBezTo>
                <a:cubicBezTo>
                  <a:pt x="435429" y="140142"/>
                  <a:pt x="423234" y="150813"/>
                  <a:pt x="408214" y="150813"/>
                </a:cubicBezTo>
                <a:cubicBezTo>
                  <a:pt x="393194" y="150813"/>
                  <a:pt x="381000" y="140142"/>
                  <a:pt x="381000" y="127000"/>
                </a:cubicBezTo>
                <a:close/>
                <a:moveTo>
                  <a:pt x="72571" y="285750"/>
                </a:moveTo>
                <a:cubicBezTo>
                  <a:pt x="32544" y="285750"/>
                  <a:pt x="0" y="314226"/>
                  <a:pt x="0" y="349250"/>
                </a:cubicBezTo>
                <a:lnTo>
                  <a:pt x="0" y="412750"/>
                </a:lnTo>
                <a:cubicBezTo>
                  <a:pt x="0" y="447774"/>
                  <a:pt x="32544" y="476250"/>
                  <a:pt x="72571" y="476250"/>
                </a:cubicBezTo>
                <a:lnTo>
                  <a:pt x="435429" y="476250"/>
                </a:lnTo>
                <a:cubicBezTo>
                  <a:pt x="475456" y="476250"/>
                  <a:pt x="508000" y="447774"/>
                  <a:pt x="508000" y="412750"/>
                </a:cubicBezTo>
                <a:lnTo>
                  <a:pt x="508000" y="349250"/>
                </a:lnTo>
                <a:cubicBezTo>
                  <a:pt x="508000" y="314226"/>
                  <a:pt x="475456" y="285750"/>
                  <a:pt x="435429" y="285750"/>
                </a:cubicBezTo>
                <a:lnTo>
                  <a:pt x="72571" y="285750"/>
                </a:lnTo>
                <a:close/>
                <a:moveTo>
                  <a:pt x="317500" y="357188"/>
                </a:moveTo>
                <a:cubicBezTo>
                  <a:pt x="332520" y="357188"/>
                  <a:pt x="344714" y="367858"/>
                  <a:pt x="344714" y="381000"/>
                </a:cubicBezTo>
                <a:cubicBezTo>
                  <a:pt x="344714" y="394142"/>
                  <a:pt x="332520" y="404813"/>
                  <a:pt x="317500" y="404813"/>
                </a:cubicBezTo>
                <a:cubicBezTo>
                  <a:pt x="302480" y="404813"/>
                  <a:pt x="290286" y="394142"/>
                  <a:pt x="290286" y="381000"/>
                </a:cubicBezTo>
                <a:cubicBezTo>
                  <a:pt x="290286" y="367858"/>
                  <a:pt x="302480" y="357188"/>
                  <a:pt x="317500" y="357188"/>
                </a:cubicBezTo>
                <a:close/>
                <a:moveTo>
                  <a:pt x="381000" y="381000"/>
                </a:moveTo>
                <a:cubicBezTo>
                  <a:pt x="381000" y="367858"/>
                  <a:pt x="393194" y="357188"/>
                  <a:pt x="408214" y="357188"/>
                </a:cubicBezTo>
                <a:cubicBezTo>
                  <a:pt x="423234" y="357188"/>
                  <a:pt x="435429" y="367858"/>
                  <a:pt x="435429" y="381000"/>
                </a:cubicBezTo>
                <a:cubicBezTo>
                  <a:pt x="435429" y="394142"/>
                  <a:pt x="423234" y="404813"/>
                  <a:pt x="408214" y="404813"/>
                </a:cubicBezTo>
                <a:cubicBezTo>
                  <a:pt x="393194" y="404813"/>
                  <a:pt x="381000" y="394142"/>
                  <a:pt x="381000" y="381000"/>
                </a:cubicBezTo>
                <a:close/>
              </a:path>
            </a:pathLst>
          </a:custGeom>
          <a:solidFill>
            <a:srgbClr val="D4652A"/>
          </a:solidFill>
          <a:ln/>
        </p:spPr>
        <p:txBody>
          <a:bodyPr/>
          <a:lstStyle/>
          <a:p>
            <a:endParaRPr lang="en-US"/>
          </a:p>
        </p:txBody>
      </p:sp>
      <p:sp>
        <p:nvSpPr>
          <p:cNvPr id="20" name="Text 17"/>
          <p:cNvSpPr/>
          <p:nvPr/>
        </p:nvSpPr>
        <p:spPr>
          <a:xfrm>
            <a:off x="6096000" y="2476500"/>
            <a:ext cx="3302000" cy="355600"/>
          </a:xfrm>
          <a:prstGeom prst="rect">
            <a:avLst/>
          </a:prstGeom>
          <a:noFill/>
          <a:ln/>
        </p:spPr>
        <p:txBody>
          <a:bodyPr wrap="none" lIns="0" tIns="0" rIns="0" bIns="0" rtlCol="0" anchor="ctr"/>
          <a:lstStyle/>
          <a:p>
            <a:pPr algn="ctr">
              <a:lnSpc>
                <a:spcPct val="120000"/>
              </a:lnSpc>
            </a:pPr>
            <a:r>
              <a:rPr lang="en-US" sz="1800" b="1" dirty="0">
                <a:solidFill>
                  <a:srgbClr val="1E1E1E"/>
                </a:solidFill>
                <a:latin typeface="Liter" pitchFamily="34" charset="0"/>
                <a:ea typeface="Liter" pitchFamily="34" charset="-122"/>
                <a:cs typeface="Liter" pitchFamily="34" charset="-120"/>
              </a:rPr>
              <a:t>Express.js Proxy</a:t>
            </a:r>
            <a:endParaRPr lang="en-US" sz="1800" dirty="0"/>
          </a:p>
        </p:txBody>
      </p:sp>
      <p:sp>
        <p:nvSpPr>
          <p:cNvPr id="21" name="Text 18"/>
          <p:cNvSpPr/>
          <p:nvPr/>
        </p:nvSpPr>
        <p:spPr>
          <a:xfrm>
            <a:off x="6096000" y="2857500"/>
            <a:ext cx="3302000" cy="889000"/>
          </a:xfrm>
          <a:prstGeom prst="rect">
            <a:avLst/>
          </a:prstGeom>
          <a:noFill/>
          <a:ln/>
        </p:spPr>
        <p:txBody>
          <a:bodyPr wrap="square" lIns="0" tIns="0" rIns="0" bIns="0" rtlCol="0" anchor="t"/>
          <a:lstStyle/>
          <a:p>
            <a:pPr algn="ctr">
              <a:lnSpc>
                <a:spcPct val="140000"/>
              </a:lnSpc>
            </a:pPr>
            <a:r>
              <a:rPr lang="en-US" sz="1300" dirty="0">
                <a:solidFill>
                  <a:srgbClr val="5C5C5C"/>
                </a:solidFill>
                <a:latin typeface="Quattrocento Sans" pitchFamily="34" charset="0"/>
                <a:ea typeface="Quattrocento Sans" pitchFamily="34" charset="-122"/>
                <a:cs typeface="Quattrocento Sans" pitchFamily="34" charset="-120"/>
              </a:rPr>
              <a:t>Node.js + Express server</a:t>
            </a:r>
            <a:endParaRPr lang="en-US" sz="1300" dirty="0"/>
          </a:p>
          <a:p>
            <a:pPr algn="ctr">
              <a:lnSpc>
                <a:spcPct val="140000"/>
              </a:lnSpc>
            </a:pPr>
            <a:r>
              <a:rPr lang="en-US" sz="1300" dirty="0">
                <a:solidFill>
                  <a:srgbClr val="5C5C5C"/>
                </a:solidFill>
                <a:latin typeface="Quattrocento Sans" pitchFamily="34" charset="0"/>
                <a:ea typeface="Quattrocento Sans" pitchFamily="34" charset="-122"/>
                <a:cs typeface="Quattrocento Sans" pitchFamily="34" charset="-120"/>
              </a:rPr>
              <a:t>4 REST proxy endpoints</a:t>
            </a:r>
            <a:endParaRPr lang="en-US" sz="1300" dirty="0"/>
          </a:p>
        </p:txBody>
      </p:sp>
      <p:sp>
        <p:nvSpPr>
          <p:cNvPr id="22" name="Shape 19"/>
          <p:cNvSpPr/>
          <p:nvPr/>
        </p:nvSpPr>
        <p:spPr>
          <a:xfrm>
            <a:off x="9779000" y="2667000"/>
            <a:ext cx="1016000" cy="0"/>
          </a:xfrm>
          <a:prstGeom prst="straightConnector1">
            <a:avLst/>
          </a:prstGeom>
          <a:noFill/>
          <a:ln w="25400">
            <a:solidFill>
              <a:srgbClr val="D4652A"/>
            </a:solidFill>
            <a:prstDash val="solid"/>
            <a:headEnd type="none"/>
            <a:tailEnd type="arrow"/>
          </a:ln>
        </p:spPr>
        <p:txBody>
          <a:bodyPr/>
          <a:lstStyle/>
          <a:p>
            <a:endParaRPr lang="en-US"/>
          </a:p>
        </p:txBody>
      </p:sp>
      <p:sp>
        <p:nvSpPr>
          <p:cNvPr id="23" name="Text 20"/>
          <p:cNvSpPr/>
          <p:nvPr/>
        </p:nvSpPr>
        <p:spPr>
          <a:xfrm>
            <a:off x="9842500" y="2349500"/>
            <a:ext cx="889000" cy="228600"/>
          </a:xfrm>
          <a:prstGeom prst="rect">
            <a:avLst/>
          </a:prstGeom>
          <a:noFill/>
          <a:ln/>
        </p:spPr>
        <p:txBody>
          <a:bodyPr wrap="none" lIns="0" tIns="0" rIns="0" bIns="0" rtlCol="0" anchor="ctr"/>
          <a:lstStyle/>
          <a:p>
            <a:pPr algn="ctr">
              <a:lnSpc>
                <a:spcPct val="120000"/>
              </a:lnSpc>
            </a:pPr>
            <a:r>
              <a:rPr lang="en-US" sz="1000" dirty="0">
                <a:solidFill>
                  <a:srgbClr val="D4652A"/>
                </a:solidFill>
                <a:latin typeface="Quattrocento Sans" pitchFamily="34" charset="0"/>
                <a:ea typeface="Quattrocento Sans" pitchFamily="34" charset="-122"/>
                <a:cs typeface="Quattrocento Sans" pitchFamily="34" charset="-120"/>
              </a:rPr>
              <a:t>API Key</a:t>
            </a:r>
            <a:endParaRPr lang="en-US" sz="1000" dirty="0"/>
          </a:p>
        </p:txBody>
      </p:sp>
      <p:sp>
        <p:nvSpPr>
          <p:cNvPr id="24" name="Shape 21"/>
          <p:cNvSpPr/>
          <p:nvPr/>
        </p:nvSpPr>
        <p:spPr>
          <a:xfrm>
            <a:off x="10922000" y="1651000"/>
            <a:ext cx="3810000" cy="2286000"/>
          </a:xfrm>
          <a:prstGeom prst="roundRect">
            <a:avLst>
              <a:gd name="adj" fmla="val 8000"/>
            </a:avLst>
          </a:prstGeom>
          <a:solidFill>
            <a:srgbClr val="2D2D2D"/>
          </a:solidFill>
          <a:ln w="12700">
            <a:solidFill>
              <a:srgbClr val="D4652A"/>
            </a:solidFill>
            <a:prstDash val="solid"/>
          </a:ln>
        </p:spPr>
        <p:txBody>
          <a:bodyPr/>
          <a:lstStyle/>
          <a:p>
            <a:endParaRPr lang="en-US"/>
          </a:p>
        </p:txBody>
      </p:sp>
      <p:sp>
        <p:nvSpPr>
          <p:cNvPr id="25" name="Shape 22"/>
          <p:cNvSpPr/>
          <p:nvPr/>
        </p:nvSpPr>
        <p:spPr>
          <a:xfrm>
            <a:off x="12319000" y="1841500"/>
            <a:ext cx="508000" cy="508000"/>
          </a:xfrm>
          <a:custGeom>
            <a:avLst/>
            <a:gdLst/>
            <a:ahLst/>
            <a:cxnLst/>
            <a:rect l="l" t="t" r="r" b="b"/>
            <a:pathLst>
              <a:path w="508000" h="508000">
                <a:moveTo>
                  <a:pt x="56753" y="238423"/>
                </a:moveTo>
                <a:lnTo>
                  <a:pt x="188516" y="286643"/>
                </a:lnTo>
                <a:cubicBezTo>
                  <a:pt x="213916" y="295970"/>
                  <a:pt x="209947" y="323850"/>
                  <a:pt x="182563" y="329009"/>
                </a:cubicBezTo>
                <a:lnTo>
                  <a:pt x="40349" y="355699"/>
                </a:lnTo>
                <a:cubicBezTo>
                  <a:pt x="36116" y="356493"/>
                  <a:pt x="31882" y="356592"/>
                  <a:pt x="27649" y="355997"/>
                </a:cubicBezTo>
                <a:cubicBezTo>
                  <a:pt x="23416" y="355402"/>
                  <a:pt x="19447" y="354211"/>
                  <a:pt x="15875" y="352326"/>
                </a:cubicBezTo>
                <a:cubicBezTo>
                  <a:pt x="12303" y="350441"/>
                  <a:pt x="9393" y="348059"/>
                  <a:pt x="7144" y="345281"/>
                </a:cubicBezTo>
                <a:cubicBezTo>
                  <a:pt x="4895" y="342503"/>
                  <a:pt x="3572" y="339427"/>
                  <a:pt x="3043" y="336153"/>
                </a:cubicBezTo>
                <a:cubicBezTo>
                  <a:pt x="-1323" y="307578"/>
                  <a:pt x="2778" y="278705"/>
                  <a:pt x="14949" y="251520"/>
                </a:cubicBezTo>
                <a:cubicBezTo>
                  <a:pt x="16272" y="248444"/>
                  <a:pt x="18521" y="245666"/>
                  <a:pt x="21431" y="243284"/>
                </a:cubicBezTo>
                <a:cubicBezTo>
                  <a:pt x="24342" y="240903"/>
                  <a:pt x="27914" y="239117"/>
                  <a:pt x="31882" y="237827"/>
                </a:cubicBezTo>
                <a:cubicBezTo>
                  <a:pt x="35851" y="236537"/>
                  <a:pt x="40084" y="236041"/>
                  <a:pt x="44450" y="236041"/>
                </a:cubicBezTo>
                <a:cubicBezTo>
                  <a:pt x="48816" y="236041"/>
                  <a:pt x="52917" y="236934"/>
                  <a:pt x="56753" y="238323"/>
                </a:cubicBezTo>
                <a:close/>
                <a:moveTo>
                  <a:pt x="114961" y="475853"/>
                </a:moveTo>
                <a:cubicBezTo>
                  <a:pt x="146447" y="492026"/>
                  <a:pt x="182298" y="502940"/>
                  <a:pt x="220001" y="507702"/>
                </a:cubicBezTo>
                <a:cubicBezTo>
                  <a:pt x="224234" y="508298"/>
                  <a:pt x="228600" y="508099"/>
                  <a:pt x="232701" y="507305"/>
                </a:cubicBezTo>
                <a:cubicBezTo>
                  <a:pt x="236802" y="506512"/>
                  <a:pt x="240771" y="505023"/>
                  <a:pt x="244078" y="502940"/>
                </a:cubicBezTo>
                <a:cubicBezTo>
                  <a:pt x="247385" y="500856"/>
                  <a:pt x="250164" y="498376"/>
                  <a:pt x="252016" y="495498"/>
                </a:cubicBezTo>
                <a:cubicBezTo>
                  <a:pt x="253868" y="492621"/>
                  <a:pt x="255058" y="489446"/>
                  <a:pt x="255191" y="486172"/>
                </a:cubicBezTo>
                <a:lnTo>
                  <a:pt x="260350" y="376238"/>
                </a:lnTo>
                <a:cubicBezTo>
                  <a:pt x="261276" y="355104"/>
                  <a:pt x="226616" y="344587"/>
                  <a:pt x="207698" y="360263"/>
                </a:cubicBezTo>
                <a:lnTo>
                  <a:pt x="109537" y="442020"/>
                </a:lnTo>
                <a:cubicBezTo>
                  <a:pt x="106627" y="444401"/>
                  <a:pt x="104510" y="447278"/>
                  <a:pt x="103188" y="450354"/>
                </a:cubicBezTo>
                <a:cubicBezTo>
                  <a:pt x="101865" y="453430"/>
                  <a:pt x="101468" y="456704"/>
                  <a:pt x="101997" y="459879"/>
                </a:cubicBezTo>
                <a:cubicBezTo>
                  <a:pt x="102526" y="463054"/>
                  <a:pt x="103981" y="466130"/>
                  <a:pt x="106098" y="468908"/>
                </a:cubicBezTo>
                <a:cubicBezTo>
                  <a:pt x="108215" y="471686"/>
                  <a:pt x="111257" y="474067"/>
                  <a:pt x="114829" y="475853"/>
                </a:cubicBezTo>
                <a:lnTo>
                  <a:pt x="114829" y="475853"/>
                </a:lnTo>
                <a:close/>
                <a:moveTo>
                  <a:pt x="307181" y="366812"/>
                </a:moveTo>
                <a:lnTo>
                  <a:pt x="384969" y="460077"/>
                </a:lnTo>
                <a:cubicBezTo>
                  <a:pt x="387218" y="462855"/>
                  <a:pt x="390260" y="465138"/>
                  <a:pt x="393965" y="466923"/>
                </a:cubicBezTo>
                <a:cubicBezTo>
                  <a:pt x="397669" y="468709"/>
                  <a:pt x="401638" y="469900"/>
                  <a:pt x="405871" y="470396"/>
                </a:cubicBezTo>
                <a:cubicBezTo>
                  <a:pt x="410104" y="470892"/>
                  <a:pt x="414470" y="470694"/>
                  <a:pt x="418703" y="469900"/>
                </a:cubicBezTo>
                <a:cubicBezTo>
                  <a:pt x="422936" y="469106"/>
                  <a:pt x="426773" y="467519"/>
                  <a:pt x="430080" y="465534"/>
                </a:cubicBezTo>
                <a:cubicBezTo>
                  <a:pt x="459581" y="447278"/>
                  <a:pt x="483394" y="424359"/>
                  <a:pt x="499798" y="398463"/>
                </a:cubicBezTo>
                <a:cubicBezTo>
                  <a:pt x="501650" y="395585"/>
                  <a:pt x="502576" y="392410"/>
                  <a:pt x="502708" y="389136"/>
                </a:cubicBezTo>
                <a:cubicBezTo>
                  <a:pt x="502841" y="385862"/>
                  <a:pt x="501915" y="382687"/>
                  <a:pt x="500195" y="379809"/>
                </a:cubicBezTo>
                <a:cubicBezTo>
                  <a:pt x="498475" y="376932"/>
                  <a:pt x="495961" y="374154"/>
                  <a:pt x="492786" y="372070"/>
                </a:cubicBezTo>
                <a:cubicBezTo>
                  <a:pt x="489611" y="369987"/>
                  <a:pt x="485907" y="368201"/>
                  <a:pt x="481806" y="367209"/>
                </a:cubicBezTo>
                <a:lnTo>
                  <a:pt x="342239" y="333077"/>
                </a:lnTo>
                <a:cubicBezTo>
                  <a:pt x="315383" y="326628"/>
                  <a:pt x="292232" y="348754"/>
                  <a:pt x="307181" y="366712"/>
                </a:cubicBezTo>
                <a:close/>
                <a:moveTo>
                  <a:pt x="503502" y="235545"/>
                </a:moveTo>
                <a:cubicBezTo>
                  <a:pt x="488289" y="209252"/>
                  <a:pt x="465534" y="185737"/>
                  <a:pt x="436827" y="166787"/>
                </a:cubicBezTo>
                <a:cubicBezTo>
                  <a:pt x="433652" y="164703"/>
                  <a:pt x="429816" y="163116"/>
                  <a:pt x="425715" y="162123"/>
                </a:cubicBezTo>
                <a:cubicBezTo>
                  <a:pt x="421614" y="161131"/>
                  <a:pt x="417248" y="160933"/>
                  <a:pt x="413015" y="161330"/>
                </a:cubicBezTo>
                <a:cubicBezTo>
                  <a:pt x="408781" y="161727"/>
                  <a:pt x="404680" y="162818"/>
                  <a:pt x="400976" y="164505"/>
                </a:cubicBezTo>
                <a:cubicBezTo>
                  <a:pt x="397272" y="166191"/>
                  <a:pt x="394229" y="168473"/>
                  <a:pt x="391848" y="171152"/>
                </a:cubicBezTo>
                <a:lnTo>
                  <a:pt x="309827" y="262334"/>
                </a:lnTo>
                <a:cubicBezTo>
                  <a:pt x="294084" y="279896"/>
                  <a:pt x="316045" y="302617"/>
                  <a:pt x="343165" y="296763"/>
                </a:cubicBezTo>
                <a:lnTo>
                  <a:pt x="484187" y="266502"/>
                </a:lnTo>
                <a:cubicBezTo>
                  <a:pt x="488289" y="265609"/>
                  <a:pt x="492125" y="264021"/>
                  <a:pt x="495432" y="261937"/>
                </a:cubicBezTo>
                <a:cubicBezTo>
                  <a:pt x="498740" y="259854"/>
                  <a:pt x="501385" y="257274"/>
                  <a:pt x="503105" y="254298"/>
                </a:cubicBezTo>
                <a:cubicBezTo>
                  <a:pt x="504825" y="251321"/>
                  <a:pt x="505883" y="248146"/>
                  <a:pt x="506016" y="244971"/>
                </a:cubicBezTo>
                <a:cubicBezTo>
                  <a:pt x="506148" y="241796"/>
                  <a:pt x="505222" y="238522"/>
                  <a:pt x="503502" y="235545"/>
                </a:cubicBezTo>
                <a:lnTo>
                  <a:pt x="503502" y="235545"/>
                </a:lnTo>
                <a:close/>
                <a:moveTo>
                  <a:pt x="82153" y="29964"/>
                </a:moveTo>
                <a:cubicBezTo>
                  <a:pt x="78449" y="31353"/>
                  <a:pt x="75009" y="33238"/>
                  <a:pt x="72364" y="35620"/>
                </a:cubicBezTo>
                <a:cubicBezTo>
                  <a:pt x="69718" y="38001"/>
                  <a:pt x="67601" y="40779"/>
                  <a:pt x="66410" y="43755"/>
                </a:cubicBezTo>
                <a:cubicBezTo>
                  <a:pt x="65220" y="46732"/>
                  <a:pt x="64823" y="49907"/>
                  <a:pt x="65220" y="52983"/>
                </a:cubicBezTo>
                <a:cubicBezTo>
                  <a:pt x="65617" y="56059"/>
                  <a:pt x="66940" y="59035"/>
                  <a:pt x="69056" y="61813"/>
                </a:cubicBezTo>
                <a:lnTo>
                  <a:pt x="206772" y="240705"/>
                </a:lnTo>
                <a:cubicBezTo>
                  <a:pt x="222250" y="260747"/>
                  <a:pt x="263128" y="252512"/>
                  <a:pt x="263128" y="229394"/>
                </a:cubicBezTo>
                <a:lnTo>
                  <a:pt x="263128" y="22721"/>
                </a:lnTo>
                <a:cubicBezTo>
                  <a:pt x="263128" y="19645"/>
                  <a:pt x="262334" y="16470"/>
                  <a:pt x="260747" y="13593"/>
                </a:cubicBezTo>
                <a:cubicBezTo>
                  <a:pt x="259159" y="10716"/>
                  <a:pt x="256646" y="8136"/>
                  <a:pt x="253603" y="6052"/>
                </a:cubicBezTo>
                <a:cubicBezTo>
                  <a:pt x="250560" y="3969"/>
                  <a:pt x="246989" y="2282"/>
                  <a:pt x="243020" y="1290"/>
                </a:cubicBezTo>
                <a:cubicBezTo>
                  <a:pt x="239051" y="298"/>
                  <a:pt x="234950" y="-99"/>
                  <a:pt x="230717" y="99"/>
                </a:cubicBezTo>
                <a:cubicBezTo>
                  <a:pt x="179123" y="3175"/>
                  <a:pt x="128852" y="13295"/>
                  <a:pt x="82153" y="29964"/>
                </a:cubicBezTo>
                <a:close/>
              </a:path>
            </a:pathLst>
          </a:custGeom>
          <a:solidFill>
            <a:srgbClr val="D4652A"/>
          </a:solidFill>
          <a:ln/>
        </p:spPr>
        <p:txBody>
          <a:bodyPr/>
          <a:lstStyle/>
          <a:p>
            <a:endParaRPr lang="en-US"/>
          </a:p>
        </p:txBody>
      </p:sp>
      <p:sp>
        <p:nvSpPr>
          <p:cNvPr id="26" name="Text 23"/>
          <p:cNvSpPr/>
          <p:nvPr/>
        </p:nvSpPr>
        <p:spPr>
          <a:xfrm>
            <a:off x="11176000" y="2476500"/>
            <a:ext cx="3302000" cy="355600"/>
          </a:xfrm>
          <a:prstGeom prst="rect">
            <a:avLst/>
          </a:prstGeom>
          <a:noFill/>
          <a:ln/>
        </p:spPr>
        <p:txBody>
          <a:bodyPr wrap="none" lIns="0" tIns="0" rIns="0" bIns="0" rtlCol="0" anchor="ctr"/>
          <a:lstStyle/>
          <a:p>
            <a:pPr algn="ctr">
              <a:lnSpc>
                <a:spcPct val="120000"/>
              </a:lnSpc>
            </a:pPr>
            <a:r>
              <a:rPr lang="en-US" sz="1800" b="1" dirty="0">
                <a:solidFill>
                  <a:srgbClr val="FFFFFF"/>
                </a:solidFill>
                <a:latin typeface="Liter" pitchFamily="34" charset="0"/>
                <a:ea typeface="Liter" pitchFamily="34" charset="-122"/>
                <a:cs typeface="Liter" pitchFamily="34" charset="-120"/>
              </a:rPr>
              <a:t>Yelp Fusion API</a:t>
            </a:r>
            <a:endParaRPr lang="en-US" sz="1800" dirty="0"/>
          </a:p>
        </p:txBody>
      </p:sp>
      <p:sp>
        <p:nvSpPr>
          <p:cNvPr id="27" name="Text 24"/>
          <p:cNvSpPr/>
          <p:nvPr/>
        </p:nvSpPr>
        <p:spPr>
          <a:xfrm>
            <a:off x="11176000" y="2857500"/>
            <a:ext cx="3302000" cy="889000"/>
          </a:xfrm>
          <a:prstGeom prst="rect">
            <a:avLst/>
          </a:prstGeom>
          <a:noFill/>
          <a:ln/>
        </p:spPr>
        <p:txBody>
          <a:bodyPr wrap="square" lIns="0" tIns="0" rIns="0" bIns="0" rtlCol="0" anchor="t"/>
          <a:lstStyle/>
          <a:p>
            <a:pPr algn="ctr">
              <a:lnSpc>
                <a:spcPct val="140000"/>
              </a:lnSpc>
            </a:pPr>
            <a:r>
              <a:rPr lang="en-US" sz="1300" dirty="0">
                <a:solidFill>
                  <a:srgbClr val="AAAAAA"/>
                </a:solidFill>
                <a:latin typeface="Quattrocento Sans" pitchFamily="34" charset="0"/>
                <a:ea typeface="Quattrocento Sans" pitchFamily="34" charset="-122"/>
                <a:cs typeface="Quattrocento Sans" pitchFamily="34" charset="-120"/>
              </a:rPr>
              <a:t>Business search, details</a:t>
            </a:r>
            <a:endParaRPr lang="en-US" sz="1300" dirty="0"/>
          </a:p>
          <a:p>
            <a:pPr algn="ctr">
              <a:lnSpc>
                <a:spcPct val="140000"/>
              </a:lnSpc>
            </a:pPr>
            <a:r>
              <a:rPr lang="en-US" sz="1300" dirty="0">
                <a:solidFill>
                  <a:srgbClr val="AAAAAA"/>
                </a:solidFill>
                <a:latin typeface="Quattrocento Sans" pitchFamily="34" charset="0"/>
                <a:ea typeface="Quattrocento Sans" pitchFamily="34" charset="-122"/>
                <a:cs typeface="Quattrocento Sans" pitchFamily="34" charset="-120"/>
              </a:rPr>
              <a:t>Reviews, menus</a:t>
            </a:r>
            <a:endParaRPr lang="en-US" sz="1300" dirty="0"/>
          </a:p>
        </p:txBody>
      </p:sp>
      <p:sp>
        <p:nvSpPr>
          <p:cNvPr id="28" name="Text 25"/>
          <p:cNvSpPr/>
          <p:nvPr/>
        </p:nvSpPr>
        <p:spPr>
          <a:xfrm>
            <a:off x="762000" y="4318000"/>
            <a:ext cx="3810000" cy="355600"/>
          </a:xfrm>
          <a:prstGeom prst="rect">
            <a:avLst/>
          </a:prstGeom>
          <a:noFill/>
          <a:ln/>
        </p:spPr>
        <p:txBody>
          <a:bodyPr wrap="none" lIns="0" tIns="0" rIns="0" bIns="0" rtlCol="0" anchor="ctr"/>
          <a:lstStyle/>
          <a:p>
            <a:pPr algn="l">
              <a:lnSpc>
                <a:spcPct val="120000"/>
              </a:lnSpc>
            </a:pPr>
            <a:r>
              <a:rPr lang="en-US" sz="1600" b="1" dirty="0">
                <a:solidFill>
                  <a:srgbClr val="D4652A"/>
                </a:solidFill>
                <a:latin typeface="Liter" pitchFamily="34" charset="0"/>
                <a:ea typeface="Liter" pitchFamily="34" charset="-122"/>
                <a:cs typeface="Liter" pitchFamily="34" charset="-120"/>
              </a:rPr>
              <a:t>BACKEND CAPABILITIES</a:t>
            </a:r>
            <a:endParaRPr lang="en-US" sz="1600" dirty="0"/>
          </a:p>
        </p:txBody>
      </p:sp>
      <p:sp>
        <p:nvSpPr>
          <p:cNvPr id="29" name="Shape 26"/>
          <p:cNvSpPr/>
          <p:nvPr/>
        </p:nvSpPr>
        <p:spPr>
          <a:xfrm>
            <a:off x="762000" y="4724400"/>
            <a:ext cx="14732000" cy="12700"/>
          </a:xfrm>
          <a:prstGeom prst="rect">
            <a:avLst/>
          </a:prstGeom>
          <a:solidFill>
            <a:srgbClr val="E0D8D0"/>
          </a:solidFill>
          <a:ln/>
        </p:spPr>
        <p:txBody>
          <a:bodyPr/>
          <a:lstStyle/>
          <a:p>
            <a:endParaRPr lang="en-US"/>
          </a:p>
        </p:txBody>
      </p:sp>
      <p:sp>
        <p:nvSpPr>
          <p:cNvPr id="30" name="Shape 27"/>
          <p:cNvSpPr/>
          <p:nvPr/>
        </p:nvSpPr>
        <p:spPr>
          <a:xfrm>
            <a:off x="762000" y="4953000"/>
            <a:ext cx="3429000" cy="1651000"/>
          </a:xfrm>
          <a:prstGeom prst="roundRect">
            <a:avLst>
              <a:gd name="adj" fmla="val 8000"/>
            </a:avLst>
          </a:prstGeom>
          <a:solidFill>
            <a:srgbClr val="F0EBE6"/>
          </a:solidFill>
          <a:ln/>
        </p:spPr>
        <p:txBody>
          <a:bodyPr/>
          <a:lstStyle/>
          <a:p>
            <a:endParaRPr lang="en-US"/>
          </a:p>
        </p:txBody>
      </p:sp>
      <p:sp>
        <p:nvSpPr>
          <p:cNvPr id="31" name="Shape 28"/>
          <p:cNvSpPr/>
          <p:nvPr/>
        </p:nvSpPr>
        <p:spPr>
          <a:xfrm>
            <a:off x="1016000" y="5143500"/>
            <a:ext cx="355600" cy="355600"/>
          </a:xfrm>
          <a:custGeom>
            <a:avLst/>
            <a:gdLst/>
            <a:ahLst/>
            <a:cxnLst/>
            <a:rect l="l" t="t" r="r" b="b"/>
            <a:pathLst>
              <a:path w="355600" h="355600">
                <a:moveTo>
                  <a:pt x="177800" y="0"/>
                </a:moveTo>
                <a:cubicBezTo>
                  <a:pt x="180995" y="0"/>
                  <a:pt x="184190" y="695"/>
                  <a:pt x="187107" y="2014"/>
                </a:cubicBezTo>
                <a:lnTo>
                  <a:pt x="317956" y="57507"/>
                </a:lnTo>
                <a:cubicBezTo>
                  <a:pt x="333236" y="63966"/>
                  <a:pt x="344626" y="79038"/>
                  <a:pt x="344557" y="97234"/>
                </a:cubicBezTo>
                <a:cubicBezTo>
                  <a:pt x="344210" y="166132"/>
                  <a:pt x="315873" y="292189"/>
                  <a:pt x="196205" y="349488"/>
                </a:cubicBezTo>
                <a:cubicBezTo>
                  <a:pt x="184606" y="355044"/>
                  <a:pt x="171133" y="355044"/>
                  <a:pt x="159534" y="349488"/>
                </a:cubicBezTo>
                <a:cubicBezTo>
                  <a:pt x="39797" y="292189"/>
                  <a:pt x="11529" y="166132"/>
                  <a:pt x="11182" y="97234"/>
                </a:cubicBezTo>
                <a:cubicBezTo>
                  <a:pt x="11112" y="79038"/>
                  <a:pt x="22503" y="63966"/>
                  <a:pt x="37782" y="57507"/>
                </a:cubicBezTo>
                <a:lnTo>
                  <a:pt x="168563" y="2014"/>
                </a:lnTo>
                <a:cubicBezTo>
                  <a:pt x="171480" y="695"/>
                  <a:pt x="174605" y="0"/>
                  <a:pt x="177800" y="0"/>
                </a:cubicBezTo>
                <a:close/>
                <a:moveTo>
                  <a:pt x="177800" y="46395"/>
                </a:moveTo>
                <a:lnTo>
                  <a:pt x="177800" y="308997"/>
                </a:lnTo>
                <a:cubicBezTo>
                  <a:pt x="273645" y="262602"/>
                  <a:pt x="299412" y="159812"/>
                  <a:pt x="300038" y="98276"/>
                </a:cubicBezTo>
                <a:lnTo>
                  <a:pt x="177800" y="46464"/>
                </a:lnTo>
                <a:lnTo>
                  <a:pt x="177800" y="46464"/>
                </a:lnTo>
                <a:close/>
              </a:path>
            </a:pathLst>
          </a:custGeom>
          <a:solidFill>
            <a:srgbClr val="D4652A"/>
          </a:solidFill>
          <a:ln/>
        </p:spPr>
        <p:txBody>
          <a:bodyPr/>
          <a:lstStyle/>
          <a:p>
            <a:endParaRPr lang="en-US"/>
          </a:p>
        </p:txBody>
      </p:sp>
      <p:sp>
        <p:nvSpPr>
          <p:cNvPr id="32" name="Text 29"/>
          <p:cNvSpPr/>
          <p:nvPr/>
        </p:nvSpPr>
        <p:spPr>
          <a:xfrm>
            <a:off x="1473200" y="5143500"/>
            <a:ext cx="2540000" cy="355600"/>
          </a:xfrm>
          <a:prstGeom prst="rect">
            <a:avLst/>
          </a:prstGeom>
          <a:noFill/>
          <a:ln/>
        </p:spPr>
        <p:txBody>
          <a:bodyPr wrap="none" lIns="0" tIns="0" rIns="0" bIns="0" rtlCol="0" anchor="ctr"/>
          <a:lstStyle/>
          <a:p>
            <a:pPr algn="l">
              <a:lnSpc>
                <a:spcPct val="120000"/>
              </a:lnSpc>
            </a:pPr>
            <a:r>
              <a:rPr lang="en-US" sz="1600" b="1" dirty="0">
                <a:solidFill>
                  <a:srgbClr val="1E1E1E"/>
                </a:solidFill>
                <a:latin typeface="Liter" pitchFamily="34" charset="0"/>
                <a:ea typeface="Liter" pitchFamily="34" charset="-122"/>
                <a:cs typeface="Liter" pitchFamily="34" charset="-120"/>
              </a:rPr>
              <a:t>Secure Proxy</a:t>
            </a:r>
            <a:endParaRPr lang="en-US" sz="1600" dirty="0"/>
          </a:p>
        </p:txBody>
      </p:sp>
      <p:sp>
        <p:nvSpPr>
          <p:cNvPr id="33" name="Text 30"/>
          <p:cNvSpPr/>
          <p:nvPr/>
        </p:nvSpPr>
        <p:spPr>
          <a:xfrm>
            <a:off x="1016000" y="5588000"/>
            <a:ext cx="2921000" cy="825500"/>
          </a:xfrm>
          <a:prstGeom prst="rect">
            <a:avLst/>
          </a:prstGeom>
          <a:noFill/>
          <a:ln/>
        </p:spPr>
        <p:txBody>
          <a:bodyPr wrap="square" lIns="0" tIns="0" rIns="0" bIns="0" rtlCol="0" anchor="t"/>
          <a:lstStyle/>
          <a:p>
            <a:pPr algn="l">
              <a:lnSpc>
                <a:spcPct val="150000"/>
              </a:lnSpc>
            </a:pPr>
            <a:r>
              <a:rPr lang="en-US" sz="1300" dirty="0">
                <a:solidFill>
                  <a:srgbClr val="5C5C5C"/>
                </a:solidFill>
                <a:latin typeface="Quattrocento Sans" pitchFamily="34" charset="0"/>
                <a:ea typeface="Quattrocento Sans" pitchFamily="34" charset="-122"/>
                <a:cs typeface="Quattrocento Sans" pitchFamily="34" charset="-120"/>
              </a:rPr>
              <a:t>API key never exposed to frontend; all Yelp requests go through backend</a:t>
            </a:r>
            <a:endParaRPr lang="en-US" sz="1300" dirty="0"/>
          </a:p>
        </p:txBody>
      </p:sp>
      <p:sp>
        <p:nvSpPr>
          <p:cNvPr id="34" name="Shape 31"/>
          <p:cNvSpPr/>
          <p:nvPr/>
        </p:nvSpPr>
        <p:spPr>
          <a:xfrm>
            <a:off x="4445000" y="4953000"/>
            <a:ext cx="3429000" cy="1651000"/>
          </a:xfrm>
          <a:prstGeom prst="roundRect">
            <a:avLst>
              <a:gd name="adj" fmla="val 8000"/>
            </a:avLst>
          </a:prstGeom>
          <a:solidFill>
            <a:srgbClr val="F0EBE6"/>
          </a:solidFill>
          <a:ln/>
        </p:spPr>
        <p:txBody>
          <a:bodyPr/>
          <a:lstStyle/>
          <a:p>
            <a:endParaRPr lang="en-US"/>
          </a:p>
        </p:txBody>
      </p:sp>
      <p:sp>
        <p:nvSpPr>
          <p:cNvPr id="35" name="Shape 32"/>
          <p:cNvSpPr/>
          <p:nvPr/>
        </p:nvSpPr>
        <p:spPr>
          <a:xfrm>
            <a:off x="4699000" y="5143500"/>
            <a:ext cx="355600" cy="355600"/>
          </a:xfrm>
          <a:custGeom>
            <a:avLst/>
            <a:gdLst/>
            <a:ahLst/>
            <a:cxnLst/>
            <a:rect l="l" t="t" r="r" b="b"/>
            <a:pathLst>
              <a:path w="355600" h="355600">
                <a:moveTo>
                  <a:pt x="135503" y="6598"/>
                </a:moveTo>
                <a:cubicBezTo>
                  <a:pt x="137587" y="-3681"/>
                  <a:pt x="146685" y="-11112"/>
                  <a:pt x="157242" y="-11112"/>
                </a:cubicBezTo>
                <a:lnTo>
                  <a:pt x="198775" y="-11112"/>
                </a:lnTo>
                <a:cubicBezTo>
                  <a:pt x="209332" y="-11112"/>
                  <a:pt x="218430" y="-3681"/>
                  <a:pt x="220514" y="6598"/>
                </a:cubicBezTo>
                <a:lnTo>
                  <a:pt x="230584" y="55215"/>
                </a:lnTo>
                <a:cubicBezTo>
                  <a:pt x="240377" y="59382"/>
                  <a:pt x="249545" y="64730"/>
                  <a:pt x="257879" y="71051"/>
                </a:cubicBezTo>
                <a:lnTo>
                  <a:pt x="304969" y="55424"/>
                </a:lnTo>
                <a:cubicBezTo>
                  <a:pt x="314970" y="52090"/>
                  <a:pt x="325944" y="56257"/>
                  <a:pt x="331222" y="65425"/>
                </a:cubicBezTo>
                <a:lnTo>
                  <a:pt x="351988" y="101402"/>
                </a:lnTo>
                <a:cubicBezTo>
                  <a:pt x="357267" y="110569"/>
                  <a:pt x="355392" y="122099"/>
                  <a:pt x="347474" y="129113"/>
                </a:cubicBezTo>
                <a:lnTo>
                  <a:pt x="310455" y="162034"/>
                </a:lnTo>
                <a:cubicBezTo>
                  <a:pt x="311081" y="167174"/>
                  <a:pt x="311358" y="172452"/>
                  <a:pt x="311358" y="177800"/>
                </a:cubicBezTo>
                <a:cubicBezTo>
                  <a:pt x="311358" y="183148"/>
                  <a:pt x="311011" y="188426"/>
                  <a:pt x="310455" y="193566"/>
                </a:cubicBezTo>
                <a:lnTo>
                  <a:pt x="347543" y="226556"/>
                </a:lnTo>
                <a:cubicBezTo>
                  <a:pt x="355461" y="233571"/>
                  <a:pt x="357267" y="245170"/>
                  <a:pt x="352058" y="254268"/>
                </a:cubicBezTo>
                <a:lnTo>
                  <a:pt x="331291" y="290245"/>
                </a:lnTo>
                <a:cubicBezTo>
                  <a:pt x="326013" y="299343"/>
                  <a:pt x="315039" y="303580"/>
                  <a:pt x="305038" y="300246"/>
                </a:cubicBezTo>
                <a:lnTo>
                  <a:pt x="257949" y="284619"/>
                </a:lnTo>
                <a:cubicBezTo>
                  <a:pt x="249545" y="290939"/>
                  <a:pt x="240377" y="296218"/>
                  <a:pt x="230654" y="300454"/>
                </a:cubicBezTo>
                <a:lnTo>
                  <a:pt x="220653" y="349002"/>
                </a:lnTo>
                <a:cubicBezTo>
                  <a:pt x="218500" y="359350"/>
                  <a:pt x="209401" y="366712"/>
                  <a:pt x="198914" y="366712"/>
                </a:cubicBezTo>
                <a:lnTo>
                  <a:pt x="157381" y="366712"/>
                </a:lnTo>
                <a:cubicBezTo>
                  <a:pt x="146824" y="366712"/>
                  <a:pt x="137726" y="359281"/>
                  <a:pt x="135642" y="349002"/>
                </a:cubicBezTo>
                <a:lnTo>
                  <a:pt x="125641" y="300454"/>
                </a:lnTo>
                <a:cubicBezTo>
                  <a:pt x="115848" y="296287"/>
                  <a:pt x="106749" y="290939"/>
                  <a:pt x="98346" y="284619"/>
                </a:cubicBezTo>
                <a:lnTo>
                  <a:pt x="51048" y="300246"/>
                </a:lnTo>
                <a:cubicBezTo>
                  <a:pt x="41047" y="303580"/>
                  <a:pt x="30073" y="299412"/>
                  <a:pt x="24795" y="290245"/>
                </a:cubicBezTo>
                <a:lnTo>
                  <a:pt x="4028" y="254268"/>
                </a:lnTo>
                <a:cubicBezTo>
                  <a:pt x="-1250" y="245100"/>
                  <a:pt x="625" y="233571"/>
                  <a:pt x="8543" y="226556"/>
                </a:cubicBezTo>
                <a:lnTo>
                  <a:pt x="45631" y="193566"/>
                </a:lnTo>
                <a:cubicBezTo>
                  <a:pt x="45006" y="188426"/>
                  <a:pt x="44728" y="183148"/>
                  <a:pt x="44728" y="177800"/>
                </a:cubicBezTo>
                <a:cubicBezTo>
                  <a:pt x="44728" y="172452"/>
                  <a:pt x="45075" y="167174"/>
                  <a:pt x="45631" y="162034"/>
                </a:cubicBezTo>
                <a:lnTo>
                  <a:pt x="8543" y="129044"/>
                </a:lnTo>
                <a:cubicBezTo>
                  <a:pt x="625" y="122029"/>
                  <a:pt x="-1181" y="110430"/>
                  <a:pt x="4028" y="101332"/>
                </a:cubicBezTo>
                <a:lnTo>
                  <a:pt x="24795" y="65355"/>
                </a:lnTo>
                <a:cubicBezTo>
                  <a:pt x="30073" y="56188"/>
                  <a:pt x="41047" y="52020"/>
                  <a:pt x="51048" y="55354"/>
                </a:cubicBezTo>
                <a:lnTo>
                  <a:pt x="98137" y="70981"/>
                </a:lnTo>
                <a:cubicBezTo>
                  <a:pt x="106541" y="64661"/>
                  <a:pt x="115709" y="59382"/>
                  <a:pt x="125432" y="55146"/>
                </a:cubicBezTo>
                <a:lnTo>
                  <a:pt x="135503" y="6598"/>
                </a:lnTo>
                <a:close/>
                <a:moveTo>
                  <a:pt x="178008" y="233363"/>
                </a:moveTo>
                <a:cubicBezTo>
                  <a:pt x="197859" y="233288"/>
                  <a:pt x="216162" y="222629"/>
                  <a:pt x="226023" y="205401"/>
                </a:cubicBezTo>
                <a:cubicBezTo>
                  <a:pt x="235884" y="188172"/>
                  <a:pt x="235804" y="166992"/>
                  <a:pt x="225814" y="149838"/>
                </a:cubicBezTo>
                <a:cubicBezTo>
                  <a:pt x="215825" y="132684"/>
                  <a:pt x="197442" y="122163"/>
                  <a:pt x="177592" y="122237"/>
                </a:cubicBezTo>
                <a:cubicBezTo>
                  <a:pt x="157741" y="122312"/>
                  <a:pt x="139438" y="132971"/>
                  <a:pt x="129577" y="150199"/>
                </a:cubicBezTo>
                <a:cubicBezTo>
                  <a:pt x="119716" y="167428"/>
                  <a:pt x="119796" y="188608"/>
                  <a:pt x="129786" y="205762"/>
                </a:cubicBezTo>
                <a:cubicBezTo>
                  <a:pt x="139775" y="222916"/>
                  <a:pt x="158158" y="233437"/>
                  <a:pt x="178008" y="233363"/>
                </a:cubicBezTo>
                <a:close/>
              </a:path>
            </a:pathLst>
          </a:custGeom>
          <a:solidFill>
            <a:srgbClr val="D4652A"/>
          </a:solidFill>
          <a:ln/>
        </p:spPr>
        <p:txBody>
          <a:bodyPr/>
          <a:lstStyle/>
          <a:p>
            <a:endParaRPr lang="en-US"/>
          </a:p>
        </p:txBody>
      </p:sp>
      <p:sp>
        <p:nvSpPr>
          <p:cNvPr id="36" name="Text 33"/>
          <p:cNvSpPr/>
          <p:nvPr/>
        </p:nvSpPr>
        <p:spPr>
          <a:xfrm>
            <a:off x="5156200" y="5143500"/>
            <a:ext cx="2540000" cy="355600"/>
          </a:xfrm>
          <a:prstGeom prst="rect">
            <a:avLst/>
          </a:prstGeom>
          <a:noFill/>
          <a:ln/>
        </p:spPr>
        <p:txBody>
          <a:bodyPr wrap="none" lIns="0" tIns="0" rIns="0" bIns="0" rtlCol="0" anchor="ctr"/>
          <a:lstStyle/>
          <a:p>
            <a:pPr algn="l">
              <a:lnSpc>
                <a:spcPct val="120000"/>
              </a:lnSpc>
            </a:pPr>
            <a:r>
              <a:rPr lang="en-US" sz="1600" b="1" dirty="0">
                <a:solidFill>
                  <a:srgbClr val="1E1E1E"/>
                </a:solidFill>
                <a:latin typeface="Liter" pitchFamily="34" charset="0"/>
                <a:ea typeface="Liter" pitchFamily="34" charset="-122"/>
                <a:cs typeface="Liter" pitchFamily="34" charset="-120"/>
              </a:rPr>
              <a:t>Env Config</a:t>
            </a:r>
            <a:endParaRPr lang="en-US" sz="1600" dirty="0"/>
          </a:p>
        </p:txBody>
      </p:sp>
      <p:sp>
        <p:nvSpPr>
          <p:cNvPr id="37" name="Text 34"/>
          <p:cNvSpPr/>
          <p:nvPr/>
        </p:nvSpPr>
        <p:spPr>
          <a:xfrm>
            <a:off x="4699000" y="5588000"/>
            <a:ext cx="2921000" cy="825500"/>
          </a:xfrm>
          <a:prstGeom prst="rect">
            <a:avLst/>
          </a:prstGeom>
          <a:noFill/>
          <a:ln/>
        </p:spPr>
        <p:txBody>
          <a:bodyPr wrap="square" lIns="0" tIns="0" rIns="0" bIns="0" rtlCol="0" anchor="t"/>
          <a:lstStyle/>
          <a:p>
            <a:pPr algn="l">
              <a:lnSpc>
                <a:spcPct val="150000"/>
              </a:lnSpc>
            </a:pPr>
            <a:r>
              <a:rPr lang="en-US" sz="1300" dirty="0">
                <a:solidFill>
                  <a:srgbClr val="5C5C5C"/>
                </a:solidFill>
                <a:latin typeface="Quattrocento Sans" pitchFamily="34" charset="0"/>
                <a:ea typeface="Quattrocento Sans" pitchFamily="34" charset="-122"/>
                <a:cs typeface="Quattrocento Sans" pitchFamily="34" charset="-120"/>
              </a:rPr>
              <a:t>Environment variables with dotenv for secure key management</a:t>
            </a:r>
            <a:endParaRPr lang="en-US" sz="1300" dirty="0"/>
          </a:p>
        </p:txBody>
      </p:sp>
      <p:sp>
        <p:nvSpPr>
          <p:cNvPr id="38" name="Shape 35"/>
          <p:cNvSpPr/>
          <p:nvPr/>
        </p:nvSpPr>
        <p:spPr>
          <a:xfrm>
            <a:off x="8128000" y="4953000"/>
            <a:ext cx="3429000" cy="1651000"/>
          </a:xfrm>
          <a:prstGeom prst="roundRect">
            <a:avLst>
              <a:gd name="adj" fmla="val 8000"/>
            </a:avLst>
          </a:prstGeom>
          <a:solidFill>
            <a:srgbClr val="F0EBE6"/>
          </a:solidFill>
          <a:ln/>
        </p:spPr>
        <p:txBody>
          <a:bodyPr/>
          <a:lstStyle/>
          <a:p>
            <a:endParaRPr lang="en-US"/>
          </a:p>
        </p:txBody>
      </p:sp>
      <p:sp>
        <p:nvSpPr>
          <p:cNvPr id="39" name="Shape 36"/>
          <p:cNvSpPr/>
          <p:nvPr/>
        </p:nvSpPr>
        <p:spPr>
          <a:xfrm>
            <a:off x="8382000" y="5143500"/>
            <a:ext cx="355600" cy="355600"/>
          </a:xfrm>
          <a:custGeom>
            <a:avLst/>
            <a:gdLst/>
            <a:ahLst/>
            <a:cxnLst/>
            <a:rect l="l" t="t" r="r" b="b"/>
            <a:pathLst>
              <a:path w="355600" h="355600">
                <a:moveTo>
                  <a:pt x="118533" y="66675"/>
                </a:moveTo>
                <a:lnTo>
                  <a:pt x="118533" y="111125"/>
                </a:lnTo>
                <a:lnTo>
                  <a:pt x="237067" y="111125"/>
                </a:lnTo>
                <a:lnTo>
                  <a:pt x="237067" y="66675"/>
                </a:lnTo>
                <a:cubicBezTo>
                  <a:pt x="237067" y="42158"/>
                  <a:pt x="210489" y="22225"/>
                  <a:pt x="177800" y="22225"/>
                </a:cubicBezTo>
                <a:cubicBezTo>
                  <a:pt x="145111" y="22225"/>
                  <a:pt x="118533" y="42158"/>
                  <a:pt x="118533" y="66675"/>
                </a:cubicBezTo>
                <a:close/>
                <a:moveTo>
                  <a:pt x="59267" y="111125"/>
                </a:moveTo>
                <a:lnTo>
                  <a:pt x="59267" y="66675"/>
                </a:lnTo>
                <a:cubicBezTo>
                  <a:pt x="59267" y="17572"/>
                  <a:pt x="112329" y="-22225"/>
                  <a:pt x="177800" y="-22225"/>
                </a:cubicBezTo>
                <a:cubicBezTo>
                  <a:pt x="243271" y="-22225"/>
                  <a:pt x="296333" y="17572"/>
                  <a:pt x="296333" y="66675"/>
                </a:cubicBezTo>
                <a:lnTo>
                  <a:pt x="296333" y="111125"/>
                </a:lnTo>
                <a:cubicBezTo>
                  <a:pt x="329023" y="111125"/>
                  <a:pt x="355600" y="131058"/>
                  <a:pt x="355600" y="155575"/>
                </a:cubicBezTo>
                <a:lnTo>
                  <a:pt x="355600" y="311150"/>
                </a:lnTo>
                <a:cubicBezTo>
                  <a:pt x="355600" y="335667"/>
                  <a:pt x="329023" y="355600"/>
                  <a:pt x="296333" y="355600"/>
                </a:cubicBezTo>
                <a:lnTo>
                  <a:pt x="59267" y="355600"/>
                </a:lnTo>
                <a:cubicBezTo>
                  <a:pt x="26577" y="355600"/>
                  <a:pt x="0" y="335667"/>
                  <a:pt x="0" y="311150"/>
                </a:cubicBezTo>
                <a:lnTo>
                  <a:pt x="0" y="155575"/>
                </a:lnTo>
                <a:cubicBezTo>
                  <a:pt x="0" y="131058"/>
                  <a:pt x="26577" y="111125"/>
                  <a:pt x="59267" y="111125"/>
                </a:cubicBezTo>
                <a:close/>
              </a:path>
            </a:pathLst>
          </a:custGeom>
          <a:solidFill>
            <a:srgbClr val="D4652A"/>
          </a:solidFill>
          <a:ln/>
        </p:spPr>
        <p:txBody>
          <a:bodyPr/>
          <a:lstStyle/>
          <a:p>
            <a:endParaRPr lang="en-US"/>
          </a:p>
        </p:txBody>
      </p:sp>
      <p:sp>
        <p:nvSpPr>
          <p:cNvPr id="40" name="Text 37"/>
          <p:cNvSpPr/>
          <p:nvPr/>
        </p:nvSpPr>
        <p:spPr>
          <a:xfrm>
            <a:off x="8839200" y="5143500"/>
            <a:ext cx="2540000" cy="355600"/>
          </a:xfrm>
          <a:prstGeom prst="rect">
            <a:avLst/>
          </a:prstGeom>
          <a:noFill/>
          <a:ln/>
        </p:spPr>
        <p:txBody>
          <a:bodyPr wrap="none" lIns="0" tIns="0" rIns="0" bIns="0" rtlCol="0" anchor="ctr"/>
          <a:lstStyle/>
          <a:p>
            <a:pPr algn="l">
              <a:lnSpc>
                <a:spcPct val="120000"/>
              </a:lnSpc>
            </a:pPr>
            <a:r>
              <a:rPr lang="en-US" sz="1600" b="1" dirty="0">
                <a:solidFill>
                  <a:srgbClr val="1E1E1E"/>
                </a:solidFill>
                <a:latin typeface="Liter" pitchFamily="34" charset="0"/>
                <a:ea typeface="Liter" pitchFamily="34" charset="-122"/>
                <a:cs typeface="Liter" pitchFamily="34" charset="-120"/>
              </a:rPr>
              <a:t>CORS Security</a:t>
            </a:r>
            <a:endParaRPr lang="en-US" sz="1600" dirty="0"/>
          </a:p>
        </p:txBody>
      </p:sp>
      <p:sp>
        <p:nvSpPr>
          <p:cNvPr id="41" name="Text 38"/>
          <p:cNvSpPr/>
          <p:nvPr/>
        </p:nvSpPr>
        <p:spPr>
          <a:xfrm>
            <a:off x="8382000" y="5588000"/>
            <a:ext cx="2921000" cy="825500"/>
          </a:xfrm>
          <a:prstGeom prst="rect">
            <a:avLst/>
          </a:prstGeom>
          <a:noFill/>
          <a:ln/>
        </p:spPr>
        <p:txBody>
          <a:bodyPr wrap="square" lIns="0" tIns="0" rIns="0" bIns="0" rtlCol="0" anchor="t"/>
          <a:lstStyle/>
          <a:p>
            <a:pPr algn="l">
              <a:lnSpc>
                <a:spcPct val="150000"/>
              </a:lnSpc>
            </a:pPr>
            <a:r>
              <a:rPr lang="en-US" sz="1300" dirty="0">
                <a:solidFill>
                  <a:srgbClr val="5C5C5C"/>
                </a:solidFill>
                <a:latin typeface="Quattrocento Sans" pitchFamily="34" charset="0"/>
                <a:ea typeface="Quattrocento Sans" pitchFamily="34" charset="-122"/>
                <a:cs typeface="Quattrocento Sans" pitchFamily="34" charset="-120"/>
              </a:rPr>
              <a:t>CORS middleware restricts requests to approved frontend domains only</a:t>
            </a:r>
            <a:endParaRPr lang="en-US" sz="1300" dirty="0"/>
          </a:p>
        </p:txBody>
      </p:sp>
      <p:sp>
        <p:nvSpPr>
          <p:cNvPr id="42" name="Shape 39"/>
          <p:cNvSpPr/>
          <p:nvPr/>
        </p:nvSpPr>
        <p:spPr>
          <a:xfrm>
            <a:off x="11811000" y="4953000"/>
            <a:ext cx="3429000" cy="1651000"/>
          </a:xfrm>
          <a:prstGeom prst="roundRect">
            <a:avLst>
              <a:gd name="adj" fmla="val 8000"/>
            </a:avLst>
          </a:prstGeom>
          <a:solidFill>
            <a:srgbClr val="F0EBE6"/>
          </a:solidFill>
          <a:ln/>
        </p:spPr>
        <p:txBody>
          <a:bodyPr/>
          <a:lstStyle/>
          <a:p>
            <a:endParaRPr lang="en-US"/>
          </a:p>
        </p:txBody>
      </p:sp>
      <p:sp>
        <p:nvSpPr>
          <p:cNvPr id="43" name="Shape 40"/>
          <p:cNvSpPr/>
          <p:nvPr/>
        </p:nvSpPr>
        <p:spPr>
          <a:xfrm>
            <a:off x="12065000" y="5143500"/>
            <a:ext cx="355600" cy="355600"/>
          </a:xfrm>
          <a:custGeom>
            <a:avLst/>
            <a:gdLst/>
            <a:ahLst/>
            <a:cxnLst/>
            <a:rect l="l" t="t" r="r" b="b"/>
            <a:pathLst>
              <a:path w="355600" h="355600">
                <a:moveTo>
                  <a:pt x="355600" y="142935"/>
                </a:moveTo>
                <a:cubicBezTo>
                  <a:pt x="343853" y="149741"/>
                  <a:pt x="330359" y="155228"/>
                  <a:pt x="316309" y="159603"/>
                </a:cubicBezTo>
                <a:cubicBezTo>
                  <a:pt x="279003" y="171271"/>
                  <a:pt x="230029" y="177800"/>
                  <a:pt x="177800" y="177800"/>
                </a:cubicBezTo>
                <a:cubicBezTo>
                  <a:pt x="125571" y="177800"/>
                  <a:pt x="76518" y="171202"/>
                  <a:pt x="39291" y="159603"/>
                </a:cubicBezTo>
                <a:cubicBezTo>
                  <a:pt x="25321" y="155228"/>
                  <a:pt x="11747" y="149741"/>
                  <a:pt x="0" y="142935"/>
                </a:cubicBezTo>
                <a:lnTo>
                  <a:pt x="0" y="200025"/>
                </a:lnTo>
                <a:cubicBezTo>
                  <a:pt x="0" y="230723"/>
                  <a:pt x="79613" y="255587"/>
                  <a:pt x="177800" y="255587"/>
                </a:cubicBezTo>
                <a:cubicBezTo>
                  <a:pt x="275987" y="255587"/>
                  <a:pt x="355600" y="230723"/>
                  <a:pt x="355600" y="200025"/>
                </a:cubicBezTo>
                <a:lnTo>
                  <a:pt x="355600" y="142935"/>
                </a:lnTo>
                <a:close/>
                <a:moveTo>
                  <a:pt x="355600" y="88900"/>
                </a:moveTo>
                <a:lnTo>
                  <a:pt x="355600" y="55563"/>
                </a:lnTo>
                <a:cubicBezTo>
                  <a:pt x="355600" y="24864"/>
                  <a:pt x="275987" y="0"/>
                  <a:pt x="177800" y="0"/>
                </a:cubicBezTo>
                <a:cubicBezTo>
                  <a:pt x="79613" y="0"/>
                  <a:pt x="0" y="24864"/>
                  <a:pt x="0" y="55563"/>
                </a:cubicBezTo>
                <a:lnTo>
                  <a:pt x="0" y="88900"/>
                </a:lnTo>
                <a:cubicBezTo>
                  <a:pt x="0" y="119598"/>
                  <a:pt x="79613" y="144463"/>
                  <a:pt x="177800" y="144463"/>
                </a:cubicBezTo>
                <a:cubicBezTo>
                  <a:pt x="275987" y="144463"/>
                  <a:pt x="355600" y="119598"/>
                  <a:pt x="355600" y="88900"/>
                </a:cubicBezTo>
                <a:close/>
                <a:moveTo>
                  <a:pt x="316309" y="270728"/>
                </a:moveTo>
                <a:cubicBezTo>
                  <a:pt x="279083" y="282327"/>
                  <a:pt x="230108" y="288925"/>
                  <a:pt x="177800" y="288925"/>
                </a:cubicBezTo>
                <a:cubicBezTo>
                  <a:pt x="125492" y="288925"/>
                  <a:pt x="76518" y="282327"/>
                  <a:pt x="39291" y="270728"/>
                </a:cubicBezTo>
                <a:cubicBezTo>
                  <a:pt x="25321" y="266353"/>
                  <a:pt x="11747" y="260866"/>
                  <a:pt x="0" y="254060"/>
                </a:cubicBezTo>
                <a:lnTo>
                  <a:pt x="0" y="300038"/>
                </a:lnTo>
                <a:cubicBezTo>
                  <a:pt x="0" y="330736"/>
                  <a:pt x="79613" y="355600"/>
                  <a:pt x="177800" y="355600"/>
                </a:cubicBezTo>
                <a:cubicBezTo>
                  <a:pt x="275987" y="355600"/>
                  <a:pt x="355600" y="330736"/>
                  <a:pt x="355600" y="300038"/>
                </a:cubicBezTo>
                <a:lnTo>
                  <a:pt x="355600" y="254060"/>
                </a:lnTo>
                <a:cubicBezTo>
                  <a:pt x="343853" y="260866"/>
                  <a:pt x="330359" y="266353"/>
                  <a:pt x="316309" y="270728"/>
                </a:cubicBezTo>
                <a:close/>
              </a:path>
            </a:pathLst>
          </a:custGeom>
          <a:solidFill>
            <a:srgbClr val="D4652A"/>
          </a:solidFill>
          <a:ln/>
        </p:spPr>
        <p:txBody>
          <a:bodyPr/>
          <a:lstStyle/>
          <a:p>
            <a:endParaRPr lang="en-US"/>
          </a:p>
        </p:txBody>
      </p:sp>
      <p:sp>
        <p:nvSpPr>
          <p:cNvPr id="44" name="Text 41"/>
          <p:cNvSpPr/>
          <p:nvPr/>
        </p:nvSpPr>
        <p:spPr>
          <a:xfrm>
            <a:off x="12522200" y="5143500"/>
            <a:ext cx="2540000" cy="355600"/>
          </a:xfrm>
          <a:prstGeom prst="rect">
            <a:avLst/>
          </a:prstGeom>
          <a:noFill/>
          <a:ln/>
        </p:spPr>
        <p:txBody>
          <a:bodyPr wrap="none" lIns="0" tIns="0" rIns="0" bIns="0" rtlCol="0" anchor="ctr"/>
          <a:lstStyle/>
          <a:p>
            <a:pPr algn="l">
              <a:lnSpc>
                <a:spcPct val="120000"/>
              </a:lnSpc>
            </a:pPr>
            <a:r>
              <a:rPr lang="en-US" sz="1600" b="1" dirty="0">
                <a:solidFill>
                  <a:srgbClr val="1E1E1E"/>
                </a:solidFill>
                <a:latin typeface="Liter" pitchFamily="34" charset="0"/>
                <a:ea typeface="Liter" pitchFamily="34" charset="-122"/>
                <a:cs typeface="Liter" pitchFamily="34" charset="-120"/>
              </a:rPr>
              <a:t>localStorage</a:t>
            </a:r>
            <a:endParaRPr lang="en-US" sz="1600" dirty="0"/>
          </a:p>
        </p:txBody>
      </p:sp>
      <p:sp>
        <p:nvSpPr>
          <p:cNvPr id="45" name="Text 42"/>
          <p:cNvSpPr/>
          <p:nvPr/>
        </p:nvSpPr>
        <p:spPr>
          <a:xfrm>
            <a:off x="12065000" y="5588000"/>
            <a:ext cx="2921000" cy="825500"/>
          </a:xfrm>
          <a:prstGeom prst="rect">
            <a:avLst/>
          </a:prstGeom>
          <a:noFill/>
          <a:ln/>
        </p:spPr>
        <p:txBody>
          <a:bodyPr wrap="square" lIns="0" tIns="0" rIns="0" bIns="0" rtlCol="0" anchor="t"/>
          <a:lstStyle/>
          <a:p>
            <a:pPr algn="l">
              <a:lnSpc>
                <a:spcPct val="150000"/>
              </a:lnSpc>
            </a:pPr>
            <a:r>
              <a:rPr lang="en-US" sz="1300" dirty="0">
                <a:solidFill>
                  <a:srgbClr val="5C5C5C"/>
                </a:solidFill>
                <a:latin typeface="Quattrocento Sans" pitchFamily="34" charset="0"/>
                <a:ea typeface="Quattrocento Sans" pitchFamily="34" charset="-122"/>
                <a:cs typeface="Quattrocento Sans" pitchFamily="34" charset="-120"/>
              </a:rPr>
              <a:t>Client-side JSON persistence for users, favorites, and preferences</a:t>
            </a:r>
            <a:endParaRPr lang="en-US" sz="1300" dirty="0"/>
          </a:p>
        </p:txBody>
      </p:sp>
      <p:sp>
        <p:nvSpPr>
          <p:cNvPr id="46" name="Text 43"/>
          <p:cNvSpPr/>
          <p:nvPr/>
        </p:nvSpPr>
        <p:spPr>
          <a:xfrm>
            <a:off x="762000" y="6921500"/>
            <a:ext cx="3810000" cy="355600"/>
          </a:xfrm>
          <a:prstGeom prst="rect">
            <a:avLst/>
          </a:prstGeom>
          <a:noFill/>
          <a:ln/>
        </p:spPr>
        <p:txBody>
          <a:bodyPr wrap="none" lIns="0" tIns="0" rIns="0" bIns="0" rtlCol="0" anchor="ctr"/>
          <a:lstStyle/>
          <a:p>
            <a:pPr algn="l">
              <a:lnSpc>
                <a:spcPct val="120000"/>
              </a:lnSpc>
            </a:pPr>
            <a:r>
              <a:rPr lang="en-US" sz="1600" b="1" dirty="0">
                <a:solidFill>
                  <a:srgbClr val="D4652A"/>
                </a:solidFill>
                <a:latin typeface="Liter" pitchFamily="34" charset="0"/>
                <a:ea typeface="Liter" pitchFamily="34" charset="-122"/>
                <a:cs typeface="Liter" pitchFamily="34" charset="-120"/>
              </a:rPr>
              <a:t>PROXY ENDPOINTS</a:t>
            </a:r>
            <a:endParaRPr lang="en-US" sz="16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762000" y="7340600"/>
          <a:ext cx="14732000" cy="1143000"/>
        </p:xfrm>
        <a:graphic>
          <a:graphicData uri="http://schemas.openxmlformats.org/drawingml/2006/table">
            <a:tbl>
              <a:tblPr/>
              <a:tblGrid>
                <a:gridCol w="3683000">
                  <a:extLst>
                    <a:ext uri="{9D8B030D-6E8A-4147-A177-3AD203B41FA5}">
                      <a16:colId xmlns:a16="http://schemas.microsoft.com/office/drawing/2014/main" val="20000"/>
                    </a:ext>
                  </a:extLst>
                </a:gridCol>
                <a:gridCol w="5156200">
                  <a:extLst>
                    <a:ext uri="{9D8B030D-6E8A-4147-A177-3AD203B41FA5}">
                      <a16:colId xmlns:a16="http://schemas.microsoft.com/office/drawing/2014/main" val="20001"/>
                    </a:ext>
                  </a:extLst>
                </a:gridCol>
                <a:gridCol w="5892800">
                  <a:extLst>
                    <a:ext uri="{9D8B030D-6E8A-4147-A177-3AD203B41FA5}">
                      <a16:colId xmlns:a16="http://schemas.microsoft.com/office/drawing/2014/main" val="20002"/>
                    </a:ext>
                  </a:extLst>
                </a:gridCol>
              </a:tblGrid>
              <a:tr h="388620">
                <a:tc>
                  <a:txBody>
                    <a:bodyPr/>
                    <a:lstStyle/>
                    <a:p>
                      <a:pPr algn="ctr"/>
                      <a:r>
                        <a:rPr lang="en-US" sz="1600" b="1" dirty="0">
                          <a:solidFill>
                            <a:srgbClr val="FFFFFF"/>
                          </a:solidFill>
                          <a:latin typeface="Quattrocento Sans" pitchFamily="34" charset="0"/>
                          <a:ea typeface="Quattrocento Sans" pitchFamily="34" charset="-122"/>
                          <a:cs typeface="Quattrocento Sans" pitchFamily="34" charset="-120"/>
                        </a:rPr>
                        <a:t>Endpoint</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8D0"/>
                      </a:solidFill>
                      <a:prstDash val="solid"/>
                      <a:round/>
                      <a:headEnd type="none" w="med" len="med"/>
                      <a:tailEnd type="none" w="med" len="med"/>
                    </a:lnL>
                    <a:lnR w="12700" cap="flat" cmpd="sng" algn="ctr">
                      <a:solidFill>
                        <a:srgbClr val="E0D8D0"/>
                      </a:solidFill>
                      <a:prstDash val="solid"/>
                      <a:round/>
                      <a:headEnd type="none" w="med" len="med"/>
                      <a:tailEnd type="none" w="med" len="med"/>
                    </a:lnR>
                    <a:lnT w="12700" cap="flat" cmpd="sng" algn="ctr">
                      <a:solidFill>
                        <a:srgbClr val="E0D8D0"/>
                      </a:solidFill>
                      <a:prstDash val="solid"/>
                      <a:round/>
                      <a:headEnd type="none" w="med" len="med"/>
                      <a:tailEnd type="none" w="med" len="med"/>
                    </a:lnT>
                    <a:lnB w="12700" cap="flat" cmpd="sng" algn="ctr">
                      <a:solidFill>
                        <a:srgbClr val="E0D8D0"/>
                      </a:solidFill>
                      <a:prstDash val="solid"/>
                      <a:round/>
                      <a:headEnd type="none" w="med" len="med"/>
                      <a:tailEnd type="none" w="med" len="med"/>
                    </a:lnB>
                    <a:solidFill>
                      <a:srgbClr val="D4652A"/>
                    </a:solidFill>
                  </a:tcPr>
                </a:tc>
                <a:tc>
                  <a:txBody>
                    <a:bodyPr/>
                    <a:lstStyle/>
                    <a:p>
                      <a:pPr algn="ctr"/>
                      <a:r>
                        <a:rPr lang="en-US" sz="1600" b="1" dirty="0">
                          <a:solidFill>
                            <a:srgbClr val="FFFFFF"/>
                          </a:solidFill>
                          <a:latin typeface="Quattrocento Sans" pitchFamily="34" charset="0"/>
                          <a:ea typeface="Quattrocento Sans" pitchFamily="34" charset="-122"/>
                          <a:cs typeface="Quattrocento Sans" pitchFamily="34" charset="-120"/>
                        </a:rPr>
                        <a:t>Yelp API Route</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8D0"/>
                      </a:solidFill>
                      <a:prstDash val="solid"/>
                      <a:round/>
                      <a:headEnd type="none" w="med" len="med"/>
                      <a:tailEnd type="none" w="med" len="med"/>
                    </a:lnL>
                    <a:lnR w="12700" cap="flat" cmpd="sng" algn="ctr">
                      <a:solidFill>
                        <a:srgbClr val="E0D8D0"/>
                      </a:solidFill>
                      <a:prstDash val="solid"/>
                      <a:round/>
                      <a:headEnd type="none" w="med" len="med"/>
                      <a:tailEnd type="none" w="med" len="med"/>
                    </a:lnR>
                    <a:lnT w="12700" cap="flat" cmpd="sng" algn="ctr">
                      <a:solidFill>
                        <a:srgbClr val="E0D8D0"/>
                      </a:solidFill>
                      <a:prstDash val="solid"/>
                      <a:round/>
                      <a:headEnd type="none" w="med" len="med"/>
                      <a:tailEnd type="none" w="med" len="med"/>
                    </a:lnT>
                    <a:lnB w="12700" cap="flat" cmpd="sng" algn="ctr">
                      <a:solidFill>
                        <a:srgbClr val="E0D8D0"/>
                      </a:solidFill>
                      <a:prstDash val="solid"/>
                      <a:round/>
                      <a:headEnd type="none" w="med" len="med"/>
                      <a:tailEnd type="none" w="med" len="med"/>
                    </a:lnB>
                    <a:solidFill>
                      <a:srgbClr val="D4652A"/>
                    </a:solidFill>
                  </a:tcPr>
                </a:tc>
                <a:tc>
                  <a:txBody>
                    <a:bodyPr/>
                    <a:lstStyle/>
                    <a:p>
                      <a:pPr algn="ctr"/>
                      <a:r>
                        <a:rPr lang="en-US" sz="1600" b="1" dirty="0">
                          <a:solidFill>
                            <a:srgbClr val="FFFFFF"/>
                          </a:solidFill>
                          <a:latin typeface="Quattrocento Sans" pitchFamily="34" charset="0"/>
                          <a:ea typeface="Quattrocento Sans" pitchFamily="34" charset="-122"/>
                          <a:cs typeface="Quattrocento Sans" pitchFamily="34" charset="-120"/>
                        </a:rPr>
                        <a:t>Purpose</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8D0"/>
                      </a:solidFill>
                      <a:prstDash val="solid"/>
                      <a:round/>
                      <a:headEnd type="none" w="med" len="med"/>
                      <a:tailEnd type="none" w="med" len="med"/>
                    </a:lnL>
                    <a:lnR w="12700" cap="flat" cmpd="sng" algn="ctr">
                      <a:solidFill>
                        <a:srgbClr val="E0D8D0"/>
                      </a:solidFill>
                      <a:prstDash val="solid"/>
                      <a:round/>
                      <a:headEnd type="none" w="med" len="med"/>
                      <a:tailEnd type="none" w="med" len="med"/>
                    </a:lnR>
                    <a:lnT w="12700" cap="flat" cmpd="sng" algn="ctr">
                      <a:solidFill>
                        <a:srgbClr val="E0D8D0"/>
                      </a:solidFill>
                      <a:prstDash val="solid"/>
                      <a:round/>
                      <a:headEnd type="none" w="med" len="med"/>
                      <a:tailEnd type="none" w="med" len="med"/>
                    </a:lnT>
                    <a:lnB w="12700" cap="flat" cmpd="sng" algn="ctr">
                      <a:solidFill>
                        <a:srgbClr val="E0D8D0"/>
                      </a:solidFill>
                      <a:prstDash val="solid"/>
                      <a:round/>
                      <a:headEnd type="none" w="med" len="med"/>
                      <a:tailEnd type="none" w="med" len="med"/>
                    </a:lnB>
                    <a:solidFill>
                      <a:srgbClr val="D4652A"/>
                    </a:solidFill>
                  </a:tcPr>
                </a:tc>
                <a:extLst>
                  <a:ext uri="{0D108BD9-81ED-4DB2-BD59-A6C34878D82A}">
                    <a16:rowId xmlns:a16="http://schemas.microsoft.com/office/drawing/2014/main" val="10000"/>
                  </a:ext>
                </a:extLst>
              </a:tr>
              <a:tr h="377190">
                <a:tc>
                  <a:txBody>
                    <a:bodyPr/>
                    <a:lstStyle/>
                    <a:p>
                      <a:pPr algn="ctr"/>
                      <a:r>
                        <a:rPr lang="en-US" sz="1600" dirty="0">
                          <a:solidFill>
                            <a:srgbClr val="1E1E1E"/>
                          </a:solidFill>
                          <a:latin typeface="Quattrocento Sans" pitchFamily="34" charset="0"/>
                          <a:ea typeface="Quattrocento Sans" pitchFamily="34" charset="-122"/>
                          <a:cs typeface="Quattrocento Sans" pitchFamily="34" charset="-120"/>
                        </a:rPr>
                        <a:t>/api/search</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8D0"/>
                      </a:solidFill>
                      <a:prstDash val="solid"/>
                      <a:round/>
                      <a:headEnd type="none" w="med" len="med"/>
                      <a:tailEnd type="none" w="med" len="med"/>
                    </a:lnL>
                    <a:lnR w="12700" cap="flat" cmpd="sng" algn="ctr">
                      <a:solidFill>
                        <a:srgbClr val="E0D8D0"/>
                      </a:solidFill>
                      <a:prstDash val="solid"/>
                      <a:round/>
                      <a:headEnd type="none" w="med" len="med"/>
                      <a:tailEnd type="none" w="med" len="med"/>
                    </a:lnR>
                    <a:lnT w="12700" cap="flat" cmpd="sng" algn="ctr">
                      <a:solidFill>
                        <a:srgbClr val="E0D8D0"/>
                      </a:solidFill>
                      <a:prstDash val="solid"/>
                      <a:round/>
                      <a:headEnd type="none" w="med" len="med"/>
                      <a:tailEnd type="none" w="med" len="med"/>
                    </a:lnT>
                    <a:lnB w="12700" cap="flat" cmpd="sng" algn="ctr">
                      <a:solidFill>
                        <a:srgbClr val="E0D8D0"/>
                      </a:solidFill>
                      <a:prstDash val="solid"/>
                      <a:round/>
                      <a:headEnd type="none" w="med" len="med"/>
                      <a:tailEnd type="none" w="med" len="med"/>
                    </a:lnB>
                    <a:solidFill>
                      <a:srgbClr val="FFFFFF"/>
                    </a:solidFill>
                  </a:tcPr>
                </a:tc>
                <a:tc>
                  <a:txBody>
                    <a:bodyPr/>
                    <a:lstStyle/>
                    <a:p>
                      <a:pPr algn="ctr"/>
                      <a:r>
                        <a:rPr lang="en-US" sz="1600" dirty="0">
                          <a:solidFill>
                            <a:srgbClr val="1E1E1E"/>
                          </a:solidFill>
                          <a:latin typeface="Quattrocento Sans" pitchFamily="34" charset="0"/>
                          <a:ea typeface="Quattrocento Sans" pitchFamily="34" charset="-122"/>
                          <a:cs typeface="Quattrocento Sans" pitchFamily="34" charset="-120"/>
                        </a:rPr>
                        <a:t>/businesses/search</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8D0"/>
                      </a:solidFill>
                      <a:prstDash val="solid"/>
                      <a:round/>
                      <a:headEnd type="none" w="med" len="med"/>
                      <a:tailEnd type="none" w="med" len="med"/>
                    </a:lnL>
                    <a:lnR w="12700" cap="flat" cmpd="sng" algn="ctr">
                      <a:solidFill>
                        <a:srgbClr val="E0D8D0"/>
                      </a:solidFill>
                      <a:prstDash val="solid"/>
                      <a:round/>
                      <a:headEnd type="none" w="med" len="med"/>
                      <a:tailEnd type="none" w="med" len="med"/>
                    </a:lnR>
                    <a:lnT w="12700" cap="flat" cmpd="sng" algn="ctr">
                      <a:solidFill>
                        <a:srgbClr val="E0D8D0"/>
                      </a:solidFill>
                      <a:prstDash val="solid"/>
                      <a:round/>
                      <a:headEnd type="none" w="med" len="med"/>
                      <a:tailEnd type="none" w="med" len="med"/>
                    </a:lnT>
                    <a:lnB w="12700" cap="flat" cmpd="sng" algn="ctr">
                      <a:solidFill>
                        <a:srgbClr val="E0D8D0"/>
                      </a:solidFill>
                      <a:prstDash val="solid"/>
                      <a:round/>
                      <a:headEnd type="none" w="med" len="med"/>
                      <a:tailEnd type="none" w="med" len="med"/>
                    </a:lnB>
                    <a:solidFill>
                      <a:srgbClr val="FFFFFF"/>
                    </a:solidFill>
                  </a:tcPr>
                </a:tc>
                <a:tc>
                  <a:txBody>
                    <a:bodyPr/>
                    <a:lstStyle/>
                    <a:p>
                      <a:pPr algn="l"/>
                      <a:r>
                        <a:rPr lang="en-US" sz="1600" dirty="0">
                          <a:solidFill>
                            <a:srgbClr val="1E1E1E"/>
                          </a:solidFill>
                          <a:latin typeface="Quattrocento Sans" pitchFamily="34" charset="0"/>
                          <a:ea typeface="Quattrocento Sans" pitchFamily="34" charset="-122"/>
                          <a:cs typeface="Quattrocento Sans" pitchFamily="34" charset="-120"/>
                        </a:rPr>
                        <a:t>Search restaurants by category, location, term</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8D0"/>
                      </a:solidFill>
                      <a:prstDash val="solid"/>
                      <a:round/>
                      <a:headEnd type="none" w="med" len="med"/>
                      <a:tailEnd type="none" w="med" len="med"/>
                    </a:lnL>
                    <a:lnR w="12700" cap="flat" cmpd="sng" algn="ctr">
                      <a:solidFill>
                        <a:srgbClr val="E0D8D0"/>
                      </a:solidFill>
                      <a:prstDash val="solid"/>
                      <a:round/>
                      <a:headEnd type="none" w="med" len="med"/>
                      <a:tailEnd type="none" w="med" len="med"/>
                    </a:lnR>
                    <a:lnT w="12700" cap="flat" cmpd="sng" algn="ctr">
                      <a:solidFill>
                        <a:srgbClr val="E0D8D0"/>
                      </a:solidFill>
                      <a:prstDash val="solid"/>
                      <a:round/>
                      <a:headEnd type="none" w="med" len="med"/>
                      <a:tailEnd type="none" w="med" len="med"/>
                    </a:lnT>
                    <a:lnB w="12700" cap="flat" cmpd="sng" algn="ctr">
                      <a:solidFill>
                        <a:srgbClr val="E0D8D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7190">
                <a:tc>
                  <a:txBody>
                    <a:bodyPr/>
                    <a:lstStyle/>
                    <a:p>
                      <a:pPr algn="ctr"/>
                      <a:r>
                        <a:rPr lang="en-US" sz="1600" dirty="0">
                          <a:solidFill>
                            <a:srgbClr val="1E1E1E"/>
                          </a:solidFill>
                          <a:latin typeface="Quattrocento Sans" pitchFamily="34" charset="0"/>
                          <a:ea typeface="Quattrocento Sans" pitchFamily="34" charset="-122"/>
                          <a:cs typeface="Quattrocento Sans" pitchFamily="34" charset="-120"/>
                        </a:rPr>
                        <a:t>/api/business/:id</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8D0"/>
                      </a:solidFill>
                      <a:prstDash val="solid"/>
                      <a:round/>
                      <a:headEnd type="none" w="med" len="med"/>
                      <a:tailEnd type="none" w="med" len="med"/>
                    </a:lnL>
                    <a:lnR w="12700" cap="flat" cmpd="sng" algn="ctr">
                      <a:solidFill>
                        <a:srgbClr val="E0D8D0"/>
                      </a:solidFill>
                      <a:prstDash val="solid"/>
                      <a:round/>
                      <a:headEnd type="none" w="med" len="med"/>
                      <a:tailEnd type="none" w="med" len="med"/>
                    </a:lnR>
                    <a:lnT w="12700" cap="flat" cmpd="sng" algn="ctr">
                      <a:solidFill>
                        <a:srgbClr val="E0D8D0"/>
                      </a:solidFill>
                      <a:prstDash val="solid"/>
                      <a:round/>
                      <a:headEnd type="none" w="med" len="med"/>
                      <a:tailEnd type="none" w="med" len="med"/>
                    </a:lnT>
                    <a:lnB w="12700" cap="flat" cmpd="sng" algn="ctr">
                      <a:solidFill>
                        <a:srgbClr val="E0D8D0"/>
                      </a:solidFill>
                      <a:prstDash val="solid"/>
                      <a:round/>
                      <a:headEnd type="none" w="med" len="med"/>
                      <a:tailEnd type="none" w="med" len="med"/>
                    </a:lnB>
                    <a:solidFill>
                      <a:srgbClr val="F0EBE6"/>
                    </a:solidFill>
                  </a:tcPr>
                </a:tc>
                <a:tc>
                  <a:txBody>
                    <a:bodyPr/>
                    <a:lstStyle/>
                    <a:p>
                      <a:pPr algn="ctr"/>
                      <a:r>
                        <a:rPr lang="en-US" sz="1600" dirty="0">
                          <a:solidFill>
                            <a:srgbClr val="1E1E1E"/>
                          </a:solidFill>
                          <a:latin typeface="Quattrocento Sans" pitchFamily="34" charset="0"/>
                          <a:ea typeface="Quattrocento Sans" pitchFamily="34" charset="-122"/>
                          <a:cs typeface="Quattrocento Sans" pitchFamily="34" charset="-120"/>
                        </a:rPr>
                        <a:t>/businesses/:id</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8D0"/>
                      </a:solidFill>
                      <a:prstDash val="solid"/>
                      <a:round/>
                      <a:headEnd type="none" w="med" len="med"/>
                      <a:tailEnd type="none" w="med" len="med"/>
                    </a:lnL>
                    <a:lnR w="12700" cap="flat" cmpd="sng" algn="ctr">
                      <a:solidFill>
                        <a:srgbClr val="E0D8D0"/>
                      </a:solidFill>
                      <a:prstDash val="solid"/>
                      <a:round/>
                      <a:headEnd type="none" w="med" len="med"/>
                      <a:tailEnd type="none" w="med" len="med"/>
                    </a:lnR>
                    <a:lnT w="12700" cap="flat" cmpd="sng" algn="ctr">
                      <a:solidFill>
                        <a:srgbClr val="E0D8D0"/>
                      </a:solidFill>
                      <a:prstDash val="solid"/>
                      <a:round/>
                      <a:headEnd type="none" w="med" len="med"/>
                      <a:tailEnd type="none" w="med" len="med"/>
                    </a:lnT>
                    <a:lnB w="12700" cap="flat" cmpd="sng" algn="ctr">
                      <a:solidFill>
                        <a:srgbClr val="E0D8D0"/>
                      </a:solidFill>
                      <a:prstDash val="solid"/>
                      <a:round/>
                      <a:headEnd type="none" w="med" len="med"/>
                      <a:tailEnd type="none" w="med" len="med"/>
                    </a:lnB>
                    <a:solidFill>
                      <a:srgbClr val="F0EBE6"/>
                    </a:solidFill>
                  </a:tcPr>
                </a:tc>
                <a:tc>
                  <a:txBody>
                    <a:bodyPr/>
                    <a:lstStyle/>
                    <a:p>
                      <a:pPr algn="l"/>
                      <a:r>
                        <a:rPr lang="en-US" sz="1600" dirty="0">
                          <a:solidFill>
                            <a:srgbClr val="1E1E1E"/>
                          </a:solidFill>
                          <a:latin typeface="Quattrocento Sans" pitchFamily="34" charset="0"/>
                          <a:ea typeface="Quattrocento Sans" pitchFamily="34" charset="-122"/>
                          <a:cs typeface="Quattrocento Sans" pitchFamily="34" charset="-120"/>
                        </a:rPr>
                        <a:t>Get detailed restaurant information</a:t>
                      </a:r>
                      <a:endParaRPr lang="en-US" sz="1600" dirty="0">
                        <a:latin typeface="Quattrocento Sans" charset="0"/>
                        <a:ea typeface="Quattrocento Sans" charset="0"/>
                        <a:cs typeface="Quattrocento Sans" charset="0"/>
                      </a:endParaRPr>
                    </a:p>
                  </a:txBody>
                  <a:tcPr marL="54864" marR="54864" marT="0" marB="0" anchor="ctr">
                    <a:lnL w="12700" cap="flat" cmpd="sng" algn="ctr">
                      <a:solidFill>
                        <a:srgbClr val="E0D8D0"/>
                      </a:solidFill>
                      <a:prstDash val="solid"/>
                      <a:round/>
                      <a:headEnd type="none" w="med" len="med"/>
                      <a:tailEnd type="none" w="med" len="med"/>
                    </a:lnL>
                    <a:lnR w="12700" cap="flat" cmpd="sng" algn="ctr">
                      <a:solidFill>
                        <a:srgbClr val="E0D8D0"/>
                      </a:solidFill>
                      <a:prstDash val="solid"/>
                      <a:round/>
                      <a:headEnd type="none" w="med" len="med"/>
                      <a:tailEnd type="none" w="med" len="med"/>
                    </a:lnR>
                    <a:lnT w="12700" cap="flat" cmpd="sng" algn="ctr">
                      <a:solidFill>
                        <a:srgbClr val="E0D8D0"/>
                      </a:solidFill>
                      <a:prstDash val="solid"/>
                      <a:round/>
                      <a:headEnd type="none" w="med" len="med"/>
                      <a:tailEnd type="none" w="med" len="med"/>
                    </a:lnT>
                    <a:lnB w="12700" cap="flat" cmpd="sng" algn="ctr">
                      <a:solidFill>
                        <a:srgbClr val="E0D8D0"/>
                      </a:solidFill>
                      <a:prstDash val="solid"/>
                      <a:round/>
                      <a:headEnd type="none" w="med" len="med"/>
                      <a:tailEnd type="none" w="med" len="med"/>
                    </a:lnB>
                    <a:solidFill>
                      <a:srgbClr val="F0EBE6"/>
                    </a:solidFill>
                  </a:tcPr>
                </a:tc>
                <a:extLst>
                  <a:ext uri="{0D108BD9-81ED-4DB2-BD59-A6C34878D82A}">
                    <a16:rowId xmlns:a16="http://schemas.microsoft.com/office/drawing/2014/main" val="10002"/>
                  </a:ext>
                </a:extLst>
              </a:tr>
            </a:tbl>
          </a:graphicData>
        </a:graphic>
      </p:graphicFrame>
      <p:sp>
        <p:nvSpPr>
          <p:cNvPr id="48" name="Text 44"/>
          <p:cNvSpPr/>
          <p:nvPr/>
        </p:nvSpPr>
        <p:spPr>
          <a:xfrm>
            <a:off x="762000" y="8763000"/>
            <a:ext cx="5080000" cy="254000"/>
          </a:xfrm>
          <a:prstGeom prst="rect">
            <a:avLst/>
          </a:prstGeom>
          <a:noFill/>
          <a:ln/>
        </p:spPr>
        <p:txBody>
          <a:bodyPr wrap="none" lIns="0" tIns="0" rIns="0" bIns="0" rtlCol="0" anchor="ctr"/>
          <a:lstStyle/>
          <a:p>
            <a:pPr algn="l">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Restaurant Finder | Graduation Project Defense</a:t>
            </a:r>
            <a:endParaRPr lang="en-US" sz="1200" dirty="0"/>
          </a:p>
        </p:txBody>
      </p:sp>
      <p:sp>
        <p:nvSpPr>
          <p:cNvPr id="49" name="Text 45"/>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05 / 12</a:t>
            </a:r>
            <a:endParaRPr lang="en-US" sz="12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2D2D2D"/>
          </a:solidFill>
          <a:ln/>
        </p:spPr>
        <p:txBody>
          <a:bodyPr/>
          <a:lstStyle/>
          <a:p>
            <a:endParaRPr lang="en-US"/>
          </a:p>
        </p:txBody>
      </p:sp>
      <p:sp>
        <p:nvSpPr>
          <p:cNvPr id="4" name="Text 1"/>
          <p:cNvSpPr/>
          <p:nvPr/>
        </p:nvSpPr>
        <p:spPr>
          <a:xfrm>
            <a:off x="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PROBLEM</a:t>
            </a:r>
            <a:endParaRPr lang="en-US" sz="1100" dirty="0"/>
          </a:p>
        </p:txBody>
      </p:sp>
      <p:sp>
        <p:nvSpPr>
          <p:cNvPr id="5" name="Text 2"/>
          <p:cNvSpPr/>
          <p:nvPr/>
        </p:nvSpPr>
        <p:spPr>
          <a:xfrm>
            <a:off x="32512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SOLUTION</a:t>
            </a:r>
            <a:endParaRPr lang="en-US" sz="1100" dirty="0"/>
          </a:p>
        </p:txBody>
      </p:sp>
      <p:sp>
        <p:nvSpPr>
          <p:cNvPr id="6" name="Text 3"/>
          <p:cNvSpPr/>
          <p:nvPr/>
        </p:nvSpPr>
        <p:spPr>
          <a:xfrm>
            <a:off x="65024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TECH STACK</a:t>
            </a:r>
            <a:endParaRPr lang="en-US" sz="1100" dirty="0"/>
          </a:p>
        </p:txBody>
      </p:sp>
      <p:sp>
        <p:nvSpPr>
          <p:cNvPr id="7" name="Text 4"/>
          <p:cNvSpPr/>
          <p:nvPr/>
        </p:nvSpPr>
        <p:spPr>
          <a:xfrm>
            <a:off x="9753600" y="0"/>
            <a:ext cx="3251200" cy="406400"/>
          </a:xfrm>
          <a:prstGeom prst="rect">
            <a:avLst/>
          </a:prstGeom>
          <a:noFill/>
          <a:ln/>
        </p:spPr>
        <p:txBody>
          <a:bodyPr wrap="none" lIns="0" tIns="0" rIns="0" bIns="0" rtlCol="0" anchor="ctr"/>
          <a:lstStyle/>
          <a:p>
            <a:pPr algn="ctr">
              <a:lnSpc>
                <a:spcPct val="120000"/>
              </a:lnSpc>
            </a:pPr>
            <a:r>
              <a:rPr lang="en-US" sz="1100" b="1" dirty="0">
                <a:solidFill>
                  <a:srgbClr val="D4652A"/>
                </a:solidFill>
                <a:latin typeface="Quattrocento Sans" pitchFamily="34" charset="0"/>
                <a:ea typeface="Quattrocento Sans" pitchFamily="34" charset="-122"/>
                <a:cs typeface="Quattrocento Sans" pitchFamily="34" charset="-120"/>
              </a:rPr>
              <a:t>FEATURES</a:t>
            </a:r>
            <a:endParaRPr lang="en-US" sz="1100" dirty="0"/>
          </a:p>
        </p:txBody>
      </p:sp>
      <p:sp>
        <p:nvSpPr>
          <p:cNvPr id="8" name="Shape 5"/>
          <p:cNvSpPr/>
          <p:nvPr/>
        </p:nvSpPr>
        <p:spPr>
          <a:xfrm>
            <a:off x="10744200" y="419100"/>
            <a:ext cx="1270000" cy="38100"/>
          </a:xfrm>
          <a:prstGeom prst="rect">
            <a:avLst/>
          </a:prstGeom>
          <a:solidFill>
            <a:srgbClr val="D4652A"/>
          </a:solidFill>
          <a:ln/>
        </p:spPr>
        <p:txBody>
          <a:bodyPr/>
          <a:lstStyle/>
          <a:p>
            <a:endParaRPr lang="en-US"/>
          </a:p>
        </p:txBody>
      </p:sp>
      <p:sp>
        <p:nvSpPr>
          <p:cNvPr id="9" name="Text 6"/>
          <p:cNvSpPr/>
          <p:nvPr/>
        </p:nvSpPr>
        <p:spPr>
          <a:xfrm>
            <a:off x="130048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ARCHITECTURE</a:t>
            </a:r>
            <a:endParaRPr lang="en-US" sz="1100" dirty="0"/>
          </a:p>
        </p:txBody>
      </p:sp>
      <p:sp>
        <p:nvSpPr>
          <p:cNvPr id="10" name="Text 7"/>
          <p:cNvSpPr/>
          <p:nvPr/>
        </p:nvSpPr>
        <p:spPr>
          <a:xfrm>
            <a:off x="762000" y="660400"/>
            <a:ext cx="11430000" cy="508000"/>
          </a:xfrm>
          <a:prstGeom prst="rect">
            <a:avLst/>
          </a:prstGeom>
          <a:noFill/>
          <a:ln/>
        </p:spPr>
        <p:txBody>
          <a:bodyPr wrap="none" lIns="0" tIns="0" rIns="0" bIns="0" rtlCol="0" anchor="ctr"/>
          <a:lstStyle/>
          <a:p>
            <a:pPr algn="l">
              <a:lnSpc>
                <a:spcPct val="130000"/>
              </a:lnSpc>
            </a:pPr>
            <a:r>
              <a:rPr lang="en-US" sz="2800" dirty="0">
                <a:solidFill>
                  <a:srgbClr val="1E1E1E"/>
                </a:solidFill>
                <a:latin typeface="Liter" pitchFamily="34" charset="0"/>
                <a:ea typeface="Liter" pitchFamily="34" charset="-122"/>
                <a:cs typeface="Liter" pitchFamily="34" charset="-120"/>
              </a:rPr>
              <a:t>Core Features: Discovery &amp; Smart Assistant</a:t>
            </a:r>
            <a:endParaRPr lang="en-US" sz="2800" dirty="0"/>
          </a:p>
        </p:txBody>
      </p:sp>
      <p:sp>
        <p:nvSpPr>
          <p:cNvPr id="11" name="Shape 8"/>
          <p:cNvSpPr/>
          <p:nvPr/>
        </p:nvSpPr>
        <p:spPr>
          <a:xfrm>
            <a:off x="762000" y="1219200"/>
            <a:ext cx="1016000" cy="38100"/>
          </a:xfrm>
          <a:prstGeom prst="rect">
            <a:avLst/>
          </a:prstGeom>
          <a:solidFill>
            <a:srgbClr val="D4652A"/>
          </a:solidFill>
          <a:ln/>
        </p:spPr>
        <p:txBody>
          <a:bodyPr/>
          <a:lstStyle/>
          <a:p>
            <a:endParaRPr lang="en-US"/>
          </a:p>
        </p:txBody>
      </p:sp>
      <p:sp>
        <p:nvSpPr>
          <p:cNvPr id="12" name="Text 9"/>
          <p:cNvSpPr/>
          <p:nvPr/>
        </p:nvSpPr>
        <p:spPr>
          <a:xfrm>
            <a:off x="762000" y="1460500"/>
            <a:ext cx="3810000" cy="330200"/>
          </a:xfrm>
          <a:prstGeom prst="rect">
            <a:avLst/>
          </a:prstGeom>
          <a:noFill/>
          <a:ln/>
        </p:spPr>
        <p:txBody>
          <a:bodyPr wrap="none" lIns="0" tIns="0" rIns="0" bIns="0" rtlCol="0" anchor="ctr"/>
          <a:lstStyle/>
          <a:p>
            <a:pPr algn="l">
              <a:lnSpc>
                <a:spcPct val="120000"/>
              </a:lnSpc>
            </a:pPr>
            <a:r>
              <a:rPr lang="en-US" sz="1600" b="1" dirty="0">
                <a:solidFill>
                  <a:srgbClr val="D4652A"/>
                </a:solidFill>
                <a:latin typeface="Liter" pitchFamily="34" charset="0"/>
                <a:ea typeface="Liter" pitchFamily="34" charset="-122"/>
                <a:cs typeface="Liter" pitchFamily="34" charset="-120"/>
              </a:rPr>
              <a:t>DISCOVERY METHODS</a:t>
            </a:r>
            <a:endParaRPr lang="en-US" sz="1600" dirty="0"/>
          </a:p>
        </p:txBody>
      </p:sp>
      <p:sp>
        <p:nvSpPr>
          <p:cNvPr id="13" name="Shape 10"/>
          <p:cNvSpPr/>
          <p:nvPr/>
        </p:nvSpPr>
        <p:spPr>
          <a:xfrm>
            <a:off x="762000" y="1905000"/>
            <a:ext cx="4572000" cy="1016000"/>
          </a:xfrm>
          <a:prstGeom prst="roundRect">
            <a:avLst>
              <a:gd name="adj" fmla="val 8000"/>
            </a:avLst>
          </a:prstGeom>
          <a:solidFill>
            <a:srgbClr val="F0EBE6"/>
          </a:solidFill>
          <a:ln/>
        </p:spPr>
        <p:txBody>
          <a:bodyPr/>
          <a:lstStyle/>
          <a:p>
            <a:endParaRPr lang="en-US"/>
          </a:p>
        </p:txBody>
      </p:sp>
      <p:sp>
        <p:nvSpPr>
          <p:cNvPr id="14" name="Shape 11"/>
          <p:cNvSpPr/>
          <p:nvPr/>
        </p:nvSpPr>
        <p:spPr>
          <a:xfrm>
            <a:off x="990600" y="2133600"/>
            <a:ext cx="406400" cy="406400"/>
          </a:xfrm>
          <a:prstGeom prst="ellipse">
            <a:avLst/>
          </a:prstGeom>
          <a:solidFill>
            <a:srgbClr val="D4652A"/>
          </a:solidFill>
          <a:ln/>
        </p:spPr>
        <p:txBody>
          <a:bodyPr/>
          <a:lstStyle/>
          <a:p>
            <a:endParaRPr lang="en-US"/>
          </a:p>
        </p:txBody>
      </p:sp>
      <p:sp>
        <p:nvSpPr>
          <p:cNvPr id="15" name="Text 12"/>
          <p:cNvSpPr/>
          <p:nvPr/>
        </p:nvSpPr>
        <p:spPr>
          <a:xfrm>
            <a:off x="1524000" y="2006600"/>
            <a:ext cx="3556000" cy="304800"/>
          </a:xfrm>
          <a:prstGeom prst="rect">
            <a:avLst/>
          </a:prstGeom>
          <a:noFill/>
          <a:ln/>
        </p:spPr>
        <p:txBody>
          <a:bodyPr wrap="none" lIns="0" tIns="0" rIns="0" bIns="0" rtlCol="0" anchor="ctr"/>
          <a:lstStyle/>
          <a:p>
            <a:pPr algn="l">
              <a:lnSpc>
                <a:spcPct val="120000"/>
              </a:lnSpc>
            </a:pPr>
            <a:r>
              <a:rPr lang="en-US" sz="1600" b="1" dirty="0">
                <a:solidFill>
                  <a:srgbClr val="1E1E1E"/>
                </a:solidFill>
                <a:latin typeface="Liter" pitchFamily="34" charset="0"/>
                <a:ea typeface="Liter" pitchFamily="34" charset="-122"/>
                <a:cs typeface="Liter" pitchFamily="34" charset="-120"/>
              </a:rPr>
              <a:t>Browse by Category</a:t>
            </a:r>
            <a:endParaRPr lang="en-US" sz="1600" dirty="0"/>
          </a:p>
        </p:txBody>
      </p:sp>
      <p:sp>
        <p:nvSpPr>
          <p:cNvPr id="16" name="Text 13"/>
          <p:cNvSpPr/>
          <p:nvPr/>
        </p:nvSpPr>
        <p:spPr>
          <a:xfrm>
            <a:off x="1524000" y="2349500"/>
            <a:ext cx="3556000" cy="571500"/>
          </a:xfrm>
          <a:prstGeom prst="rect">
            <a:avLst/>
          </a:prstGeom>
          <a:noFill/>
          <a:ln/>
        </p:spPr>
        <p:txBody>
          <a:bodyPr wrap="square" lIns="0" tIns="0" rIns="0" bIns="0" rtlCol="0" anchor="t"/>
          <a:lstStyle/>
          <a:p>
            <a:pPr algn="l">
              <a:lnSpc>
                <a:spcPct val="140000"/>
              </a:lnSpc>
            </a:pPr>
            <a:r>
              <a:rPr lang="en-US" sz="1300" dirty="0">
                <a:solidFill>
                  <a:srgbClr val="5C5C5C"/>
                </a:solidFill>
                <a:latin typeface="Quattrocento Sans" pitchFamily="34" charset="0"/>
                <a:ea typeface="Quattrocento Sans" pitchFamily="34" charset="-122"/>
                <a:cs typeface="Quattrocento Sans" pitchFamily="34" charset="-120"/>
              </a:rPr>
              <a:t>9 cuisine types: Italian, Japanese, Mexican, Indian, Chinese, American, Seafood, French</a:t>
            </a:r>
            <a:endParaRPr lang="en-US" sz="1300" dirty="0"/>
          </a:p>
        </p:txBody>
      </p:sp>
      <p:sp>
        <p:nvSpPr>
          <p:cNvPr id="17" name="Shape 14"/>
          <p:cNvSpPr/>
          <p:nvPr/>
        </p:nvSpPr>
        <p:spPr>
          <a:xfrm>
            <a:off x="762000" y="3111500"/>
            <a:ext cx="4572000" cy="1016000"/>
          </a:xfrm>
          <a:prstGeom prst="roundRect">
            <a:avLst>
              <a:gd name="adj" fmla="val 8000"/>
            </a:avLst>
          </a:prstGeom>
          <a:solidFill>
            <a:srgbClr val="F0EBE6"/>
          </a:solidFill>
          <a:ln/>
        </p:spPr>
        <p:txBody>
          <a:bodyPr/>
          <a:lstStyle/>
          <a:p>
            <a:endParaRPr lang="en-US"/>
          </a:p>
        </p:txBody>
      </p:sp>
      <p:sp>
        <p:nvSpPr>
          <p:cNvPr id="18" name="Shape 15"/>
          <p:cNvSpPr/>
          <p:nvPr/>
        </p:nvSpPr>
        <p:spPr>
          <a:xfrm>
            <a:off x="990600" y="3340100"/>
            <a:ext cx="406400" cy="406400"/>
          </a:xfrm>
          <a:custGeom>
            <a:avLst/>
            <a:gdLst/>
            <a:ahLst/>
            <a:cxnLst/>
            <a:rect l="l" t="t" r="r" b="b"/>
            <a:pathLst>
              <a:path w="406400" h="406400">
                <a:moveTo>
                  <a:pt x="330200" y="165100"/>
                </a:moveTo>
                <a:cubicBezTo>
                  <a:pt x="330200" y="201533"/>
                  <a:pt x="318373" y="235188"/>
                  <a:pt x="298450" y="262493"/>
                </a:cubicBezTo>
                <a:lnTo>
                  <a:pt x="398939" y="363061"/>
                </a:lnTo>
                <a:cubicBezTo>
                  <a:pt x="408861" y="372983"/>
                  <a:pt x="408861" y="389096"/>
                  <a:pt x="398939" y="399018"/>
                </a:cubicBezTo>
                <a:cubicBezTo>
                  <a:pt x="389017" y="408940"/>
                  <a:pt x="372904" y="408940"/>
                  <a:pt x="362982" y="399018"/>
                </a:cubicBezTo>
                <a:lnTo>
                  <a:pt x="262493" y="298450"/>
                </a:lnTo>
                <a:cubicBezTo>
                  <a:pt x="235188" y="318373"/>
                  <a:pt x="201533" y="330200"/>
                  <a:pt x="165100" y="330200"/>
                </a:cubicBezTo>
                <a:cubicBezTo>
                  <a:pt x="73898" y="330200"/>
                  <a:pt x="0" y="256302"/>
                  <a:pt x="0" y="165100"/>
                </a:cubicBezTo>
                <a:cubicBezTo>
                  <a:pt x="0" y="73898"/>
                  <a:pt x="73898" y="0"/>
                  <a:pt x="165100" y="0"/>
                </a:cubicBezTo>
                <a:cubicBezTo>
                  <a:pt x="256302" y="0"/>
                  <a:pt x="330200" y="73898"/>
                  <a:pt x="330200" y="165100"/>
                </a:cubicBezTo>
                <a:close/>
                <a:moveTo>
                  <a:pt x="165100" y="279400"/>
                </a:moveTo>
                <a:cubicBezTo>
                  <a:pt x="228184" y="279400"/>
                  <a:pt x="279400" y="228184"/>
                  <a:pt x="279400" y="165100"/>
                </a:cubicBezTo>
                <a:cubicBezTo>
                  <a:pt x="279400" y="102016"/>
                  <a:pt x="228184" y="50800"/>
                  <a:pt x="165100" y="50800"/>
                </a:cubicBezTo>
                <a:cubicBezTo>
                  <a:pt x="102016" y="50800"/>
                  <a:pt x="50800" y="102016"/>
                  <a:pt x="50800" y="165100"/>
                </a:cubicBezTo>
                <a:cubicBezTo>
                  <a:pt x="50800" y="228184"/>
                  <a:pt x="102016" y="279400"/>
                  <a:pt x="165100" y="279400"/>
                </a:cubicBezTo>
                <a:close/>
              </a:path>
            </a:pathLst>
          </a:custGeom>
          <a:solidFill>
            <a:srgbClr val="D4652A"/>
          </a:solidFill>
          <a:ln/>
        </p:spPr>
        <p:txBody>
          <a:bodyPr/>
          <a:lstStyle/>
          <a:p>
            <a:endParaRPr lang="en-US"/>
          </a:p>
        </p:txBody>
      </p:sp>
      <p:sp>
        <p:nvSpPr>
          <p:cNvPr id="19" name="Text 16"/>
          <p:cNvSpPr/>
          <p:nvPr/>
        </p:nvSpPr>
        <p:spPr>
          <a:xfrm>
            <a:off x="1524000" y="3213100"/>
            <a:ext cx="3556000" cy="304800"/>
          </a:xfrm>
          <a:prstGeom prst="rect">
            <a:avLst/>
          </a:prstGeom>
          <a:noFill/>
          <a:ln/>
        </p:spPr>
        <p:txBody>
          <a:bodyPr wrap="none" lIns="0" tIns="0" rIns="0" bIns="0" rtlCol="0" anchor="ctr"/>
          <a:lstStyle/>
          <a:p>
            <a:pPr algn="l">
              <a:lnSpc>
                <a:spcPct val="120000"/>
              </a:lnSpc>
            </a:pPr>
            <a:r>
              <a:rPr lang="en-US" sz="1600" b="1" dirty="0">
                <a:solidFill>
                  <a:srgbClr val="1E1E1E"/>
                </a:solidFill>
                <a:latin typeface="Liter" pitchFamily="34" charset="0"/>
                <a:ea typeface="Liter" pitchFamily="34" charset="-122"/>
                <a:cs typeface="Liter" pitchFamily="34" charset="-120"/>
              </a:rPr>
              <a:t>Real-Time Search</a:t>
            </a:r>
            <a:endParaRPr lang="en-US" sz="1600" dirty="0"/>
          </a:p>
        </p:txBody>
      </p:sp>
      <p:sp>
        <p:nvSpPr>
          <p:cNvPr id="20" name="Text 17"/>
          <p:cNvSpPr/>
          <p:nvPr/>
        </p:nvSpPr>
        <p:spPr>
          <a:xfrm>
            <a:off x="1524000" y="3556000"/>
            <a:ext cx="3556000" cy="571500"/>
          </a:xfrm>
          <a:prstGeom prst="rect">
            <a:avLst/>
          </a:prstGeom>
          <a:noFill/>
          <a:ln/>
        </p:spPr>
        <p:txBody>
          <a:bodyPr wrap="square" lIns="0" tIns="0" rIns="0" bIns="0" rtlCol="0" anchor="t"/>
          <a:lstStyle/>
          <a:p>
            <a:pPr algn="l">
              <a:lnSpc>
                <a:spcPct val="140000"/>
              </a:lnSpc>
            </a:pPr>
            <a:r>
              <a:rPr lang="en-US" sz="1300" dirty="0">
                <a:solidFill>
                  <a:srgbClr val="5C5C5C"/>
                </a:solidFill>
                <a:latin typeface="Quattrocento Sans" pitchFamily="34" charset="0"/>
                <a:ea typeface="Quattrocento Sans" pitchFamily="34" charset="-122"/>
                <a:cs typeface="Quattrocento Sans" pitchFamily="34" charset="-120"/>
              </a:rPr>
              <a:t>Autocomplete suggestions with advanced filters for price, rating, and location</a:t>
            </a:r>
            <a:endParaRPr lang="en-US" sz="1300" dirty="0"/>
          </a:p>
        </p:txBody>
      </p:sp>
      <p:sp>
        <p:nvSpPr>
          <p:cNvPr id="21" name="Shape 18"/>
          <p:cNvSpPr/>
          <p:nvPr/>
        </p:nvSpPr>
        <p:spPr>
          <a:xfrm>
            <a:off x="762000" y="4318000"/>
            <a:ext cx="4572000" cy="1016000"/>
          </a:xfrm>
          <a:prstGeom prst="roundRect">
            <a:avLst>
              <a:gd name="adj" fmla="val 8000"/>
            </a:avLst>
          </a:prstGeom>
          <a:solidFill>
            <a:srgbClr val="D4652A"/>
          </a:solidFill>
          <a:ln/>
        </p:spPr>
        <p:txBody>
          <a:bodyPr/>
          <a:lstStyle/>
          <a:p>
            <a:endParaRPr lang="en-US"/>
          </a:p>
        </p:txBody>
      </p:sp>
      <p:sp>
        <p:nvSpPr>
          <p:cNvPr id="22" name="Shape 19"/>
          <p:cNvSpPr/>
          <p:nvPr/>
        </p:nvSpPr>
        <p:spPr>
          <a:xfrm>
            <a:off x="990600" y="4546600"/>
            <a:ext cx="406400" cy="406400"/>
          </a:xfrm>
          <a:custGeom>
            <a:avLst/>
            <a:gdLst/>
            <a:ahLst/>
            <a:cxnLst/>
            <a:rect l="l" t="t" r="r" b="b"/>
            <a:pathLst>
              <a:path w="406400" h="406400">
                <a:moveTo>
                  <a:pt x="185843" y="-21431"/>
                </a:moveTo>
                <a:lnTo>
                  <a:pt x="196286" y="7779"/>
                </a:lnTo>
                <a:lnTo>
                  <a:pt x="222250" y="19526"/>
                </a:lnTo>
                <a:cubicBezTo>
                  <a:pt x="224367" y="20479"/>
                  <a:pt x="225778" y="22860"/>
                  <a:pt x="225778" y="25400"/>
                </a:cubicBezTo>
                <a:cubicBezTo>
                  <a:pt x="225778" y="27940"/>
                  <a:pt x="224367" y="30321"/>
                  <a:pt x="222250" y="31274"/>
                </a:cubicBezTo>
                <a:lnTo>
                  <a:pt x="196286" y="43021"/>
                </a:lnTo>
                <a:lnTo>
                  <a:pt x="185843" y="72231"/>
                </a:lnTo>
                <a:cubicBezTo>
                  <a:pt x="184997" y="74613"/>
                  <a:pt x="182880" y="76200"/>
                  <a:pt x="180622" y="76200"/>
                </a:cubicBezTo>
                <a:cubicBezTo>
                  <a:pt x="178364" y="76200"/>
                  <a:pt x="176248" y="74613"/>
                  <a:pt x="175401" y="72231"/>
                </a:cubicBezTo>
                <a:lnTo>
                  <a:pt x="164959" y="43021"/>
                </a:lnTo>
                <a:lnTo>
                  <a:pt x="138994" y="31274"/>
                </a:lnTo>
                <a:cubicBezTo>
                  <a:pt x="136878" y="30321"/>
                  <a:pt x="135467" y="27940"/>
                  <a:pt x="135467" y="25400"/>
                </a:cubicBezTo>
                <a:cubicBezTo>
                  <a:pt x="135467" y="22860"/>
                  <a:pt x="136878" y="20479"/>
                  <a:pt x="138994" y="19526"/>
                </a:cubicBezTo>
                <a:lnTo>
                  <a:pt x="164959" y="7779"/>
                </a:lnTo>
                <a:lnTo>
                  <a:pt x="175401" y="-21431"/>
                </a:lnTo>
                <a:cubicBezTo>
                  <a:pt x="176248" y="-23812"/>
                  <a:pt x="178364" y="-25400"/>
                  <a:pt x="180622" y="-25400"/>
                </a:cubicBezTo>
                <a:cubicBezTo>
                  <a:pt x="182880" y="-25400"/>
                  <a:pt x="184997" y="-23812"/>
                  <a:pt x="185843" y="-21431"/>
                </a:cubicBezTo>
                <a:close/>
                <a:moveTo>
                  <a:pt x="78105" y="33099"/>
                </a:moveTo>
                <a:lnTo>
                  <a:pt x="93274" y="72866"/>
                </a:lnTo>
                <a:lnTo>
                  <a:pt x="128623" y="89932"/>
                </a:lnTo>
                <a:cubicBezTo>
                  <a:pt x="132786" y="91916"/>
                  <a:pt x="135467" y="96520"/>
                  <a:pt x="135467" y="101600"/>
                </a:cubicBezTo>
                <a:cubicBezTo>
                  <a:pt x="135467" y="106680"/>
                  <a:pt x="132786" y="111284"/>
                  <a:pt x="128623" y="113268"/>
                </a:cubicBezTo>
                <a:lnTo>
                  <a:pt x="93274" y="130334"/>
                </a:lnTo>
                <a:lnTo>
                  <a:pt x="78105" y="170101"/>
                </a:lnTo>
                <a:cubicBezTo>
                  <a:pt x="76341" y="174784"/>
                  <a:pt x="72249" y="177800"/>
                  <a:pt x="67733" y="177800"/>
                </a:cubicBezTo>
                <a:cubicBezTo>
                  <a:pt x="63218" y="177800"/>
                  <a:pt x="59126" y="174784"/>
                  <a:pt x="57362" y="170101"/>
                </a:cubicBezTo>
                <a:lnTo>
                  <a:pt x="42192" y="130334"/>
                </a:lnTo>
                <a:lnTo>
                  <a:pt x="6844" y="113268"/>
                </a:lnTo>
                <a:cubicBezTo>
                  <a:pt x="2681" y="111284"/>
                  <a:pt x="0" y="106680"/>
                  <a:pt x="0" y="101600"/>
                </a:cubicBezTo>
                <a:cubicBezTo>
                  <a:pt x="0" y="96520"/>
                  <a:pt x="2681" y="91916"/>
                  <a:pt x="6844" y="89932"/>
                </a:cubicBezTo>
                <a:lnTo>
                  <a:pt x="42192" y="72866"/>
                </a:lnTo>
                <a:lnTo>
                  <a:pt x="57362" y="33099"/>
                </a:lnTo>
                <a:cubicBezTo>
                  <a:pt x="59126" y="28416"/>
                  <a:pt x="63218" y="25400"/>
                  <a:pt x="67733" y="25400"/>
                </a:cubicBezTo>
                <a:cubicBezTo>
                  <a:pt x="72249" y="25400"/>
                  <a:pt x="76341" y="28416"/>
                  <a:pt x="78105" y="33099"/>
                </a:cubicBezTo>
                <a:close/>
                <a:moveTo>
                  <a:pt x="327378" y="241300"/>
                </a:moveTo>
                <a:cubicBezTo>
                  <a:pt x="331893" y="241300"/>
                  <a:pt x="335986" y="244316"/>
                  <a:pt x="337749" y="248999"/>
                </a:cubicBezTo>
                <a:lnTo>
                  <a:pt x="352919" y="288766"/>
                </a:lnTo>
                <a:lnTo>
                  <a:pt x="388267" y="305832"/>
                </a:lnTo>
                <a:cubicBezTo>
                  <a:pt x="392430" y="307816"/>
                  <a:pt x="395111" y="312420"/>
                  <a:pt x="395111" y="317500"/>
                </a:cubicBezTo>
                <a:cubicBezTo>
                  <a:pt x="395111" y="322580"/>
                  <a:pt x="392430" y="327184"/>
                  <a:pt x="388267" y="329168"/>
                </a:cubicBezTo>
                <a:lnTo>
                  <a:pt x="352919" y="346234"/>
                </a:lnTo>
                <a:lnTo>
                  <a:pt x="337749" y="386001"/>
                </a:lnTo>
                <a:cubicBezTo>
                  <a:pt x="335986" y="390684"/>
                  <a:pt x="331893" y="393700"/>
                  <a:pt x="327378" y="393700"/>
                </a:cubicBezTo>
                <a:cubicBezTo>
                  <a:pt x="322862" y="393700"/>
                  <a:pt x="318770" y="390684"/>
                  <a:pt x="317006" y="386001"/>
                </a:cubicBezTo>
                <a:lnTo>
                  <a:pt x="301837" y="346234"/>
                </a:lnTo>
                <a:lnTo>
                  <a:pt x="266488" y="329168"/>
                </a:lnTo>
                <a:cubicBezTo>
                  <a:pt x="262326" y="327184"/>
                  <a:pt x="259644" y="322580"/>
                  <a:pt x="259644" y="317500"/>
                </a:cubicBezTo>
                <a:cubicBezTo>
                  <a:pt x="259644" y="312420"/>
                  <a:pt x="262326" y="307816"/>
                  <a:pt x="266488" y="305832"/>
                </a:cubicBezTo>
                <a:lnTo>
                  <a:pt x="301837" y="288766"/>
                </a:lnTo>
                <a:lnTo>
                  <a:pt x="317006" y="248999"/>
                </a:lnTo>
                <a:cubicBezTo>
                  <a:pt x="318770" y="244316"/>
                  <a:pt x="322862" y="241300"/>
                  <a:pt x="327378" y="241300"/>
                </a:cubicBezTo>
                <a:close/>
                <a:moveTo>
                  <a:pt x="324556" y="0"/>
                </a:moveTo>
                <a:cubicBezTo>
                  <a:pt x="332317" y="0"/>
                  <a:pt x="339796" y="3493"/>
                  <a:pt x="345369" y="9684"/>
                </a:cubicBezTo>
                <a:lnTo>
                  <a:pt x="375214" y="43259"/>
                </a:lnTo>
                <a:cubicBezTo>
                  <a:pt x="380718" y="49530"/>
                  <a:pt x="383822" y="57944"/>
                  <a:pt x="383822" y="66675"/>
                </a:cubicBezTo>
                <a:cubicBezTo>
                  <a:pt x="383822" y="75406"/>
                  <a:pt x="380718" y="83820"/>
                  <a:pt x="375214" y="90091"/>
                </a:cubicBezTo>
                <a:lnTo>
                  <a:pt x="312984" y="160099"/>
                </a:lnTo>
                <a:lnTo>
                  <a:pt x="241512" y="79693"/>
                </a:lnTo>
                <a:lnTo>
                  <a:pt x="303742" y="9684"/>
                </a:lnTo>
                <a:cubicBezTo>
                  <a:pt x="309316" y="3493"/>
                  <a:pt x="316794" y="0"/>
                  <a:pt x="324556" y="0"/>
                </a:cubicBezTo>
                <a:close/>
                <a:moveTo>
                  <a:pt x="31186" y="316309"/>
                </a:moveTo>
                <a:lnTo>
                  <a:pt x="217593" y="106601"/>
                </a:lnTo>
                <a:lnTo>
                  <a:pt x="289066" y="187008"/>
                </a:lnTo>
                <a:lnTo>
                  <a:pt x="102658" y="396716"/>
                </a:lnTo>
                <a:cubicBezTo>
                  <a:pt x="97084" y="402908"/>
                  <a:pt x="89606" y="406400"/>
                  <a:pt x="81844" y="406400"/>
                </a:cubicBezTo>
                <a:cubicBezTo>
                  <a:pt x="74083" y="406400"/>
                  <a:pt x="66604" y="402908"/>
                  <a:pt x="61031" y="396716"/>
                </a:cubicBezTo>
                <a:lnTo>
                  <a:pt x="31186" y="363141"/>
                </a:lnTo>
                <a:cubicBezTo>
                  <a:pt x="25682" y="356870"/>
                  <a:pt x="22578" y="348456"/>
                  <a:pt x="22578" y="339725"/>
                </a:cubicBezTo>
                <a:cubicBezTo>
                  <a:pt x="22578" y="330994"/>
                  <a:pt x="25682" y="322580"/>
                  <a:pt x="31186" y="316309"/>
                </a:cubicBezTo>
                <a:close/>
              </a:path>
            </a:pathLst>
          </a:custGeom>
          <a:solidFill>
            <a:srgbClr val="FFFFFF"/>
          </a:solidFill>
          <a:ln/>
        </p:spPr>
        <p:txBody>
          <a:bodyPr/>
          <a:lstStyle/>
          <a:p>
            <a:endParaRPr lang="en-US"/>
          </a:p>
        </p:txBody>
      </p:sp>
      <p:sp>
        <p:nvSpPr>
          <p:cNvPr id="23" name="Text 20"/>
          <p:cNvSpPr/>
          <p:nvPr/>
        </p:nvSpPr>
        <p:spPr>
          <a:xfrm>
            <a:off x="1524000" y="4419600"/>
            <a:ext cx="3556000" cy="304800"/>
          </a:xfrm>
          <a:prstGeom prst="rect">
            <a:avLst/>
          </a:prstGeom>
          <a:noFill/>
          <a:ln/>
        </p:spPr>
        <p:txBody>
          <a:bodyPr wrap="none" lIns="0" tIns="0" rIns="0" bIns="0" rtlCol="0" anchor="ctr"/>
          <a:lstStyle/>
          <a:p>
            <a:pPr algn="l">
              <a:lnSpc>
                <a:spcPct val="120000"/>
              </a:lnSpc>
            </a:pPr>
            <a:r>
              <a:rPr lang="en-US" sz="1600" b="1" dirty="0">
                <a:solidFill>
                  <a:srgbClr val="FFFFFF"/>
                </a:solidFill>
                <a:latin typeface="Liter" pitchFamily="34" charset="0"/>
                <a:ea typeface="Liter" pitchFamily="34" charset="-122"/>
                <a:cs typeface="Liter" pitchFamily="34" charset="-120"/>
              </a:rPr>
              <a:t>Smart Assistant (AI)</a:t>
            </a:r>
            <a:endParaRPr lang="en-US" sz="1600" dirty="0"/>
          </a:p>
        </p:txBody>
      </p:sp>
      <p:sp>
        <p:nvSpPr>
          <p:cNvPr id="24" name="Text 21"/>
          <p:cNvSpPr/>
          <p:nvPr/>
        </p:nvSpPr>
        <p:spPr>
          <a:xfrm>
            <a:off x="1524000" y="4762500"/>
            <a:ext cx="3556000" cy="571500"/>
          </a:xfrm>
          <a:prstGeom prst="rect">
            <a:avLst/>
          </a:prstGeom>
          <a:noFill/>
          <a:ln/>
        </p:spPr>
        <p:txBody>
          <a:bodyPr wrap="square" lIns="0" tIns="0" rIns="0" bIns="0" rtlCol="0" anchor="t"/>
          <a:lstStyle/>
          <a:p>
            <a:pPr algn="l">
              <a:lnSpc>
                <a:spcPct val="140000"/>
              </a:lnSpc>
            </a:pPr>
            <a:r>
              <a:rPr lang="en-US" sz="1300" dirty="0">
                <a:solidFill>
                  <a:srgbClr val="FFFFFF"/>
                </a:solidFill>
                <a:latin typeface="Quattrocento Sans" pitchFamily="34" charset="0"/>
                <a:ea typeface="Quattrocento Sans" pitchFamily="34" charset="-122"/>
                <a:cs typeface="Quattrocento Sans" pitchFamily="34" charset="-120"/>
              </a:rPr>
              <a:t>8-question personalized survey for intelligent recommendations</a:t>
            </a:r>
            <a:endParaRPr lang="en-US" sz="1300" dirty="0"/>
          </a:p>
        </p:txBody>
      </p:sp>
      <p:sp>
        <p:nvSpPr>
          <p:cNvPr id="25" name="Text 22"/>
          <p:cNvSpPr/>
          <p:nvPr/>
        </p:nvSpPr>
        <p:spPr>
          <a:xfrm>
            <a:off x="5842000" y="1460500"/>
            <a:ext cx="5080000" cy="330200"/>
          </a:xfrm>
          <a:prstGeom prst="rect">
            <a:avLst/>
          </a:prstGeom>
          <a:noFill/>
          <a:ln/>
        </p:spPr>
        <p:txBody>
          <a:bodyPr wrap="none" lIns="0" tIns="0" rIns="0" bIns="0" rtlCol="0" anchor="ctr"/>
          <a:lstStyle/>
          <a:p>
            <a:pPr algn="l">
              <a:lnSpc>
                <a:spcPct val="120000"/>
              </a:lnSpc>
            </a:pPr>
            <a:r>
              <a:rPr lang="en-US" sz="1600" b="1" dirty="0">
                <a:solidFill>
                  <a:srgbClr val="D4652A"/>
                </a:solidFill>
                <a:latin typeface="Liter" pitchFamily="34" charset="0"/>
                <a:ea typeface="Liter" pitchFamily="34" charset="-122"/>
                <a:cs typeface="Liter" pitchFamily="34" charset="-120"/>
              </a:rPr>
              <a:t>SMART ASSISTANT SURVEY</a:t>
            </a:r>
            <a:endParaRPr lang="en-US" sz="1600" dirty="0"/>
          </a:p>
        </p:txBody>
      </p:sp>
      <p:sp>
        <p:nvSpPr>
          <p:cNvPr id="26" name="Shape 23"/>
          <p:cNvSpPr/>
          <p:nvPr/>
        </p:nvSpPr>
        <p:spPr>
          <a:xfrm>
            <a:off x="5842000" y="1930400"/>
            <a:ext cx="304800" cy="304800"/>
          </a:xfrm>
          <a:prstGeom prst="ellipse">
            <a:avLst/>
          </a:prstGeom>
          <a:solidFill>
            <a:srgbClr val="D4652A"/>
          </a:solidFill>
          <a:ln/>
        </p:spPr>
        <p:txBody>
          <a:bodyPr/>
          <a:lstStyle/>
          <a:p>
            <a:endParaRPr lang="en-US"/>
          </a:p>
        </p:txBody>
      </p:sp>
      <p:sp>
        <p:nvSpPr>
          <p:cNvPr id="27" name="Text 24"/>
          <p:cNvSpPr/>
          <p:nvPr/>
        </p:nvSpPr>
        <p:spPr>
          <a:xfrm>
            <a:off x="5842000" y="1930400"/>
            <a:ext cx="381000" cy="304800"/>
          </a:xfrm>
          <a:prstGeom prst="rect">
            <a:avLst/>
          </a:prstGeom>
          <a:noFill/>
          <a:ln/>
        </p:spPr>
        <p:txBody>
          <a:bodyPr wrap="none" lIns="0" tIns="0" rIns="0" bIns="0" rtlCol="0" anchor="ctr"/>
          <a:lstStyle/>
          <a:p>
            <a:pPr algn="ctr">
              <a:lnSpc>
                <a:spcPct val="120000"/>
              </a:lnSpc>
            </a:pPr>
            <a:r>
              <a:rPr lang="en-US" sz="1200" dirty="0">
                <a:solidFill>
                  <a:srgbClr val="FFFFFF"/>
                </a:solidFill>
                <a:latin typeface="Liter" pitchFamily="34" charset="0"/>
                <a:ea typeface="Liter" pitchFamily="34" charset="-122"/>
                <a:cs typeface="Liter" pitchFamily="34" charset="-120"/>
              </a:rPr>
              <a:t>1</a:t>
            </a:r>
            <a:endParaRPr lang="en-US" sz="1200" dirty="0"/>
          </a:p>
        </p:txBody>
      </p:sp>
      <p:sp>
        <p:nvSpPr>
          <p:cNvPr id="28" name="Text 25"/>
          <p:cNvSpPr/>
          <p:nvPr/>
        </p:nvSpPr>
        <p:spPr>
          <a:xfrm>
            <a:off x="6248400" y="1905000"/>
            <a:ext cx="2540000" cy="355600"/>
          </a:xfrm>
          <a:prstGeom prst="rect">
            <a:avLst/>
          </a:prstGeom>
          <a:noFill/>
          <a:ln/>
        </p:spPr>
        <p:txBody>
          <a:bodyPr wrap="none" lIns="0" tIns="0" rIns="0" bIns="0" rtlCol="0" anchor="ctr"/>
          <a:lstStyle/>
          <a:p>
            <a:pPr algn="l">
              <a:lnSpc>
                <a:spcPct val="120000"/>
              </a:lnSpc>
            </a:pPr>
            <a:r>
              <a:rPr lang="en-US" sz="1400" dirty="0">
                <a:solidFill>
                  <a:srgbClr val="1E1E1E"/>
                </a:solidFill>
                <a:latin typeface="Quattrocento Sans" pitchFamily="34" charset="0"/>
                <a:ea typeface="Quattrocento Sans" pitchFamily="34" charset="-122"/>
                <a:cs typeface="Quattrocento Sans" pitchFamily="34" charset="-120"/>
              </a:rPr>
              <a:t>Mood preference</a:t>
            </a:r>
            <a:endParaRPr lang="en-US" sz="1400" dirty="0"/>
          </a:p>
        </p:txBody>
      </p:sp>
      <p:sp>
        <p:nvSpPr>
          <p:cNvPr id="29" name="Shape 26"/>
          <p:cNvSpPr/>
          <p:nvPr/>
        </p:nvSpPr>
        <p:spPr>
          <a:xfrm>
            <a:off x="5842000" y="2374900"/>
            <a:ext cx="304800" cy="304800"/>
          </a:xfrm>
          <a:prstGeom prst="ellipse">
            <a:avLst/>
          </a:prstGeom>
          <a:solidFill>
            <a:srgbClr val="D4652A"/>
          </a:solidFill>
          <a:ln/>
        </p:spPr>
        <p:txBody>
          <a:bodyPr/>
          <a:lstStyle/>
          <a:p>
            <a:endParaRPr lang="en-US"/>
          </a:p>
        </p:txBody>
      </p:sp>
      <p:sp>
        <p:nvSpPr>
          <p:cNvPr id="30" name="Text 27"/>
          <p:cNvSpPr/>
          <p:nvPr/>
        </p:nvSpPr>
        <p:spPr>
          <a:xfrm>
            <a:off x="5842000" y="2374900"/>
            <a:ext cx="381000" cy="304800"/>
          </a:xfrm>
          <a:prstGeom prst="rect">
            <a:avLst/>
          </a:prstGeom>
          <a:noFill/>
          <a:ln/>
        </p:spPr>
        <p:txBody>
          <a:bodyPr wrap="none" lIns="0" tIns="0" rIns="0" bIns="0" rtlCol="0" anchor="ctr"/>
          <a:lstStyle/>
          <a:p>
            <a:pPr algn="ctr">
              <a:lnSpc>
                <a:spcPct val="120000"/>
              </a:lnSpc>
            </a:pPr>
            <a:r>
              <a:rPr lang="en-US" sz="1200" dirty="0">
                <a:solidFill>
                  <a:srgbClr val="FFFFFF"/>
                </a:solidFill>
                <a:latin typeface="Liter" pitchFamily="34" charset="0"/>
                <a:ea typeface="Liter" pitchFamily="34" charset="-122"/>
                <a:cs typeface="Liter" pitchFamily="34" charset="-120"/>
              </a:rPr>
              <a:t>2</a:t>
            </a:r>
            <a:endParaRPr lang="en-US" sz="1200" dirty="0"/>
          </a:p>
        </p:txBody>
      </p:sp>
      <p:sp>
        <p:nvSpPr>
          <p:cNvPr id="31" name="Text 28"/>
          <p:cNvSpPr/>
          <p:nvPr/>
        </p:nvSpPr>
        <p:spPr>
          <a:xfrm>
            <a:off x="6248400" y="2349500"/>
            <a:ext cx="2540000" cy="355600"/>
          </a:xfrm>
          <a:prstGeom prst="rect">
            <a:avLst/>
          </a:prstGeom>
          <a:noFill/>
          <a:ln/>
        </p:spPr>
        <p:txBody>
          <a:bodyPr wrap="none" lIns="0" tIns="0" rIns="0" bIns="0" rtlCol="0" anchor="ctr"/>
          <a:lstStyle/>
          <a:p>
            <a:pPr algn="l">
              <a:lnSpc>
                <a:spcPct val="120000"/>
              </a:lnSpc>
            </a:pPr>
            <a:r>
              <a:rPr lang="en-US" sz="1400" dirty="0">
                <a:solidFill>
                  <a:srgbClr val="1E1E1E"/>
                </a:solidFill>
                <a:latin typeface="Quattrocento Sans" pitchFamily="34" charset="0"/>
                <a:ea typeface="Quattrocento Sans" pitchFamily="34" charset="-122"/>
                <a:cs typeface="Quattrocento Sans" pitchFamily="34" charset="-120"/>
              </a:rPr>
              <a:t>Cuisine selection</a:t>
            </a:r>
            <a:endParaRPr lang="en-US" sz="1400" dirty="0"/>
          </a:p>
        </p:txBody>
      </p:sp>
      <p:sp>
        <p:nvSpPr>
          <p:cNvPr id="32" name="Shape 29"/>
          <p:cNvSpPr/>
          <p:nvPr/>
        </p:nvSpPr>
        <p:spPr>
          <a:xfrm>
            <a:off x="5842000" y="2819400"/>
            <a:ext cx="304800" cy="304800"/>
          </a:xfrm>
          <a:prstGeom prst="ellipse">
            <a:avLst/>
          </a:prstGeom>
          <a:solidFill>
            <a:srgbClr val="D4652A"/>
          </a:solidFill>
          <a:ln/>
        </p:spPr>
        <p:txBody>
          <a:bodyPr/>
          <a:lstStyle/>
          <a:p>
            <a:endParaRPr lang="en-US"/>
          </a:p>
        </p:txBody>
      </p:sp>
      <p:sp>
        <p:nvSpPr>
          <p:cNvPr id="33" name="Text 30"/>
          <p:cNvSpPr/>
          <p:nvPr/>
        </p:nvSpPr>
        <p:spPr>
          <a:xfrm>
            <a:off x="5842000" y="2819400"/>
            <a:ext cx="381000" cy="304800"/>
          </a:xfrm>
          <a:prstGeom prst="rect">
            <a:avLst/>
          </a:prstGeom>
          <a:noFill/>
          <a:ln/>
        </p:spPr>
        <p:txBody>
          <a:bodyPr wrap="none" lIns="0" tIns="0" rIns="0" bIns="0" rtlCol="0" anchor="ctr"/>
          <a:lstStyle/>
          <a:p>
            <a:pPr algn="ctr">
              <a:lnSpc>
                <a:spcPct val="120000"/>
              </a:lnSpc>
            </a:pPr>
            <a:r>
              <a:rPr lang="en-US" sz="1200" dirty="0">
                <a:solidFill>
                  <a:srgbClr val="FFFFFF"/>
                </a:solidFill>
                <a:latin typeface="Liter" pitchFamily="34" charset="0"/>
                <a:ea typeface="Liter" pitchFamily="34" charset="-122"/>
                <a:cs typeface="Liter" pitchFamily="34" charset="-120"/>
              </a:rPr>
              <a:t>3</a:t>
            </a:r>
            <a:endParaRPr lang="en-US" sz="1200" dirty="0"/>
          </a:p>
        </p:txBody>
      </p:sp>
      <p:sp>
        <p:nvSpPr>
          <p:cNvPr id="34" name="Text 31"/>
          <p:cNvSpPr/>
          <p:nvPr/>
        </p:nvSpPr>
        <p:spPr>
          <a:xfrm>
            <a:off x="6248400" y="2794000"/>
            <a:ext cx="2540000" cy="355600"/>
          </a:xfrm>
          <a:prstGeom prst="rect">
            <a:avLst/>
          </a:prstGeom>
          <a:noFill/>
          <a:ln/>
        </p:spPr>
        <p:txBody>
          <a:bodyPr wrap="none" lIns="0" tIns="0" rIns="0" bIns="0" rtlCol="0" anchor="ctr"/>
          <a:lstStyle/>
          <a:p>
            <a:pPr algn="l">
              <a:lnSpc>
                <a:spcPct val="120000"/>
              </a:lnSpc>
            </a:pPr>
            <a:r>
              <a:rPr lang="en-US" sz="1400" dirty="0">
                <a:solidFill>
                  <a:srgbClr val="1E1E1E"/>
                </a:solidFill>
                <a:latin typeface="Quattrocento Sans" pitchFamily="34" charset="0"/>
                <a:ea typeface="Quattrocento Sans" pitchFamily="34" charset="-122"/>
                <a:cs typeface="Quattrocento Sans" pitchFamily="34" charset="-120"/>
              </a:rPr>
              <a:t>Budget level</a:t>
            </a:r>
            <a:endParaRPr lang="en-US" sz="1400" dirty="0"/>
          </a:p>
        </p:txBody>
      </p:sp>
      <p:sp>
        <p:nvSpPr>
          <p:cNvPr id="35" name="Shape 32"/>
          <p:cNvSpPr/>
          <p:nvPr/>
        </p:nvSpPr>
        <p:spPr>
          <a:xfrm>
            <a:off x="5842000" y="3263900"/>
            <a:ext cx="304800" cy="304800"/>
          </a:xfrm>
          <a:prstGeom prst="ellipse">
            <a:avLst/>
          </a:prstGeom>
          <a:solidFill>
            <a:srgbClr val="D4652A"/>
          </a:solidFill>
          <a:ln/>
        </p:spPr>
        <p:txBody>
          <a:bodyPr/>
          <a:lstStyle/>
          <a:p>
            <a:endParaRPr lang="en-US"/>
          </a:p>
        </p:txBody>
      </p:sp>
      <p:sp>
        <p:nvSpPr>
          <p:cNvPr id="36" name="Text 33"/>
          <p:cNvSpPr/>
          <p:nvPr/>
        </p:nvSpPr>
        <p:spPr>
          <a:xfrm>
            <a:off x="5842000" y="3263900"/>
            <a:ext cx="381000" cy="304800"/>
          </a:xfrm>
          <a:prstGeom prst="rect">
            <a:avLst/>
          </a:prstGeom>
          <a:noFill/>
          <a:ln/>
        </p:spPr>
        <p:txBody>
          <a:bodyPr wrap="none" lIns="0" tIns="0" rIns="0" bIns="0" rtlCol="0" anchor="ctr"/>
          <a:lstStyle/>
          <a:p>
            <a:pPr algn="ctr">
              <a:lnSpc>
                <a:spcPct val="120000"/>
              </a:lnSpc>
            </a:pPr>
            <a:r>
              <a:rPr lang="en-US" sz="1200" dirty="0">
                <a:solidFill>
                  <a:srgbClr val="FFFFFF"/>
                </a:solidFill>
                <a:latin typeface="Liter" pitchFamily="34" charset="0"/>
                <a:ea typeface="Liter" pitchFamily="34" charset="-122"/>
                <a:cs typeface="Liter" pitchFamily="34" charset="-120"/>
              </a:rPr>
              <a:t>4</a:t>
            </a:r>
            <a:endParaRPr lang="en-US" sz="1200" dirty="0"/>
          </a:p>
        </p:txBody>
      </p:sp>
      <p:sp>
        <p:nvSpPr>
          <p:cNvPr id="37" name="Text 34"/>
          <p:cNvSpPr/>
          <p:nvPr/>
        </p:nvSpPr>
        <p:spPr>
          <a:xfrm>
            <a:off x="6248400" y="3238500"/>
            <a:ext cx="2540000" cy="355600"/>
          </a:xfrm>
          <a:prstGeom prst="rect">
            <a:avLst/>
          </a:prstGeom>
          <a:noFill/>
          <a:ln/>
        </p:spPr>
        <p:txBody>
          <a:bodyPr wrap="none" lIns="0" tIns="0" rIns="0" bIns="0" rtlCol="0" anchor="ctr"/>
          <a:lstStyle/>
          <a:p>
            <a:pPr algn="l">
              <a:lnSpc>
                <a:spcPct val="120000"/>
              </a:lnSpc>
            </a:pPr>
            <a:r>
              <a:rPr lang="en-US" sz="1400" dirty="0">
                <a:solidFill>
                  <a:srgbClr val="1E1E1E"/>
                </a:solidFill>
                <a:latin typeface="Quattrocento Sans" pitchFamily="34" charset="0"/>
                <a:ea typeface="Quattrocento Sans" pitchFamily="34" charset="-122"/>
                <a:cs typeface="Quattrocento Sans" pitchFamily="34" charset="-120"/>
              </a:rPr>
              <a:t>Dietary restrictions</a:t>
            </a:r>
            <a:endParaRPr lang="en-US" sz="1400" dirty="0"/>
          </a:p>
        </p:txBody>
      </p:sp>
      <p:sp>
        <p:nvSpPr>
          <p:cNvPr id="38" name="Shape 35"/>
          <p:cNvSpPr/>
          <p:nvPr/>
        </p:nvSpPr>
        <p:spPr>
          <a:xfrm>
            <a:off x="9144000" y="1930400"/>
            <a:ext cx="304800" cy="304800"/>
          </a:xfrm>
          <a:prstGeom prst="ellipse">
            <a:avLst/>
          </a:prstGeom>
          <a:solidFill>
            <a:srgbClr val="B85C28"/>
          </a:solidFill>
          <a:ln/>
        </p:spPr>
        <p:txBody>
          <a:bodyPr/>
          <a:lstStyle/>
          <a:p>
            <a:endParaRPr lang="en-US"/>
          </a:p>
        </p:txBody>
      </p:sp>
      <p:sp>
        <p:nvSpPr>
          <p:cNvPr id="39" name="Text 36"/>
          <p:cNvSpPr/>
          <p:nvPr/>
        </p:nvSpPr>
        <p:spPr>
          <a:xfrm>
            <a:off x="9144000" y="1930400"/>
            <a:ext cx="381000" cy="304800"/>
          </a:xfrm>
          <a:prstGeom prst="rect">
            <a:avLst/>
          </a:prstGeom>
          <a:noFill/>
          <a:ln/>
        </p:spPr>
        <p:txBody>
          <a:bodyPr wrap="none" lIns="0" tIns="0" rIns="0" bIns="0" rtlCol="0" anchor="ctr"/>
          <a:lstStyle/>
          <a:p>
            <a:pPr algn="ctr">
              <a:lnSpc>
                <a:spcPct val="120000"/>
              </a:lnSpc>
            </a:pPr>
            <a:r>
              <a:rPr lang="en-US" sz="1200" dirty="0">
                <a:solidFill>
                  <a:srgbClr val="FFFFFF"/>
                </a:solidFill>
                <a:latin typeface="Liter" pitchFamily="34" charset="0"/>
                <a:ea typeface="Liter" pitchFamily="34" charset="-122"/>
                <a:cs typeface="Liter" pitchFamily="34" charset="-120"/>
              </a:rPr>
              <a:t>5</a:t>
            </a:r>
            <a:endParaRPr lang="en-US" sz="1200" dirty="0"/>
          </a:p>
        </p:txBody>
      </p:sp>
      <p:sp>
        <p:nvSpPr>
          <p:cNvPr id="40" name="Text 37"/>
          <p:cNvSpPr/>
          <p:nvPr/>
        </p:nvSpPr>
        <p:spPr>
          <a:xfrm>
            <a:off x="9550400" y="1905000"/>
            <a:ext cx="2540000" cy="355600"/>
          </a:xfrm>
          <a:prstGeom prst="rect">
            <a:avLst/>
          </a:prstGeom>
          <a:noFill/>
          <a:ln/>
        </p:spPr>
        <p:txBody>
          <a:bodyPr wrap="none" lIns="0" tIns="0" rIns="0" bIns="0" rtlCol="0" anchor="ctr"/>
          <a:lstStyle/>
          <a:p>
            <a:pPr algn="l">
              <a:lnSpc>
                <a:spcPct val="120000"/>
              </a:lnSpc>
            </a:pPr>
            <a:r>
              <a:rPr lang="en-US" sz="1400" dirty="0">
                <a:solidFill>
                  <a:srgbClr val="1E1E1E"/>
                </a:solidFill>
                <a:latin typeface="Quattrocento Sans" pitchFamily="34" charset="0"/>
                <a:ea typeface="Quattrocento Sans" pitchFamily="34" charset="-122"/>
                <a:cs typeface="Quattrocento Sans" pitchFamily="34" charset="-120"/>
              </a:rPr>
              <a:t>Party size</a:t>
            </a:r>
            <a:endParaRPr lang="en-US" sz="1400" dirty="0"/>
          </a:p>
        </p:txBody>
      </p:sp>
      <p:sp>
        <p:nvSpPr>
          <p:cNvPr id="41" name="Shape 38"/>
          <p:cNvSpPr/>
          <p:nvPr/>
        </p:nvSpPr>
        <p:spPr>
          <a:xfrm>
            <a:off x="9144000" y="2374900"/>
            <a:ext cx="304800" cy="304800"/>
          </a:xfrm>
          <a:prstGeom prst="ellipse">
            <a:avLst/>
          </a:prstGeom>
          <a:solidFill>
            <a:srgbClr val="B85C28"/>
          </a:solidFill>
          <a:ln/>
        </p:spPr>
        <p:txBody>
          <a:bodyPr/>
          <a:lstStyle/>
          <a:p>
            <a:endParaRPr lang="en-US"/>
          </a:p>
        </p:txBody>
      </p:sp>
      <p:sp>
        <p:nvSpPr>
          <p:cNvPr id="42" name="Text 39"/>
          <p:cNvSpPr/>
          <p:nvPr/>
        </p:nvSpPr>
        <p:spPr>
          <a:xfrm>
            <a:off x="9144000" y="2374900"/>
            <a:ext cx="381000" cy="304800"/>
          </a:xfrm>
          <a:prstGeom prst="rect">
            <a:avLst/>
          </a:prstGeom>
          <a:noFill/>
          <a:ln/>
        </p:spPr>
        <p:txBody>
          <a:bodyPr wrap="none" lIns="0" tIns="0" rIns="0" bIns="0" rtlCol="0" anchor="ctr"/>
          <a:lstStyle/>
          <a:p>
            <a:pPr algn="ctr">
              <a:lnSpc>
                <a:spcPct val="120000"/>
              </a:lnSpc>
            </a:pPr>
            <a:r>
              <a:rPr lang="en-US" sz="1200" dirty="0">
                <a:solidFill>
                  <a:srgbClr val="FFFFFF"/>
                </a:solidFill>
                <a:latin typeface="Liter" pitchFamily="34" charset="0"/>
                <a:ea typeface="Liter" pitchFamily="34" charset="-122"/>
                <a:cs typeface="Liter" pitchFamily="34" charset="-120"/>
              </a:rPr>
              <a:t>6</a:t>
            </a:r>
            <a:endParaRPr lang="en-US" sz="1200" dirty="0"/>
          </a:p>
        </p:txBody>
      </p:sp>
      <p:sp>
        <p:nvSpPr>
          <p:cNvPr id="43" name="Text 40"/>
          <p:cNvSpPr/>
          <p:nvPr/>
        </p:nvSpPr>
        <p:spPr>
          <a:xfrm>
            <a:off x="9550400" y="2349500"/>
            <a:ext cx="2540000" cy="355600"/>
          </a:xfrm>
          <a:prstGeom prst="rect">
            <a:avLst/>
          </a:prstGeom>
          <a:noFill/>
          <a:ln/>
        </p:spPr>
        <p:txBody>
          <a:bodyPr wrap="none" lIns="0" tIns="0" rIns="0" bIns="0" rtlCol="0" anchor="ctr"/>
          <a:lstStyle/>
          <a:p>
            <a:pPr algn="l">
              <a:lnSpc>
                <a:spcPct val="120000"/>
              </a:lnSpc>
            </a:pPr>
            <a:r>
              <a:rPr lang="en-US" sz="1400" dirty="0">
                <a:solidFill>
                  <a:srgbClr val="1E1E1E"/>
                </a:solidFill>
                <a:latin typeface="Quattrocento Sans" pitchFamily="34" charset="0"/>
                <a:ea typeface="Quattrocento Sans" pitchFamily="34" charset="-122"/>
                <a:cs typeface="Quattrocento Sans" pitchFamily="34" charset="-120"/>
              </a:rPr>
              <a:t>Physical dimensions</a:t>
            </a:r>
            <a:endParaRPr lang="en-US" sz="1400" dirty="0"/>
          </a:p>
        </p:txBody>
      </p:sp>
      <p:sp>
        <p:nvSpPr>
          <p:cNvPr id="44" name="Shape 41"/>
          <p:cNvSpPr/>
          <p:nvPr/>
        </p:nvSpPr>
        <p:spPr>
          <a:xfrm>
            <a:off x="9144000" y="2819400"/>
            <a:ext cx="304800" cy="304800"/>
          </a:xfrm>
          <a:prstGeom prst="ellipse">
            <a:avLst/>
          </a:prstGeom>
          <a:solidFill>
            <a:srgbClr val="B85C28"/>
          </a:solidFill>
          <a:ln/>
        </p:spPr>
        <p:txBody>
          <a:bodyPr/>
          <a:lstStyle/>
          <a:p>
            <a:endParaRPr lang="en-US"/>
          </a:p>
        </p:txBody>
      </p:sp>
      <p:sp>
        <p:nvSpPr>
          <p:cNvPr id="45" name="Text 42"/>
          <p:cNvSpPr/>
          <p:nvPr/>
        </p:nvSpPr>
        <p:spPr>
          <a:xfrm>
            <a:off x="9144000" y="2819400"/>
            <a:ext cx="381000" cy="304800"/>
          </a:xfrm>
          <a:prstGeom prst="rect">
            <a:avLst/>
          </a:prstGeom>
          <a:noFill/>
          <a:ln/>
        </p:spPr>
        <p:txBody>
          <a:bodyPr wrap="none" lIns="0" tIns="0" rIns="0" bIns="0" rtlCol="0" anchor="ctr"/>
          <a:lstStyle/>
          <a:p>
            <a:pPr algn="ctr">
              <a:lnSpc>
                <a:spcPct val="120000"/>
              </a:lnSpc>
            </a:pPr>
            <a:r>
              <a:rPr lang="en-US" sz="1200" dirty="0">
                <a:solidFill>
                  <a:srgbClr val="FFFFFF"/>
                </a:solidFill>
                <a:latin typeface="Liter" pitchFamily="34" charset="0"/>
                <a:ea typeface="Liter" pitchFamily="34" charset="-122"/>
                <a:cs typeface="Liter" pitchFamily="34" charset="-120"/>
              </a:rPr>
              <a:t>7</a:t>
            </a:r>
            <a:endParaRPr lang="en-US" sz="1200" dirty="0"/>
          </a:p>
        </p:txBody>
      </p:sp>
      <p:sp>
        <p:nvSpPr>
          <p:cNvPr id="46" name="Text 43"/>
          <p:cNvSpPr/>
          <p:nvPr/>
        </p:nvSpPr>
        <p:spPr>
          <a:xfrm>
            <a:off x="9550400" y="2794000"/>
            <a:ext cx="2540000" cy="355600"/>
          </a:xfrm>
          <a:prstGeom prst="rect">
            <a:avLst/>
          </a:prstGeom>
          <a:noFill/>
          <a:ln/>
        </p:spPr>
        <p:txBody>
          <a:bodyPr wrap="none" lIns="0" tIns="0" rIns="0" bIns="0" rtlCol="0" anchor="ctr"/>
          <a:lstStyle/>
          <a:p>
            <a:pPr algn="l">
              <a:lnSpc>
                <a:spcPct val="120000"/>
              </a:lnSpc>
            </a:pPr>
            <a:r>
              <a:rPr lang="en-US" sz="1400" dirty="0">
                <a:solidFill>
                  <a:srgbClr val="1E1E1E"/>
                </a:solidFill>
                <a:latin typeface="Quattrocento Sans" pitchFamily="34" charset="0"/>
                <a:ea typeface="Quattrocento Sans" pitchFamily="34" charset="-122"/>
                <a:cs typeface="Quattrocento Sans" pitchFamily="34" charset="-120"/>
              </a:rPr>
              <a:t>Medical conditions</a:t>
            </a:r>
            <a:endParaRPr lang="en-US" sz="1400" dirty="0"/>
          </a:p>
        </p:txBody>
      </p:sp>
      <p:sp>
        <p:nvSpPr>
          <p:cNvPr id="47" name="Shape 44"/>
          <p:cNvSpPr/>
          <p:nvPr/>
        </p:nvSpPr>
        <p:spPr>
          <a:xfrm>
            <a:off x="9144000" y="3263900"/>
            <a:ext cx="304800" cy="304800"/>
          </a:xfrm>
          <a:prstGeom prst="ellipse">
            <a:avLst/>
          </a:prstGeom>
          <a:solidFill>
            <a:srgbClr val="B85C28"/>
          </a:solidFill>
          <a:ln/>
        </p:spPr>
        <p:txBody>
          <a:bodyPr/>
          <a:lstStyle/>
          <a:p>
            <a:endParaRPr lang="en-US"/>
          </a:p>
        </p:txBody>
      </p:sp>
      <p:sp>
        <p:nvSpPr>
          <p:cNvPr id="48" name="Text 45"/>
          <p:cNvSpPr/>
          <p:nvPr/>
        </p:nvSpPr>
        <p:spPr>
          <a:xfrm>
            <a:off x="9144000" y="3263900"/>
            <a:ext cx="381000" cy="304800"/>
          </a:xfrm>
          <a:prstGeom prst="rect">
            <a:avLst/>
          </a:prstGeom>
          <a:noFill/>
          <a:ln/>
        </p:spPr>
        <p:txBody>
          <a:bodyPr wrap="none" lIns="0" tIns="0" rIns="0" bIns="0" rtlCol="0" anchor="ctr"/>
          <a:lstStyle/>
          <a:p>
            <a:pPr algn="ctr">
              <a:lnSpc>
                <a:spcPct val="120000"/>
              </a:lnSpc>
            </a:pPr>
            <a:r>
              <a:rPr lang="en-US" sz="1200" dirty="0">
                <a:solidFill>
                  <a:srgbClr val="FFFFFF"/>
                </a:solidFill>
                <a:latin typeface="Liter" pitchFamily="34" charset="0"/>
                <a:ea typeface="Liter" pitchFamily="34" charset="-122"/>
                <a:cs typeface="Liter" pitchFamily="34" charset="-120"/>
              </a:rPr>
              <a:t>8</a:t>
            </a:r>
            <a:endParaRPr lang="en-US" sz="1200" dirty="0"/>
          </a:p>
        </p:txBody>
      </p:sp>
      <p:sp>
        <p:nvSpPr>
          <p:cNvPr id="49" name="Text 46"/>
          <p:cNvSpPr/>
          <p:nvPr/>
        </p:nvSpPr>
        <p:spPr>
          <a:xfrm>
            <a:off x="9550400" y="3238500"/>
            <a:ext cx="2540000" cy="355600"/>
          </a:xfrm>
          <a:prstGeom prst="rect">
            <a:avLst/>
          </a:prstGeom>
          <a:noFill/>
          <a:ln/>
        </p:spPr>
        <p:txBody>
          <a:bodyPr wrap="none" lIns="0" tIns="0" rIns="0" bIns="0" rtlCol="0" anchor="ctr"/>
          <a:lstStyle/>
          <a:p>
            <a:pPr algn="l">
              <a:lnSpc>
                <a:spcPct val="120000"/>
              </a:lnSpc>
            </a:pPr>
            <a:r>
              <a:rPr lang="en-US" sz="1400" dirty="0">
                <a:solidFill>
                  <a:srgbClr val="1E1E1E"/>
                </a:solidFill>
                <a:latin typeface="Quattrocento Sans" pitchFamily="34" charset="0"/>
                <a:ea typeface="Quattrocento Sans" pitchFamily="34" charset="-122"/>
                <a:cs typeface="Quattrocento Sans" pitchFamily="34" charset="-120"/>
              </a:rPr>
              <a:t>Seating preferences</a:t>
            </a:r>
            <a:endParaRPr lang="en-US" sz="1400" dirty="0"/>
          </a:p>
        </p:txBody>
      </p:sp>
      <p:sp>
        <p:nvSpPr>
          <p:cNvPr id="50" name="Text 47"/>
          <p:cNvSpPr/>
          <p:nvPr/>
        </p:nvSpPr>
        <p:spPr>
          <a:xfrm>
            <a:off x="5842000" y="3937000"/>
            <a:ext cx="5080000" cy="330200"/>
          </a:xfrm>
          <a:prstGeom prst="rect">
            <a:avLst/>
          </a:prstGeom>
          <a:noFill/>
          <a:ln/>
        </p:spPr>
        <p:txBody>
          <a:bodyPr wrap="none" lIns="0" tIns="0" rIns="0" bIns="0" rtlCol="0" anchor="ctr"/>
          <a:lstStyle/>
          <a:p>
            <a:pPr algn="l">
              <a:lnSpc>
                <a:spcPct val="120000"/>
              </a:lnSpc>
            </a:pPr>
            <a:r>
              <a:rPr lang="en-US" sz="1600" b="1" dirty="0">
                <a:solidFill>
                  <a:srgbClr val="D4652A"/>
                </a:solidFill>
                <a:latin typeface="Liter" pitchFamily="34" charset="0"/>
                <a:ea typeface="Liter" pitchFamily="34" charset="-122"/>
                <a:cs typeface="Liter" pitchFamily="34" charset="-120"/>
              </a:rPr>
              <a:t>RECOMMENDATION FLOW</a:t>
            </a:r>
            <a:endParaRPr lang="en-US" sz="1600" dirty="0"/>
          </a:p>
        </p:txBody>
      </p:sp>
      <p:sp>
        <p:nvSpPr>
          <p:cNvPr id="51" name="Shape 48"/>
          <p:cNvSpPr/>
          <p:nvPr/>
        </p:nvSpPr>
        <p:spPr>
          <a:xfrm>
            <a:off x="5842000" y="4381500"/>
            <a:ext cx="1651000" cy="635000"/>
          </a:xfrm>
          <a:prstGeom prst="roundRect">
            <a:avLst>
              <a:gd name="adj" fmla="val 12000"/>
            </a:avLst>
          </a:prstGeom>
          <a:solidFill>
            <a:srgbClr val="F0EBE6"/>
          </a:solidFill>
          <a:ln w="12700">
            <a:solidFill>
              <a:srgbClr val="D4652A"/>
            </a:solidFill>
            <a:prstDash val="solid"/>
          </a:ln>
        </p:spPr>
        <p:txBody>
          <a:bodyPr/>
          <a:lstStyle/>
          <a:p>
            <a:endParaRPr lang="en-US"/>
          </a:p>
        </p:txBody>
      </p:sp>
      <p:sp>
        <p:nvSpPr>
          <p:cNvPr id="52" name="Text 49"/>
          <p:cNvSpPr/>
          <p:nvPr/>
        </p:nvSpPr>
        <p:spPr>
          <a:xfrm>
            <a:off x="5842000" y="4381500"/>
            <a:ext cx="1651000" cy="635000"/>
          </a:xfrm>
          <a:prstGeom prst="rect">
            <a:avLst/>
          </a:prstGeom>
          <a:noFill/>
          <a:ln/>
        </p:spPr>
        <p:txBody>
          <a:bodyPr wrap="none" lIns="0" tIns="0" rIns="0" bIns="0" rtlCol="0" anchor="ctr"/>
          <a:lstStyle/>
          <a:p>
            <a:pPr algn="ctr">
              <a:lnSpc>
                <a:spcPct val="120000"/>
              </a:lnSpc>
            </a:pPr>
            <a:r>
              <a:rPr lang="en-US" sz="1200" dirty="0">
                <a:solidFill>
                  <a:srgbClr val="1E1E1E"/>
                </a:solidFill>
                <a:latin typeface="Quattrocento Sans" pitchFamily="34" charset="0"/>
                <a:ea typeface="Quattrocento Sans" pitchFamily="34" charset="-122"/>
                <a:cs typeface="Quattrocento Sans" pitchFamily="34" charset="-120"/>
              </a:rPr>
              <a:t>User Answers</a:t>
            </a:r>
            <a:endParaRPr lang="en-US" sz="1200" dirty="0"/>
          </a:p>
        </p:txBody>
      </p:sp>
      <p:sp>
        <p:nvSpPr>
          <p:cNvPr id="53" name="Shape 50"/>
          <p:cNvSpPr/>
          <p:nvPr/>
        </p:nvSpPr>
        <p:spPr>
          <a:xfrm>
            <a:off x="7620000" y="4635500"/>
            <a:ext cx="508000" cy="0"/>
          </a:xfrm>
          <a:prstGeom prst="straightConnector1">
            <a:avLst/>
          </a:prstGeom>
          <a:noFill/>
          <a:ln w="12700">
            <a:solidFill>
              <a:srgbClr val="D4652A"/>
            </a:solidFill>
            <a:prstDash val="solid"/>
            <a:headEnd type="none"/>
            <a:tailEnd type="arrow"/>
          </a:ln>
        </p:spPr>
        <p:txBody>
          <a:bodyPr/>
          <a:lstStyle/>
          <a:p>
            <a:endParaRPr lang="en-US"/>
          </a:p>
        </p:txBody>
      </p:sp>
      <p:sp>
        <p:nvSpPr>
          <p:cNvPr id="54" name="Shape 51"/>
          <p:cNvSpPr/>
          <p:nvPr/>
        </p:nvSpPr>
        <p:spPr>
          <a:xfrm>
            <a:off x="8255000" y="4381500"/>
            <a:ext cx="1651000" cy="635000"/>
          </a:xfrm>
          <a:prstGeom prst="roundRect">
            <a:avLst>
              <a:gd name="adj" fmla="val 12000"/>
            </a:avLst>
          </a:prstGeom>
          <a:solidFill>
            <a:srgbClr val="F0EBE6"/>
          </a:solidFill>
          <a:ln w="12700">
            <a:solidFill>
              <a:srgbClr val="D4652A"/>
            </a:solidFill>
            <a:prstDash val="solid"/>
          </a:ln>
        </p:spPr>
        <p:txBody>
          <a:bodyPr/>
          <a:lstStyle/>
          <a:p>
            <a:endParaRPr lang="en-US"/>
          </a:p>
        </p:txBody>
      </p:sp>
      <p:sp>
        <p:nvSpPr>
          <p:cNvPr id="55" name="Text 52"/>
          <p:cNvSpPr/>
          <p:nvPr/>
        </p:nvSpPr>
        <p:spPr>
          <a:xfrm>
            <a:off x="8255000" y="4381500"/>
            <a:ext cx="1651000" cy="635000"/>
          </a:xfrm>
          <a:prstGeom prst="rect">
            <a:avLst/>
          </a:prstGeom>
          <a:noFill/>
          <a:ln/>
        </p:spPr>
        <p:txBody>
          <a:bodyPr wrap="none" lIns="0" tIns="0" rIns="0" bIns="0" rtlCol="0" anchor="ctr"/>
          <a:lstStyle/>
          <a:p>
            <a:pPr algn="ctr">
              <a:lnSpc>
                <a:spcPct val="120000"/>
              </a:lnSpc>
            </a:pPr>
            <a:r>
              <a:rPr lang="en-US" sz="1200" dirty="0">
                <a:solidFill>
                  <a:srgbClr val="1E1E1E"/>
                </a:solidFill>
                <a:latin typeface="Quattrocento Sans" pitchFamily="34" charset="0"/>
                <a:ea typeface="Quattrocento Sans" pitchFamily="34" charset="-122"/>
                <a:cs typeface="Quattrocento Sans" pitchFamily="34" charset="-120"/>
              </a:rPr>
              <a:t>AI Mapping</a:t>
            </a:r>
            <a:endParaRPr lang="en-US" sz="1200" dirty="0"/>
          </a:p>
        </p:txBody>
      </p:sp>
      <p:sp>
        <p:nvSpPr>
          <p:cNvPr id="56" name="Shape 53"/>
          <p:cNvSpPr/>
          <p:nvPr/>
        </p:nvSpPr>
        <p:spPr>
          <a:xfrm>
            <a:off x="10033000" y="4635500"/>
            <a:ext cx="508000" cy="0"/>
          </a:xfrm>
          <a:prstGeom prst="straightConnector1">
            <a:avLst/>
          </a:prstGeom>
          <a:noFill/>
          <a:ln w="12700">
            <a:solidFill>
              <a:srgbClr val="D4652A"/>
            </a:solidFill>
            <a:prstDash val="solid"/>
            <a:headEnd type="none"/>
            <a:tailEnd type="arrow"/>
          </a:ln>
        </p:spPr>
        <p:txBody>
          <a:bodyPr/>
          <a:lstStyle/>
          <a:p>
            <a:endParaRPr lang="en-US"/>
          </a:p>
        </p:txBody>
      </p:sp>
      <p:sp>
        <p:nvSpPr>
          <p:cNvPr id="57" name="Shape 54"/>
          <p:cNvSpPr/>
          <p:nvPr/>
        </p:nvSpPr>
        <p:spPr>
          <a:xfrm>
            <a:off x="10668000" y="4381500"/>
            <a:ext cx="1651000" cy="635000"/>
          </a:xfrm>
          <a:prstGeom prst="roundRect">
            <a:avLst>
              <a:gd name="adj" fmla="val 12000"/>
            </a:avLst>
          </a:prstGeom>
          <a:solidFill>
            <a:srgbClr val="F0EBE6"/>
          </a:solidFill>
          <a:ln w="12700">
            <a:solidFill>
              <a:srgbClr val="D4652A"/>
            </a:solidFill>
            <a:prstDash val="solid"/>
          </a:ln>
        </p:spPr>
        <p:txBody>
          <a:bodyPr/>
          <a:lstStyle/>
          <a:p>
            <a:endParaRPr lang="en-US"/>
          </a:p>
        </p:txBody>
      </p:sp>
      <p:sp>
        <p:nvSpPr>
          <p:cNvPr id="58" name="Text 55"/>
          <p:cNvSpPr/>
          <p:nvPr/>
        </p:nvSpPr>
        <p:spPr>
          <a:xfrm>
            <a:off x="10668000" y="4381500"/>
            <a:ext cx="1651000" cy="635000"/>
          </a:xfrm>
          <a:prstGeom prst="rect">
            <a:avLst/>
          </a:prstGeom>
          <a:noFill/>
          <a:ln/>
        </p:spPr>
        <p:txBody>
          <a:bodyPr wrap="none" lIns="0" tIns="0" rIns="0" bIns="0" rtlCol="0" anchor="ctr"/>
          <a:lstStyle/>
          <a:p>
            <a:pPr algn="ctr">
              <a:lnSpc>
                <a:spcPct val="120000"/>
              </a:lnSpc>
            </a:pPr>
            <a:r>
              <a:rPr lang="en-US" sz="1200" dirty="0">
                <a:solidFill>
                  <a:srgbClr val="1E1E1E"/>
                </a:solidFill>
                <a:latin typeface="Quattrocento Sans" pitchFamily="34" charset="0"/>
                <a:ea typeface="Quattrocento Sans" pitchFamily="34" charset="-122"/>
                <a:cs typeface="Quattrocento Sans" pitchFamily="34" charset="-120"/>
              </a:rPr>
              <a:t>Yelp Filter</a:t>
            </a:r>
            <a:endParaRPr lang="en-US" sz="1200" dirty="0"/>
          </a:p>
        </p:txBody>
      </p:sp>
      <p:sp>
        <p:nvSpPr>
          <p:cNvPr id="59" name="Shape 56"/>
          <p:cNvSpPr/>
          <p:nvPr/>
        </p:nvSpPr>
        <p:spPr>
          <a:xfrm>
            <a:off x="12446000" y="4635500"/>
            <a:ext cx="508000" cy="0"/>
          </a:xfrm>
          <a:prstGeom prst="straightConnector1">
            <a:avLst/>
          </a:prstGeom>
          <a:noFill/>
          <a:ln w="12700">
            <a:solidFill>
              <a:srgbClr val="D4652A"/>
            </a:solidFill>
            <a:prstDash val="solid"/>
            <a:headEnd type="none"/>
            <a:tailEnd type="arrow"/>
          </a:ln>
        </p:spPr>
        <p:txBody>
          <a:bodyPr/>
          <a:lstStyle/>
          <a:p>
            <a:endParaRPr lang="en-US"/>
          </a:p>
        </p:txBody>
      </p:sp>
      <p:sp>
        <p:nvSpPr>
          <p:cNvPr id="60" name="Shape 57"/>
          <p:cNvSpPr/>
          <p:nvPr/>
        </p:nvSpPr>
        <p:spPr>
          <a:xfrm>
            <a:off x="13081000" y="4381500"/>
            <a:ext cx="1651000" cy="635000"/>
          </a:xfrm>
          <a:prstGeom prst="roundRect">
            <a:avLst>
              <a:gd name="adj" fmla="val 12000"/>
            </a:avLst>
          </a:prstGeom>
          <a:solidFill>
            <a:srgbClr val="D4652A"/>
          </a:solidFill>
          <a:ln/>
        </p:spPr>
        <p:txBody>
          <a:bodyPr/>
          <a:lstStyle/>
          <a:p>
            <a:endParaRPr lang="en-US"/>
          </a:p>
        </p:txBody>
      </p:sp>
      <p:sp>
        <p:nvSpPr>
          <p:cNvPr id="61" name="Text 58"/>
          <p:cNvSpPr/>
          <p:nvPr/>
        </p:nvSpPr>
        <p:spPr>
          <a:xfrm>
            <a:off x="13081000" y="4381500"/>
            <a:ext cx="1651000" cy="635000"/>
          </a:xfrm>
          <a:prstGeom prst="rect">
            <a:avLst/>
          </a:prstGeom>
          <a:noFill/>
          <a:ln/>
        </p:spPr>
        <p:txBody>
          <a:bodyPr wrap="none" lIns="0" tIns="0" rIns="0" bIns="0" rtlCol="0" anchor="ctr"/>
          <a:lstStyle/>
          <a:p>
            <a:pPr algn="ctr">
              <a:lnSpc>
                <a:spcPct val="120000"/>
              </a:lnSpc>
            </a:pPr>
            <a:r>
              <a:rPr lang="en-US" sz="1200" dirty="0">
                <a:solidFill>
                  <a:srgbClr val="FFFFFF"/>
                </a:solidFill>
                <a:latin typeface="Quattrocento Sans" pitchFamily="34" charset="0"/>
                <a:ea typeface="Quattrocento Sans" pitchFamily="34" charset="-122"/>
                <a:cs typeface="Quattrocento Sans" pitchFamily="34" charset="-120"/>
              </a:rPr>
              <a:t>Results</a:t>
            </a:r>
            <a:endParaRPr lang="en-US" sz="1200" dirty="0"/>
          </a:p>
        </p:txBody>
      </p:sp>
      <p:sp>
        <p:nvSpPr>
          <p:cNvPr id="62" name="Shape 59"/>
          <p:cNvSpPr/>
          <p:nvPr/>
        </p:nvSpPr>
        <p:spPr>
          <a:xfrm>
            <a:off x="5842000" y="5334000"/>
            <a:ext cx="9652000" cy="1524000"/>
          </a:xfrm>
          <a:prstGeom prst="roundRect">
            <a:avLst>
              <a:gd name="adj" fmla="val 6000"/>
            </a:avLst>
          </a:prstGeom>
          <a:solidFill>
            <a:srgbClr val="F0EBE6"/>
          </a:solidFill>
          <a:ln/>
        </p:spPr>
        <p:txBody>
          <a:bodyPr/>
          <a:lstStyle/>
          <a:p>
            <a:endParaRPr lang="en-US"/>
          </a:p>
        </p:txBody>
      </p:sp>
      <p:sp>
        <p:nvSpPr>
          <p:cNvPr id="63" name="Shape 60"/>
          <p:cNvSpPr/>
          <p:nvPr/>
        </p:nvSpPr>
        <p:spPr>
          <a:xfrm>
            <a:off x="6096000" y="5651500"/>
            <a:ext cx="457200" cy="457200"/>
          </a:xfrm>
          <a:custGeom>
            <a:avLst/>
            <a:gdLst/>
            <a:ahLst/>
            <a:cxnLst/>
            <a:rect l="l" t="t" r="r" b="b"/>
            <a:pathLst>
              <a:path w="457200" h="457200">
                <a:moveTo>
                  <a:pt x="348734" y="342900"/>
                </a:moveTo>
                <a:cubicBezTo>
                  <a:pt x="357426" y="322987"/>
                  <a:pt x="374809" y="304949"/>
                  <a:pt x="394454" y="289411"/>
                </a:cubicBezTo>
                <a:cubicBezTo>
                  <a:pt x="433387" y="258693"/>
                  <a:pt x="457200" y="217170"/>
                  <a:pt x="457200" y="171450"/>
                </a:cubicBezTo>
                <a:cubicBezTo>
                  <a:pt x="457200" y="76795"/>
                  <a:pt x="354806" y="0"/>
                  <a:pt x="228600" y="0"/>
                </a:cubicBezTo>
                <a:cubicBezTo>
                  <a:pt x="102394" y="0"/>
                  <a:pt x="0" y="76795"/>
                  <a:pt x="0" y="171450"/>
                </a:cubicBezTo>
                <a:cubicBezTo>
                  <a:pt x="0" y="217170"/>
                  <a:pt x="23813" y="258693"/>
                  <a:pt x="62746" y="289411"/>
                </a:cubicBezTo>
                <a:cubicBezTo>
                  <a:pt x="82391" y="304949"/>
                  <a:pt x="99893" y="322987"/>
                  <a:pt x="108466" y="342900"/>
                </a:cubicBezTo>
                <a:lnTo>
                  <a:pt x="348615" y="342900"/>
                </a:lnTo>
                <a:close/>
                <a:moveTo>
                  <a:pt x="342900" y="385763"/>
                </a:moveTo>
                <a:lnTo>
                  <a:pt x="114300" y="385763"/>
                </a:lnTo>
                <a:lnTo>
                  <a:pt x="114300" y="400050"/>
                </a:lnTo>
                <a:cubicBezTo>
                  <a:pt x="114300" y="439519"/>
                  <a:pt x="156924" y="471488"/>
                  <a:pt x="209550" y="471488"/>
                </a:cubicBezTo>
                <a:lnTo>
                  <a:pt x="247650" y="471488"/>
                </a:lnTo>
                <a:cubicBezTo>
                  <a:pt x="300276" y="471488"/>
                  <a:pt x="342900" y="439519"/>
                  <a:pt x="342900" y="400050"/>
                </a:cubicBezTo>
                <a:lnTo>
                  <a:pt x="342900" y="385763"/>
                </a:lnTo>
                <a:close/>
                <a:moveTo>
                  <a:pt x="219075" y="100013"/>
                </a:moveTo>
                <a:cubicBezTo>
                  <a:pt x="171688" y="100013"/>
                  <a:pt x="133350" y="128766"/>
                  <a:pt x="133350" y="164306"/>
                </a:cubicBezTo>
                <a:cubicBezTo>
                  <a:pt x="133350" y="176183"/>
                  <a:pt x="120610" y="185738"/>
                  <a:pt x="104775" y="185738"/>
                </a:cubicBezTo>
                <a:cubicBezTo>
                  <a:pt x="88940" y="185738"/>
                  <a:pt x="76200" y="176183"/>
                  <a:pt x="76200" y="164306"/>
                </a:cubicBezTo>
                <a:cubicBezTo>
                  <a:pt x="76200" y="105102"/>
                  <a:pt x="140137" y="57150"/>
                  <a:pt x="219075" y="57150"/>
                </a:cubicBezTo>
                <a:cubicBezTo>
                  <a:pt x="234910" y="57150"/>
                  <a:pt x="247650" y="66705"/>
                  <a:pt x="247650" y="78581"/>
                </a:cubicBezTo>
                <a:cubicBezTo>
                  <a:pt x="247650" y="90458"/>
                  <a:pt x="234910" y="100013"/>
                  <a:pt x="219075" y="100013"/>
                </a:cubicBezTo>
                <a:close/>
              </a:path>
            </a:pathLst>
          </a:custGeom>
          <a:solidFill>
            <a:srgbClr val="B85C28"/>
          </a:solidFill>
          <a:ln/>
        </p:spPr>
        <p:txBody>
          <a:bodyPr/>
          <a:lstStyle/>
          <a:p>
            <a:endParaRPr lang="en-US"/>
          </a:p>
        </p:txBody>
      </p:sp>
      <p:sp>
        <p:nvSpPr>
          <p:cNvPr id="64" name="Text 61"/>
          <p:cNvSpPr/>
          <p:nvPr/>
        </p:nvSpPr>
        <p:spPr>
          <a:xfrm>
            <a:off x="6731000" y="5524500"/>
            <a:ext cx="5080000" cy="330200"/>
          </a:xfrm>
          <a:prstGeom prst="rect">
            <a:avLst/>
          </a:prstGeom>
          <a:noFill/>
          <a:ln/>
        </p:spPr>
        <p:txBody>
          <a:bodyPr wrap="none" lIns="0" tIns="0" rIns="0" bIns="0" rtlCol="0" anchor="ctr"/>
          <a:lstStyle/>
          <a:p>
            <a:pPr algn="l">
              <a:lnSpc>
                <a:spcPct val="120000"/>
              </a:lnSpc>
            </a:pPr>
            <a:r>
              <a:rPr lang="en-US" sz="1600" b="1" dirty="0">
                <a:solidFill>
                  <a:srgbClr val="1E1E1E"/>
                </a:solidFill>
                <a:latin typeface="Liter" pitchFamily="34" charset="0"/>
                <a:ea typeface="Liter" pitchFamily="34" charset="-122"/>
                <a:cs typeface="Liter" pitchFamily="34" charset="-120"/>
              </a:rPr>
              <a:t>Example Recommendation Logic</a:t>
            </a:r>
            <a:endParaRPr lang="en-US" sz="1600" dirty="0"/>
          </a:p>
        </p:txBody>
      </p:sp>
      <p:sp>
        <p:nvSpPr>
          <p:cNvPr id="65" name="Text 62"/>
          <p:cNvSpPr/>
          <p:nvPr/>
        </p:nvSpPr>
        <p:spPr>
          <a:xfrm>
            <a:off x="6731000" y="5905500"/>
            <a:ext cx="8509000" cy="762000"/>
          </a:xfrm>
          <a:prstGeom prst="rect">
            <a:avLst/>
          </a:prstGeom>
          <a:noFill/>
          <a:ln/>
        </p:spPr>
        <p:txBody>
          <a:bodyPr wrap="square" lIns="0" tIns="0" rIns="0" bIns="0" rtlCol="0" anchor="t"/>
          <a:lstStyle/>
          <a:p>
            <a:pPr algn="l">
              <a:lnSpc>
                <a:spcPct val="150000"/>
              </a:lnSpc>
            </a:pPr>
            <a:r>
              <a:rPr lang="en-US" sz="1400" dirty="0">
                <a:solidFill>
                  <a:srgbClr val="5C5C5C"/>
                </a:solidFill>
                <a:latin typeface="Quattrocento Sans" pitchFamily="34" charset="0"/>
                <a:ea typeface="Quattrocento Sans" pitchFamily="34" charset="-122"/>
                <a:cs typeface="Quattrocento Sans" pitchFamily="34" charset="-120"/>
              </a:rPr>
              <a:t>"Date night + Italian + Premium budget + Vegan" → Upscale Italian restaurants with excellent vegan options, romantic ambiance, and high ratings</a:t>
            </a:r>
            <a:endParaRPr lang="en-US" sz="1400" dirty="0"/>
          </a:p>
        </p:txBody>
      </p:sp>
      <p:sp>
        <p:nvSpPr>
          <p:cNvPr id="66" name="Text 63"/>
          <p:cNvSpPr/>
          <p:nvPr/>
        </p:nvSpPr>
        <p:spPr>
          <a:xfrm>
            <a:off x="762000" y="5588000"/>
            <a:ext cx="2540000" cy="279400"/>
          </a:xfrm>
          <a:prstGeom prst="rect">
            <a:avLst/>
          </a:prstGeom>
          <a:noFill/>
          <a:ln/>
        </p:spPr>
        <p:txBody>
          <a:bodyPr wrap="none" lIns="0" tIns="0" rIns="0" bIns="0" rtlCol="0" anchor="ctr"/>
          <a:lstStyle/>
          <a:p>
            <a:pPr algn="l">
              <a:lnSpc>
                <a:spcPct val="120000"/>
              </a:lnSpc>
            </a:pPr>
            <a:r>
              <a:rPr lang="en-US" sz="1400" b="1" dirty="0">
                <a:solidFill>
                  <a:srgbClr val="D4652A"/>
                </a:solidFill>
                <a:latin typeface="Liter" pitchFamily="34" charset="0"/>
                <a:ea typeface="Liter" pitchFamily="34" charset="-122"/>
                <a:cs typeface="Liter" pitchFamily="34" charset="-120"/>
              </a:rPr>
              <a:t>9 CUISINES</a:t>
            </a:r>
            <a:endParaRPr lang="en-US" sz="1400" dirty="0"/>
          </a:p>
        </p:txBody>
      </p:sp>
      <p:sp>
        <p:nvSpPr>
          <p:cNvPr id="67" name="Text 64"/>
          <p:cNvSpPr/>
          <p:nvPr/>
        </p:nvSpPr>
        <p:spPr>
          <a:xfrm>
            <a:off x="762000" y="5969000"/>
            <a:ext cx="4699000" cy="889000"/>
          </a:xfrm>
          <a:prstGeom prst="rect">
            <a:avLst/>
          </a:prstGeom>
          <a:noFill/>
          <a:ln/>
        </p:spPr>
        <p:txBody>
          <a:bodyPr wrap="square" lIns="0" tIns="0" rIns="0" bIns="0" rtlCol="0" anchor="t"/>
          <a:lstStyle/>
          <a:p>
            <a:pPr algn="l">
              <a:lnSpc>
                <a:spcPct val="160000"/>
              </a:lnSpc>
            </a:pPr>
            <a:r>
              <a:rPr lang="en-US" sz="1300" dirty="0">
                <a:solidFill>
                  <a:srgbClr val="5C5C5C"/>
                </a:solidFill>
                <a:latin typeface="Quattrocento Sans" pitchFamily="34" charset="0"/>
                <a:ea typeface="Quattrocento Sans" pitchFamily="34" charset="-122"/>
                <a:cs typeface="Quattrocento Sans" pitchFamily="34" charset="-120"/>
              </a:rPr>
              <a:t>Italian  •  Japanese  •  Mexican  •  Indian</a:t>
            </a:r>
            <a:endParaRPr lang="en-US" sz="1300" dirty="0"/>
          </a:p>
          <a:p>
            <a:pPr algn="l">
              <a:lnSpc>
                <a:spcPct val="160000"/>
              </a:lnSpc>
            </a:pPr>
            <a:r>
              <a:rPr lang="en-US" sz="1300" dirty="0">
                <a:solidFill>
                  <a:srgbClr val="5C5C5C"/>
                </a:solidFill>
                <a:latin typeface="Quattrocento Sans" pitchFamily="34" charset="0"/>
                <a:ea typeface="Quattrocento Sans" pitchFamily="34" charset="-122"/>
                <a:cs typeface="Quattrocento Sans" pitchFamily="34" charset="-120"/>
              </a:rPr>
              <a:t>Chinese  •  American  •  Seafood  •  French</a:t>
            </a:r>
            <a:endParaRPr lang="en-US" sz="1300" dirty="0"/>
          </a:p>
        </p:txBody>
      </p:sp>
      <p:sp>
        <p:nvSpPr>
          <p:cNvPr id="68" name="Text 65"/>
          <p:cNvSpPr/>
          <p:nvPr/>
        </p:nvSpPr>
        <p:spPr>
          <a:xfrm>
            <a:off x="762000" y="8763000"/>
            <a:ext cx="5080000" cy="254000"/>
          </a:xfrm>
          <a:prstGeom prst="rect">
            <a:avLst/>
          </a:prstGeom>
          <a:noFill/>
          <a:ln/>
        </p:spPr>
        <p:txBody>
          <a:bodyPr wrap="none" lIns="0" tIns="0" rIns="0" bIns="0" rtlCol="0" anchor="ctr"/>
          <a:lstStyle/>
          <a:p>
            <a:pPr algn="l">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Restaurant Finder | Graduation Project Defense</a:t>
            </a:r>
            <a:endParaRPr lang="en-US" sz="1200" dirty="0"/>
          </a:p>
        </p:txBody>
      </p:sp>
      <p:sp>
        <p:nvSpPr>
          <p:cNvPr id="69" name="Text 66"/>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06 / 12</a:t>
            </a:r>
            <a:endParaRPr lang="en-US" sz="12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2D2D2D"/>
          </a:solidFill>
          <a:ln/>
        </p:spPr>
        <p:txBody>
          <a:bodyPr/>
          <a:lstStyle/>
          <a:p>
            <a:endParaRPr lang="en-US"/>
          </a:p>
        </p:txBody>
      </p:sp>
      <p:sp>
        <p:nvSpPr>
          <p:cNvPr id="4" name="Text 1"/>
          <p:cNvSpPr/>
          <p:nvPr/>
        </p:nvSpPr>
        <p:spPr>
          <a:xfrm>
            <a:off x="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PROBLEM</a:t>
            </a:r>
            <a:endParaRPr lang="en-US" sz="1100" dirty="0"/>
          </a:p>
        </p:txBody>
      </p:sp>
      <p:sp>
        <p:nvSpPr>
          <p:cNvPr id="5" name="Text 2"/>
          <p:cNvSpPr/>
          <p:nvPr/>
        </p:nvSpPr>
        <p:spPr>
          <a:xfrm>
            <a:off x="32512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SOLUTION</a:t>
            </a:r>
            <a:endParaRPr lang="en-US" sz="1100" dirty="0"/>
          </a:p>
        </p:txBody>
      </p:sp>
      <p:sp>
        <p:nvSpPr>
          <p:cNvPr id="6" name="Text 3"/>
          <p:cNvSpPr/>
          <p:nvPr/>
        </p:nvSpPr>
        <p:spPr>
          <a:xfrm>
            <a:off x="65024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TECH STACK</a:t>
            </a:r>
            <a:endParaRPr lang="en-US" sz="1100" dirty="0"/>
          </a:p>
        </p:txBody>
      </p:sp>
      <p:sp>
        <p:nvSpPr>
          <p:cNvPr id="7" name="Text 4"/>
          <p:cNvSpPr/>
          <p:nvPr/>
        </p:nvSpPr>
        <p:spPr>
          <a:xfrm>
            <a:off x="9753600" y="0"/>
            <a:ext cx="3251200" cy="406400"/>
          </a:xfrm>
          <a:prstGeom prst="rect">
            <a:avLst/>
          </a:prstGeom>
          <a:noFill/>
          <a:ln/>
        </p:spPr>
        <p:txBody>
          <a:bodyPr wrap="none" lIns="0" tIns="0" rIns="0" bIns="0" rtlCol="0" anchor="ctr"/>
          <a:lstStyle/>
          <a:p>
            <a:pPr algn="ctr">
              <a:lnSpc>
                <a:spcPct val="120000"/>
              </a:lnSpc>
            </a:pPr>
            <a:r>
              <a:rPr lang="en-US" sz="1100" b="1" dirty="0">
                <a:solidFill>
                  <a:srgbClr val="D4652A"/>
                </a:solidFill>
                <a:latin typeface="Quattrocento Sans" pitchFamily="34" charset="0"/>
                <a:ea typeface="Quattrocento Sans" pitchFamily="34" charset="-122"/>
                <a:cs typeface="Quattrocento Sans" pitchFamily="34" charset="-120"/>
              </a:rPr>
              <a:t>FEATURES</a:t>
            </a:r>
            <a:endParaRPr lang="en-US" sz="1100" dirty="0"/>
          </a:p>
        </p:txBody>
      </p:sp>
      <p:sp>
        <p:nvSpPr>
          <p:cNvPr id="8" name="Shape 5"/>
          <p:cNvSpPr/>
          <p:nvPr/>
        </p:nvSpPr>
        <p:spPr>
          <a:xfrm>
            <a:off x="10744200" y="419100"/>
            <a:ext cx="1270000" cy="38100"/>
          </a:xfrm>
          <a:prstGeom prst="rect">
            <a:avLst/>
          </a:prstGeom>
          <a:solidFill>
            <a:srgbClr val="D4652A"/>
          </a:solidFill>
          <a:ln/>
        </p:spPr>
        <p:txBody>
          <a:bodyPr/>
          <a:lstStyle/>
          <a:p>
            <a:endParaRPr lang="en-US"/>
          </a:p>
        </p:txBody>
      </p:sp>
      <p:sp>
        <p:nvSpPr>
          <p:cNvPr id="9" name="Text 6"/>
          <p:cNvSpPr/>
          <p:nvPr/>
        </p:nvSpPr>
        <p:spPr>
          <a:xfrm>
            <a:off x="130048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ARCHITECTURE</a:t>
            </a:r>
            <a:endParaRPr lang="en-US" sz="1100" dirty="0"/>
          </a:p>
        </p:txBody>
      </p:sp>
      <p:sp>
        <p:nvSpPr>
          <p:cNvPr id="10" name="Text 7"/>
          <p:cNvSpPr/>
          <p:nvPr/>
        </p:nvSpPr>
        <p:spPr>
          <a:xfrm>
            <a:off x="762000" y="660400"/>
            <a:ext cx="11430000" cy="508000"/>
          </a:xfrm>
          <a:prstGeom prst="rect">
            <a:avLst/>
          </a:prstGeom>
          <a:noFill/>
          <a:ln/>
        </p:spPr>
        <p:txBody>
          <a:bodyPr wrap="none" lIns="0" tIns="0" rIns="0" bIns="0" rtlCol="0" anchor="ctr"/>
          <a:lstStyle/>
          <a:p>
            <a:pPr algn="l">
              <a:lnSpc>
                <a:spcPct val="130000"/>
              </a:lnSpc>
            </a:pPr>
            <a:r>
              <a:rPr lang="en-US" sz="2800" dirty="0">
                <a:solidFill>
                  <a:srgbClr val="1E1E1E"/>
                </a:solidFill>
                <a:latin typeface="Liter" pitchFamily="34" charset="0"/>
                <a:ea typeface="Liter" pitchFamily="34" charset="-122"/>
                <a:cs typeface="Liter" pitchFamily="34" charset="-120"/>
              </a:rPr>
              <a:t>Core Features: Details, Profiles &amp; Admin</a:t>
            </a:r>
            <a:endParaRPr lang="en-US" sz="2800" dirty="0"/>
          </a:p>
        </p:txBody>
      </p:sp>
      <p:sp>
        <p:nvSpPr>
          <p:cNvPr id="11" name="Shape 8"/>
          <p:cNvSpPr/>
          <p:nvPr/>
        </p:nvSpPr>
        <p:spPr>
          <a:xfrm>
            <a:off x="762000" y="1219200"/>
            <a:ext cx="1016000" cy="38100"/>
          </a:xfrm>
          <a:prstGeom prst="rect">
            <a:avLst/>
          </a:prstGeom>
          <a:solidFill>
            <a:srgbClr val="D4652A"/>
          </a:solidFill>
          <a:ln/>
        </p:spPr>
        <p:txBody>
          <a:bodyPr/>
          <a:lstStyle/>
          <a:p>
            <a:endParaRPr lang="en-US"/>
          </a:p>
        </p:txBody>
      </p:sp>
      <p:sp>
        <p:nvSpPr>
          <p:cNvPr id="12" name="Shape 9"/>
          <p:cNvSpPr/>
          <p:nvPr/>
        </p:nvSpPr>
        <p:spPr>
          <a:xfrm>
            <a:off x="762000" y="1460500"/>
            <a:ext cx="4699000" cy="457200"/>
          </a:xfrm>
          <a:prstGeom prst="roundRect">
            <a:avLst>
              <a:gd name="adj" fmla="val 8000"/>
            </a:avLst>
          </a:prstGeom>
          <a:solidFill>
            <a:srgbClr val="D4652A"/>
          </a:solidFill>
          <a:ln/>
        </p:spPr>
        <p:txBody>
          <a:bodyPr/>
          <a:lstStyle/>
          <a:p>
            <a:endParaRPr lang="en-US"/>
          </a:p>
        </p:txBody>
      </p:sp>
      <p:sp>
        <p:nvSpPr>
          <p:cNvPr id="13" name="Text 10"/>
          <p:cNvSpPr/>
          <p:nvPr/>
        </p:nvSpPr>
        <p:spPr>
          <a:xfrm>
            <a:off x="762000" y="1460500"/>
            <a:ext cx="4699000" cy="457200"/>
          </a:xfrm>
          <a:prstGeom prst="rect">
            <a:avLst/>
          </a:prstGeom>
          <a:noFill/>
          <a:ln/>
        </p:spPr>
        <p:txBody>
          <a:bodyPr wrap="none" lIns="0" tIns="0" rIns="0" bIns="0" rtlCol="0" anchor="ctr"/>
          <a:lstStyle/>
          <a:p>
            <a:pPr algn="ctr">
              <a:lnSpc>
                <a:spcPct val="120000"/>
              </a:lnSpc>
            </a:pPr>
            <a:r>
              <a:rPr lang="en-US" sz="1400" b="1" dirty="0">
                <a:solidFill>
                  <a:srgbClr val="FFFFFF"/>
                </a:solidFill>
                <a:latin typeface="Liter" pitchFamily="34" charset="0"/>
                <a:ea typeface="Liter" pitchFamily="34" charset="-122"/>
                <a:cs typeface="Liter" pitchFamily="34" charset="-120"/>
              </a:rPr>
              <a:t>RESTAURANT DETAILS</a:t>
            </a:r>
            <a:endParaRPr lang="en-US" sz="1400" dirty="0"/>
          </a:p>
        </p:txBody>
      </p:sp>
      <p:sp>
        <p:nvSpPr>
          <p:cNvPr id="14" name="Shape 11"/>
          <p:cNvSpPr/>
          <p:nvPr/>
        </p:nvSpPr>
        <p:spPr>
          <a:xfrm>
            <a:off x="762000" y="1968500"/>
            <a:ext cx="4699000" cy="4953000"/>
          </a:xfrm>
          <a:prstGeom prst="roundRect">
            <a:avLst>
              <a:gd name="adj" fmla="val 4000"/>
            </a:avLst>
          </a:prstGeom>
          <a:solidFill>
            <a:srgbClr val="F0EBE6"/>
          </a:solidFill>
          <a:ln/>
        </p:spPr>
        <p:txBody>
          <a:bodyPr/>
          <a:lstStyle/>
          <a:p>
            <a:endParaRPr lang="en-US"/>
          </a:p>
        </p:txBody>
      </p:sp>
      <p:sp>
        <p:nvSpPr>
          <p:cNvPr id="15" name="Text 12"/>
          <p:cNvSpPr/>
          <p:nvPr/>
        </p:nvSpPr>
        <p:spPr>
          <a:xfrm>
            <a:off x="990600" y="2133600"/>
            <a:ext cx="4241800" cy="4635500"/>
          </a:xfrm>
          <a:prstGeom prst="rect">
            <a:avLst/>
          </a:prstGeom>
          <a:noFill/>
          <a:ln/>
        </p:spPr>
        <p:txBody>
          <a:bodyPr wrap="square" lIns="0" tIns="0" rIns="0" bIns="0" rtlCol="0" anchor="t"/>
          <a:lstStyle/>
          <a:p>
            <a:pPr algn="l">
              <a:lnSpc>
                <a:spcPct val="155000"/>
              </a:lnSpc>
            </a:pPr>
            <a:r>
              <a:rPr lang="en-US" sz="1300" b="1" dirty="0">
                <a:solidFill>
                  <a:srgbClr val="D4652A"/>
                </a:solidFill>
                <a:latin typeface="Quattrocento Sans" pitchFamily="34" charset="0"/>
                <a:ea typeface="Quattrocento Sans" pitchFamily="34" charset="-122"/>
                <a:cs typeface="Quattrocento Sans" pitchFamily="34" charset="-120"/>
              </a:rPr>
              <a:t>Hero Image &amp; Metrics</a:t>
            </a:r>
            <a:endParaRPr lang="en-US" sz="1300" dirty="0"/>
          </a:p>
          <a:p>
            <a:pPr algn="l">
              <a:lnSpc>
                <a:spcPct val="155000"/>
              </a:lnSpc>
            </a:pPr>
            <a:r>
              <a:rPr lang="en-US" sz="1300" dirty="0">
                <a:solidFill>
                  <a:srgbClr val="1E1E1E"/>
                </a:solidFill>
                <a:latin typeface="Quattrocento Sans" pitchFamily="34" charset="0"/>
                <a:ea typeface="Quattrocento Sans" pitchFamily="34" charset="-122"/>
                <a:cs typeface="Quattrocento Sans" pitchFamily="34" charset="-120"/>
              </a:rPr>
              <a:t>High-res photo, star rating, review count, price range, status</a:t>
            </a:r>
            <a:endParaRPr lang="en-US" sz="1300" dirty="0"/>
          </a:p>
          <a:p>
            <a:pPr algn="l">
              <a:lnSpc>
                <a:spcPct val="155000"/>
              </a:lnSpc>
              <a:spcBef>
                <a:spcPts val="600"/>
              </a:spcBef>
            </a:pPr>
            <a:r>
              <a:rPr lang="en-US" sz="1300" b="1" dirty="0">
                <a:solidFill>
                  <a:srgbClr val="D4652A"/>
                </a:solidFill>
                <a:latin typeface="Quattrocento Sans" pitchFamily="34" charset="0"/>
                <a:ea typeface="Quattrocento Sans" pitchFamily="34" charset="-122"/>
                <a:cs typeface="Quattrocento Sans" pitchFamily="34" charset="-120"/>
              </a:rPr>
              <a:t>Complete Information</a:t>
            </a:r>
            <a:endParaRPr lang="en-US" sz="1300" dirty="0"/>
          </a:p>
          <a:p>
            <a:pPr algn="l">
              <a:lnSpc>
                <a:spcPct val="155000"/>
              </a:lnSpc>
            </a:pPr>
            <a:r>
              <a:rPr lang="en-US" sz="1300" dirty="0">
                <a:solidFill>
                  <a:srgbClr val="1E1E1E"/>
                </a:solidFill>
                <a:latin typeface="Quattrocento Sans" pitchFamily="34" charset="0"/>
                <a:ea typeface="Quattrocento Sans" pitchFamily="34" charset="-122"/>
                <a:cs typeface="Quattrocento Sans" pitchFamily="34" charset="-120"/>
              </a:rPr>
              <a:t>Address, phone, business hours, cuisine type, features</a:t>
            </a:r>
            <a:endParaRPr lang="en-US" sz="1300" dirty="0"/>
          </a:p>
          <a:p>
            <a:pPr algn="l">
              <a:lnSpc>
                <a:spcPct val="155000"/>
              </a:lnSpc>
              <a:spcBef>
                <a:spcPts val="600"/>
              </a:spcBef>
            </a:pPr>
            <a:r>
              <a:rPr lang="en-US" sz="1300" b="1" dirty="0">
                <a:solidFill>
                  <a:srgbClr val="D4652A"/>
                </a:solidFill>
                <a:latin typeface="Quattrocento Sans" pitchFamily="34" charset="0"/>
                <a:ea typeface="Quattrocento Sans" pitchFamily="34" charset="-122"/>
                <a:cs typeface="Quattrocento Sans" pitchFamily="34" charset="-120"/>
              </a:rPr>
              <a:t>Media &amp; Reviews</a:t>
            </a:r>
            <a:endParaRPr lang="en-US" sz="1300" dirty="0"/>
          </a:p>
          <a:p>
            <a:pPr algn="l">
              <a:lnSpc>
                <a:spcPct val="155000"/>
              </a:lnSpc>
            </a:pPr>
            <a:r>
              <a:rPr lang="en-US" sz="1300" dirty="0">
                <a:solidFill>
                  <a:srgbClr val="1E1E1E"/>
                </a:solidFill>
                <a:latin typeface="Quattrocento Sans" pitchFamily="34" charset="0"/>
                <a:ea typeface="Quattrocento Sans" pitchFamily="34" charset="-122"/>
                <a:cs typeface="Quattrocento Sans" pitchFamily="34" charset="-120"/>
              </a:rPr>
              <a:t>Photo gallery with lightbox, guest reviews</a:t>
            </a:r>
            <a:endParaRPr lang="en-US" sz="1300" dirty="0"/>
          </a:p>
          <a:p>
            <a:pPr algn="l">
              <a:lnSpc>
                <a:spcPct val="155000"/>
              </a:lnSpc>
              <a:spcBef>
                <a:spcPts val="600"/>
              </a:spcBef>
            </a:pPr>
            <a:r>
              <a:rPr lang="en-US" sz="1300" b="1" dirty="0">
                <a:solidFill>
                  <a:srgbClr val="D4652A"/>
                </a:solidFill>
                <a:latin typeface="Quattrocento Sans" pitchFamily="34" charset="0"/>
                <a:ea typeface="Quattrocento Sans" pitchFamily="34" charset="-122"/>
                <a:cs typeface="Quattrocento Sans" pitchFamily="34" charset="-120"/>
              </a:rPr>
              <a:t>External Links</a:t>
            </a:r>
            <a:endParaRPr lang="en-US" sz="1300" dirty="0"/>
          </a:p>
          <a:p>
            <a:pPr algn="l">
              <a:lnSpc>
                <a:spcPct val="155000"/>
              </a:lnSpc>
            </a:pPr>
            <a:r>
              <a:rPr lang="en-US" sz="1300" dirty="0">
                <a:solidFill>
                  <a:srgbClr val="1E1E1E"/>
                </a:solidFill>
                <a:latin typeface="Quattrocento Sans" pitchFamily="34" charset="0"/>
                <a:ea typeface="Quattrocento Sans" pitchFamily="34" charset="-122"/>
                <a:cs typeface="Quattrocento Sans" pitchFamily="34" charset="-120"/>
              </a:rPr>
              <a:t>Direct links to Yelp and Google Maps</a:t>
            </a:r>
            <a:endParaRPr lang="en-US" sz="1300" dirty="0"/>
          </a:p>
          <a:p>
            <a:pPr algn="l">
              <a:lnSpc>
                <a:spcPct val="155000"/>
              </a:lnSpc>
              <a:spcBef>
                <a:spcPts val="600"/>
              </a:spcBef>
            </a:pPr>
            <a:r>
              <a:rPr lang="en-US" sz="1300" b="1" dirty="0">
                <a:solidFill>
                  <a:srgbClr val="D4652A"/>
                </a:solidFill>
                <a:latin typeface="Quattrocento Sans" pitchFamily="34" charset="0"/>
                <a:ea typeface="Quattrocento Sans" pitchFamily="34" charset="-122"/>
                <a:cs typeface="Quattrocento Sans" pitchFamily="34" charset="-120"/>
              </a:rPr>
              <a:t>Menu Highlights</a:t>
            </a:r>
            <a:endParaRPr lang="en-US" sz="1300" dirty="0"/>
          </a:p>
          <a:p>
            <a:pPr algn="l">
              <a:lnSpc>
                <a:spcPct val="155000"/>
              </a:lnSpc>
            </a:pPr>
            <a:r>
              <a:rPr lang="en-US" sz="1300" dirty="0">
                <a:solidFill>
                  <a:srgbClr val="1E1E1E"/>
                </a:solidFill>
                <a:latin typeface="Quattrocento Sans" pitchFamily="34" charset="0"/>
                <a:ea typeface="Quattrocento Sans" pitchFamily="34" charset="-122"/>
                <a:cs typeface="Quattrocento Sans" pitchFamily="34" charset="-120"/>
              </a:rPr>
              <a:t>Curated menu items from Yelp API</a:t>
            </a:r>
            <a:endParaRPr lang="en-US" sz="1300" dirty="0"/>
          </a:p>
        </p:txBody>
      </p:sp>
      <p:sp>
        <p:nvSpPr>
          <p:cNvPr id="16" name="Shape 13"/>
          <p:cNvSpPr/>
          <p:nvPr/>
        </p:nvSpPr>
        <p:spPr>
          <a:xfrm>
            <a:off x="5778500" y="1460500"/>
            <a:ext cx="4699000" cy="457200"/>
          </a:xfrm>
          <a:prstGeom prst="roundRect">
            <a:avLst>
              <a:gd name="adj" fmla="val 8000"/>
            </a:avLst>
          </a:prstGeom>
          <a:solidFill>
            <a:srgbClr val="B85C28"/>
          </a:solidFill>
          <a:ln/>
        </p:spPr>
        <p:txBody>
          <a:bodyPr/>
          <a:lstStyle/>
          <a:p>
            <a:endParaRPr lang="en-US"/>
          </a:p>
        </p:txBody>
      </p:sp>
      <p:sp>
        <p:nvSpPr>
          <p:cNvPr id="17" name="Text 14"/>
          <p:cNvSpPr/>
          <p:nvPr/>
        </p:nvSpPr>
        <p:spPr>
          <a:xfrm>
            <a:off x="5778500" y="1460500"/>
            <a:ext cx="4699000" cy="457200"/>
          </a:xfrm>
          <a:prstGeom prst="rect">
            <a:avLst/>
          </a:prstGeom>
          <a:noFill/>
          <a:ln/>
        </p:spPr>
        <p:txBody>
          <a:bodyPr wrap="none" lIns="0" tIns="0" rIns="0" bIns="0" rtlCol="0" anchor="ctr"/>
          <a:lstStyle/>
          <a:p>
            <a:pPr algn="ctr">
              <a:lnSpc>
                <a:spcPct val="120000"/>
              </a:lnSpc>
            </a:pPr>
            <a:r>
              <a:rPr lang="en-US" sz="1400" b="1" dirty="0">
                <a:solidFill>
                  <a:srgbClr val="FFFFFF"/>
                </a:solidFill>
                <a:latin typeface="Liter" pitchFamily="34" charset="0"/>
                <a:ea typeface="Liter" pitchFamily="34" charset="-122"/>
                <a:cs typeface="Liter" pitchFamily="34" charset="-120"/>
              </a:rPr>
              <a:t>USER PROFILE</a:t>
            </a:r>
            <a:endParaRPr lang="en-US" sz="1400" dirty="0"/>
          </a:p>
        </p:txBody>
      </p:sp>
      <p:sp>
        <p:nvSpPr>
          <p:cNvPr id="18" name="Shape 15"/>
          <p:cNvSpPr/>
          <p:nvPr/>
        </p:nvSpPr>
        <p:spPr>
          <a:xfrm>
            <a:off x="5778500" y="1968500"/>
            <a:ext cx="4699000" cy="4953000"/>
          </a:xfrm>
          <a:prstGeom prst="roundRect">
            <a:avLst>
              <a:gd name="adj" fmla="val 4000"/>
            </a:avLst>
          </a:prstGeom>
          <a:solidFill>
            <a:srgbClr val="F0EBE6"/>
          </a:solidFill>
          <a:ln/>
        </p:spPr>
        <p:txBody>
          <a:bodyPr/>
          <a:lstStyle/>
          <a:p>
            <a:endParaRPr lang="en-US"/>
          </a:p>
        </p:txBody>
      </p:sp>
      <p:sp>
        <p:nvSpPr>
          <p:cNvPr id="19" name="Text 16"/>
          <p:cNvSpPr/>
          <p:nvPr/>
        </p:nvSpPr>
        <p:spPr>
          <a:xfrm>
            <a:off x="6007100" y="2133600"/>
            <a:ext cx="4241800" cy="4635500"/>
          </a:xfrm>
          <a:prstGeom prst="rect">
            <a:avLst/>
          </a:prstGeom>
          <a:noFill/>
          <a:ln/>
        </p:spPr>
        <p:txBody>
          <a:bodyPr wrap="square" lIns="0" tIns="0" rIns="0" bIns="0" rtlCol="0" anchor="t"/>
          <a:lstStyle/>
          <a:p>
            <a:pPr algn="l">
              <a:lnSpc>
                <a:spcPct val="155000"/>
              </a:lnSpc>
            </a:pPr>
            <a:r>
              <a:rPr lang="en-US" sz="1300" b="1" dirty="0">
                <a:solidFill>
                  <a:srgbClr val="B85C28"/>
                </a:solidFill>
                <a:latin typeface="Quattrocento Sans" pitchFamily="34" charset="0"/>
                <a:ea typeface="Quattrocento Sans" pitchFamily="34" charset="-122"/>
                <a:cs typeface="Quattrocento Sans" pitchFamily="34" charset="-120"/>
              </a:rPr>
              <a:t>Personal Information</a:t>
            </a:r>
            <a:endParaRPr lang="en-US" sz="1300" dirty="0"/>
          </a:p>
          <a:p>
            <a:pPr algn="l">
              <a:lnSpc>
                <a:spcPct val="155000"/>
              </a:lnSpc>
            </a:pPr>
            <a:r>
              <a:rPr lang="en-US" sz="1300" dirty="0">
                <a:solidFill>
                  <a:srgbClr val="1E1E1E"/>
                </a:solidFill>
                <a:latin typeface="Quattrocento Sans" pitchFamily="34" charset="0"/>
                <a:ea typeface="Quattrocento Sans" pitchFamily="34" charset="-122"/>
                <a:cs typeface="Quattrocento Sans" pitchFamily="34" charset="-120"/>
              </a:rPr>
              <a:t>Edit name, email, phone, and location</a:t>
            </a:r>
            <a:endParaRPr lang="en-US" sz="1300" dirty="0"/>
          </a:p>
          <a:p>
            <a:pPr algn="l">
              <a:lnSpc>
                <a:spcPct val="155000"/>
              </a:lnSpc>
              <a:spcBef>
                <a:spcPts val="600"/>
              </a:spcBef>
            </a:pPr>
            <a:r>
              <a:rPr lang="en-US" sz="1300" b="1" dirty="0">
                <a:solidFill>
                  <a:srgbClr val="B85C28"/>
                </a:solidFill>
                <a:latin typeface="Quattrocento Sans" pitchFamily="34" charset="0"/>
                <a:ea typeface="Quattrocento Sans" pitchFamily="34" charset="-122"/>
                <a:cs typeface="Quattrocento Sans" pitchFamily="34" charset="-120"/>
              </a:rPr>
              <a:t>Dining Preferences</a:t>
            </a:r>
            <a:endParaRPr lang="en-US" sz="1300" dirty="0"/>
          </a:p>
          <a:p>
            <a:pPr algn="l">
              <a:lnSpc>
                <a:spcPct val="155000"/>
              </a:lnSpc>
            </a:pPr>
            <a:r>
              <a:rPr lang="en-US" sz="1300" dirty="0">
                <a:solidFill>
                  <a:srgbClr val="1E1E1E"/>
                </a:solidFill>
                <a:latin typeface="Quattrocento Sans" pitchFamily="34" charset="0"/>
                <a:ea typeface="Quattrocento Sans" pitchFamily="34" charset="-122"/>
                <a:cs typeface="Quattrocento Sans" pitchFamily="34" charset="-120"/>
              </a:rPr>
              <a:t>Cuisine preferences and dietary restrictions</a:t>
            </a:r>
            <a:endParaRPr lang="en-US" sz="1300" dirty="0"/>
          </a:p>
          <a:p>
            <a:pPr algn="l">
              <a:lnSpc>
                <a:spcPct val="155000"/>
              </a:lnSpc>
              <a:spcBef>
                <a:spcPts val="600"/>
              </a:spcBef>
            </a:pPr>
            <a:r>
              <a:rPr lang="en-US" sz="1300" b="1" dirty="0">
                <a:solidFill>
                  <a:srgbClr val="B85C28"/>
                </a:solidFill>
                <a:latin typeface="Quattrocento Sans" pitchFamily="34" charset="0"/>
                <a:ea typeface="Quattrocento Sans" pitchFamily="34" charset="-122"/>
                <a:cs typeface="Quattrocento Sans" pitchFamily="34" charset="-120"/>
              </a:rPr>
              <a:t>Notifications</a:t>
            </a:r>
            <a:endParaRPr lang="en-US" sz="1300" dirty="0"/>
          </a:p>
          <a:p>
            <a:pPr algn="l">
              <a:lnSpc>
                <a:spcPct val="155000"/>
              </a:lnSpc>
            </a:pPr>
            <a:r>
              <a:rPr lang="en-US" sz="1300" dirty="0">
                <a:solidFill>
                  <a:srgbClr val="1E1E1E"/>
                </a:solidFill>
                <a:latin typeface="Quattrocento Sans" pitchFamily="34" charset="0"/>
                <a:ea typeface="Quattrocento Sans" pitchFamily="34" charset="-122"/>
                <a:cs typeface="Quattrocento Sans" pitchFamily="34" charset="-120"/>
              </a:rPr>
              <a:t>Email alerts for matching restaurants</a:t>
            </a:r>
            <a:endParaRPr lang="en-US" sz="1300" dirty="0"/>
          </a:p>
          <a:p>
            <a:pPr algn="l">
              <a:lnSpc>
                <a:spcPct val="155000"/>
              </a:lnSpc>
              <a:spcBef>
                <a:spcPts val="600"/>
              </a:spcBef>
            </a:pPr>
            <a:r>
              <a:rPr lang="en-US" sz="1300" b="1" dirty="0">
                <a:solidFill>
                  <a:srgbClr val="B85C28"/>
                </a:solidFill>
                <a:latin typeface="Quattrocento Sans" pitchFamily="34" charset="0"/>
                <a:ea typeface="Quattrocento Sans" pitchFamily="34" charset="-122"/>
                <a:cs typeface="Quattrocento Sans" pitchFamily="34" charset="-120"/>
              </a:rPr>
              <a:t>Security Settings</a:t>
            </a:r>
            <a:endParaRPr lang="en-US" sz="1300" dirty="0"/>
          </a:p>
          <a:p>
            <a:pPr algn="l">
              <a:lnSpc>
                <a:spcPct val="155000"/>
              </a:lnSpc>
            </a:pPr>
            <a:r>
              <a:rPr lang="en-US" sz="1300" dirty="0">
                <a:solidFill>
                  <a:srgbClr val="1E1E1E"/>
                </a:solidFill>
                <a:latin typeface="Quattrocento Sans" pitchFamily="34" charset="0"/>
                <a:ea typeface="Quattrocento Sans" pitchFamily="34" charset="-122"/>
                <a:cs typeface="Quattrocento Sans" pitchFamily="34" charset="-120"/>
              </a:rPr>
              <a:t>2FA, password change, account deletion</a:t>
            </a:r>
            <a:endParaRPr lang="en-US" sz="1300" dirty="0"/>
          </a:p>
          <a:p>
            <a:pPr algn="l">
              <a:lnSpc>
                <a:spcPct val="155000"/>
              </a:lnSpc>
              <a:spcBef>
                <a:spcPts val="600"/>
              </a:spcBef>
            </a:pPr>
            <a:r>
              <a:rPr lang="en-US" sz="1300" b="1" dirty="0">
                <a:solidFill>
                  <a:srgbClr val="B85C28"/>
                </a:solidFill>
                <a:latin typeface="Quattrocento Sans" pitchFamily="34" charset="0"/>
                <a:ea typeface="Quattrocento Sans" pitchFamily="34" charset="-122"/>
                <a:cs typeface="Quattrocento Sans" pitchFamily="34" charset="-120"/>
              </a:rPr>
              <a:t>Saved Restaurants</a:t>
            </a:r>
            <a:endParaRPr lang="en-US" sz="1300" dirty="0"/>
          </a:p>
          <a:p>
            <a:pPr algn="l">
              <a:lnSpc>
                <a:spcPct val="155000"/>
              </a:lnSpc>
            </a:pPr>
            <a:r>
              <a:rPr lang="en-US" sz="1300" dirty="0">
                <a:solidFill>
                  <a:srgbClr val="1E1E1E"/>
                </a:solidFill>
                <a:latin typeface="Quattrocento Sans" pitchFamily="34" charset="0"/>
                <a:ea typeface="Quattrocento Sans" pitchFamily="34" charset="-122"/>
                <a:cs typeface="Quattrocento Sans" pitchFamily="34" charset="-120"/>
              </a:rPr>
              <a:t>Quick access to favorites</a:t>
            </a:r>
            <a:endParaRPr lang="en-US" sz="1300" dirty="0"/>
          </a:p>
        </p:txBody>
      </p:sp>
      <p:sp>
        <p:nvSpPr>
          <p:cNvPr id="20" name="Shape 17"/>
          <p:cNvSpPr/>
          <p:nvPr/>
        </p:nvSpPr>
        <p:spPr>
          <a:xfrm>
            <a:off x="10795000" y="1460500"/>
            <a:ext cx="4699000" cy="457200"/>
          </a:xfrm>
          <a:prstGeom prst="roundRect">
            <a:avLst>
              <a:gd name="adj" fmla="val 8000"/>
            </a:avLst>
          </a:prstGeom>
          <a:solidFill>
            <a:srgbClr val="2D2D2D"/>
          </a:solidFill>
          <a:ln/>
        </p:spPr>
        <p:txBody>
          <a:bodyPr/>
          <a:lstStyle/>
          <a:p>
            <a:endParaRPr lang="en-US"/>
          </a:p>
        </p:txBody>
      </p:sp>
      <p:sp>
        <p:nvSpPr>
          <p:cNvPr id="21" name="Text 18"/>
          <p:cNvSpPr/>
          <p:nvPr/>
        </p:nvSpPr>
        <p:spPr>
          <a:xfrm>
            <a:off x="10795000" y="1460500"/>
            <a:ext cx="4699000" cy="457200"/>
          </a:xfrm>
          <a:prstGeom prst="rect">
            <a:avLst/>
          </a:prstGeom>
          <a:noFill/>
          <a:ln/>
        </p:spPr>
        <p:txBody>
          <a:bodyPr wrap="none" lIns="0" tIns="0" rIns="0" bIns="0" rtlCol="0" anchor="ctr"/>
          <a:lstStyle/>
          <a:p>
            <a:pPr algn="ctr">
              <a:lnSpc>
                <a:spcPct val="120000"/>
              </a:lnSpc>
            </a:pPr>
            <a:r>
              <a:rPr lang="en-US" sz="1400" b="1" dirty="0">
                <a:solidFill>
                  <a:srgbClr val="FFFFFF"/>
                </a:solidFill>
                <a:latin typeface="Liter" pitchFamily="34" charset="0"/>
                <a:ea typeface="Liter" pitchFamily="34" charset="-122"/>
                <a:cs typeface="Liter" pitchFamily="34" charset="-120"/>
              </a:rPr>
              <a:t>ADMIN DASHBOARD</a:t>
            </a:r>
            <a:endParaRPr lang="en-US" sz="1400" dirty="0"/>
          </a:p>
        </p:txBody>
      </p:sp>
      <p:sp>
        <p:nvSpPr>
          <p:cNvPr id="22" name="Shape 19"/>
          <p:cNvSpPr/>
          <p:nvPr/>
        </p:nvSpPr>
        <p:spPr>
          <a:xfrm>
            <a:off x="10795000" y="1968500"/>
            <a:ext cx="4699000" cy="4953000"/>
          </a:xfrm>
          <a:prstGeom prst="roundRect">
            <a:avLst>
              <a:gd name="adj" fmla="val 4000"/>
            </a:avLst>
          </a:prstGeom>
          <a:solidFill>
            <a:srgbClr val="F0EBE6"/>
          </a:solidFill>
          <a:ln/>
        </p:spPr>
        <p:txBody>
          <a:bodyPr/>
          <a:lstStyle/>
          <a:p>
            <a:endParaRPr lang="en-US"/>
          </a:p>
        </p:txBody>
      </p:sp>
      <p:sp>
        <p:nvSpPr>
          <p:cNvPr id="23" name="Text 20"/>
          <p:cNvSpPr/>
          <p:nvPr/>
        </p:nvSpPr>
        <p:spPr>
          <a:xfrm>
            <a:off x="11023600" y="2133600"/>
            <a:ext cx="4241800" cy="4635500"/>
          </a:xfrm>
          <a:prstGeom prst="rect">
            <a:avLst/>
          </a:prstGeom>
          <a:noFill/>
          <a:ln/>
        </p:spPr>
        <p:txBody>
          <a:bodyPr wrap="square" lIns="0" tIns="0" rIns="0" bIns="0" rtlCol="0" anchor="t"/>
          <a:lstStyle/>
          <a:p>
            <a:pPr algn="l">
              <a:lnSpc>
                <a:spcPct val="155000"/>
              </a:lnSpc>
            </a:pPr>
            <a:r>
              <a:rPr lang="en-US" sz="1300" b="1" dirty="0">
                <a:solidFill>
                  <a:srgbClr val="2D2D2D"/>
                </a:solidFill>
                <a:latin typeface="Quattrocento Sans" pitchFamily="34" charset="0"/>
                <a:ea typeface="Quattrocento Sans" pitchFamily="34" charset="-122"/>
                <a:cs typeface="Quattrocento Sans" pitchFamily="34" charset="-120"/>
              </a:rPr>
              <a:t>Restaurant CRUD</a:t>
            </a:r>
            <a:endParaRPr lang="en-US" sz="1300" dirty="0"/>
          </a:p>
          <a:p>
            <a:pPr algn="l">
              <a:lnSpc>
                <a:spcPct val="155000"/>
              </a:lnSpc>
            </a:pPr>
            <a:r>
              <a:rPr lang="en-US" sz="1300" dirty="0">
                <a:solidFill>
                  <a:srgbClr val="1E1E1E"/>
                </a:solidFill>
                <a:latin typeface="Quattrocento Sans" pitchFamily="34" charset="0"/>
                <a:ea typeface="Quattrocento Sans" pitchFamily="34" charset="-122"/>
                <a:cs typeface="Quattrocento Sans" pitchFamily="34" charset="-120"/>
              </a:rPr>
              <a:t>Add, edit, and delete restaurant listings</a:t>
            </a:r>
            <a:endParaRPr lang="en-US" sz="1300" dirty="0"/>
          </a:p>
          <a:p>
            <a:pPr algn="l">
              <a:lnSpc>
                <a:spcPct val="155000"/>
              </a:lnSpc>
              <a:spcBef>
                <a:spcPts val="600"/>
              </a:spcBef>
            </a:pPr>
            <a:r>
              <a:rPr lang="en-US" sz="1300" b="1" dirty="0">
                <a:solidFill>
                  <a:srgbClr val="2D2D2D"/>
                </a:solidFill>
                <a:latin typeface="Quattrocento Sans" pitchFamily="34" charset="0"/>
                <a:ea typeface="Quattrocento Sans" pitchFamily="34" charset="-122"/>
                <a:cs typeface="Quattrocento Sans" pitchFamily="34" charset="-120"/>
              </a:rPr>
              <a:t>Property Management</a:t>
            </a:r>
            <a:endParaRPr lang="en-US" sz="1300" dirty="0"/>
          </a:p>
          <a:p>
            <a:pPr algn="l">
              <a:lnSpc>
                <a:spcPct val="155000"/>
              </a:lnSpc>
            </a:pPr>
            <a:r>
              <a:rPr lang="en-US" sz="1300" dirty="0">
                <a:solidFill>
                  <a:srgbClr val="1E1E1E"/>
                </a:solidFill>
                <a:latin typeface="Quattrocento Sans" pitchFamily="34" charset="0"/>
                <a:ea typeface="Quattrocento Sans" pitchFamily="34" charset="-122"/>
                <a:cs typeface="Quattrocento Sans" pitchFamily="34" charset="-120"/>
              </a:rPr>
              <a:t>Name, cuisine, rating, price, location, hours</a:t>
            </a:r>
            <a:endParaRPr lang="en-US" sz="1300" dirty="0"/>
          </a:p>
          <a:p>
            <a:pPr algn="l">
              <a:lnSpc>
                <a:spcPct val="155000"/>
              </a:lnSpc>
              <a:spcBef>
                <a:spcPts val="600"/>
              </a:spcBef>
            </a:pPr>
            <a:r>
              <a:rPr lang="en-US" sz="1300" b="1" dirty="0">
                <a:solidFill>
                  <a:srgbClr val="2D2D2D"/>
                </a:solidFill>
                <a:latin typeface="Quattrocento Sans" pitchFamily="34" charset="0"/>
                <a:ea typeface="Quattrocento Sans" pitchFamily="34" charset="-122"/>
                <a:cs typeface="Quattrocento Sans" pitchFamily="34" charset="-120"/>
              </a:rPr>
              <a:t>Menu Management</a:t>
            </a:r>
            <a:endParaRPr lang="en-US" sz="1300" dirty="0"/>
          </a:p>
          <a:p>
            <a:pPr algn="l">
              <a:lnSpc>
                <a:spcPct val="155000"/>
              </a:lnSpc>
            </a:pPr>
            <a:r>
              <a:rPr lang="en-US" sz="1300" dirty="0">
                <a:solidFill>
                  <a:srgbClr val="1E1E1E"/>
                </a:solidFill>
                <a:latin typeface="Quattrocento Sans" pitchFamily="34" charset="0"/>
                <a:ea typeface="Quattrocento Sans" pitchFamily="34" charset="-122"/>
                <a:cs typeface="Quattrocento Sans" pitchFamily="34" charset="-120"/>
              </a:rPr>
              <a:t>Add and edit menu items with pricing</a:t>
            </a:r>
            <a:endParaRPr lang="en-US" sz="1300" dirty="0"/>
          </a:p>
          <a:p>
            <a:pPr algn="l">
              <a:lnSpc>
                <a:spcPct val="155000"/>
              </a:lnSpc>
              <a:spcBef>
                <a:spcPts val="600"/>
              </a:spcBef>
            </a:pPr>
            <a:r>
              <a:rPr lang="en-US" sz="1300" b="1" dirty="0">
                <a:solidFill>
                  <a:srgbClr val="2D2D2D"/>
                </a:solidFill>
                <a:latin typeface="Quattrocento Sans" pitchFamily="34" charset="0"/>
                <a:ea typeface="Quattrocento Sans" pitchFamily="34" charset="-122"/>
                <a:cs typeface="Quattrocento Sans" pitchFamily="34" charset="-120"/>
              </a:rPr>
              <a:t>Image Upload</a:t>
            </a:r>
            <a:endParaRPr lang="en-US" sz="1300" dirty="0"/>
          </a:p>
          <a:p>
            <a:pPr algn="l">
              <a:lnSpc>
                <a:spcPct val="155000"/>
              </a:lnSpc>
            </a:pPr>
            <a:r>
              <a:rPr lang="en-US" sz="1300" dirty="0">
                <a:solidFill>
                  <a:srgbClr val="1E1E1E"/>
                </a:solidFill>
                <a:latin typeface="Quattrocento Sans" pitchFamily="34" charset="0"/>
                <a:ea typeface="Quattrocento Sans" pitchFamily="34" charset="-122"/>
                <a:cs typeface="Quattrocento Sans" pitchFamily="34" charset="-120"/>
              </a:rPr>
              <a:t>Upload hero images and gallery photos</a:t>
            </a:r>
            <a:endParaRPr lang="en-US" sz="1300" dirty="0"/>
          </a:p>
          <a:p>
            <a:pPr algn="l">
              <a:lnSpc>
                <a:spcPct val="155000"/>
              </a:lnSpc>
              <a:spcBef>
                <a:spcPts val="600"/>
              </a:spcBef>
            </a:pPr>
            <a:r>
              <a:rPr lang="en-US" sz="1300" b="1" dirty="0">
                <a:solidFill>
                  <a:srgbClr val="2D2D2D"/>
                </a:solidFill>
                <a:latin typeface="Quattrocento Sans" pitchFamily="34" charset="0"/>
                <a:ea typeface="Quattrocento Sans" pitchFamily="34" charset="-122"/>
                <a:cs typeface="Quattrocento Sans" pitchFamily="34" charset="-120"/>
              </a:rPr>
              <a:t>Status Messages</a:t>
            </a:r>
            <a:endParaRPr lang="en-US" sz="1300" dirty="0"/>
          </a:p>
          <a:p>
            <a:pPr algn="l">
              <a:lnSpc>
                <a:spcPct val="155000"/>
              </a:lnSpc>
            </a:pPr>
            <a:r>
              <a:rPr lang="en-US" sz="1300" dirty="0">
                <a:solidFill>
                  <a:srgbClr val="1E1E1E"/>
                </a:solidFill>
                <a:latin typeface="Quattrocento Sans" pitchFamily="34" charset="0"/>
                <a:ea typeface="Quattrocento Sans" pitchFamily="34" charset="-122"/>
                <a:cs typeface="Quattrocento Sans" pitchFamily="34" charset="-120"/>
              </a:rPr>
              <a:t>Real-time feedback for all actions</a:t>
            </a:r>
            <a:endParaRPr lang="en-US" sz="1300" dirty="0"/>
          </a:p>
        </p:txBody>
      </p:sp>
      <p:sp>
        <p:nvSpPr>
          <p:cNvPr id="24" name="Shape 21"/>
          <p:cNvSpPr/>
          <p:nvPr/>
        </p:nvSpPr>
        <p:spPr>
          <a:xfrm>
            <a:off x="762000" y="7175500"/>
            <a:ext cx="14732000" cy="508000"/>
          </a:xfrm>
          <a:prstGeom prst="roundRect">
            <a:avLst>
              <a:gd name="adj" fmla="val 6000"/>
            </a:avLst>
          </a:prstGeom>
          <a:solidFill>
            <a:srgbClr val="2D2D2D"/>
          </a:solidFill>
          <a:ln/>
        </p:spPr>
        <p:txBody>
          <a:bodyPr/>
          <a:lstStyle/>
          <a:p>
            <a:endParaRPr lang="en-US"/>
          </a:p>
        </p:txBody>
      </p:sp>
      <p:sp>
        <p:nvSpPr>
          <p:cNvPr id="25" name="Shape 22"/>
          <p:cNvSpPr/>
          <p:nvPr/>
        </p:nvSpPr>
        <p:spPr>
          <a:xfrm>
            <a:off x="1016000" y="7277100"/>
            <a:ext cx="304800" cy="304800"/>
          </a:xfrm>
          <a:custGeom>
            <a:avLst/>
            <a:gdLst/>
            <a:ahLst/>
            <a:cxnLst/>
            <a:rect l="l" t="t" r="r" b="b"/>
            <a:pathLst>
              <a:path w="304800" h="304800">
                <a:moveTo>
                  <a:pt x="152400" y="0"/>
                </a:moveTo>
                <a:cubicBezTo>
                  <a:pt x="155138" y="0"/>
                  <a:pt x="157877" y="595"/>
                  <a:pt x="160377" y="1726"/>
                </a:cubicBezTo>
                <a:lnTo>
                  <a:pt x="272534" y="49292"/>
                </a:lnTo>
                <a:cubicBezTo>
                  <a:pt x="285631" y="54828"/>
                  <a:pt x="295394" y="67747"/>
                  <a:pt x="295335" y="83344"/>
                </a:cubicBezTo>
                <a:cubicBezTo>
                  <a:pt x="295037" y="142399"/>
                  <a:pt x="270748" y="250448"/>
                  <a:pt x="168176" y="299561"/>
                </a:cubicBezTo>
                <a:cubicBezTo>
                  <a:pt x="158234" y="304324"/>
                  <a:pt x="146685" y="304324"/>
                  <a:pt x="136743" y="299561"/>
                </a:cubicBezTo>
                <a:cubicBezTo>
                  <a:pt x="34111" y="250448"/>
                  <a:pt x="9882" y="142399"/>
                  <a:pt x="9585" y="83344"/>
                </a:cubicBezTo>
                <a:cubicBezTo>
                  <a:pt x="9525" y="67747"/>
                  <a:pt x="19288" y="54828"/>
                  <a:pt x="32385" y="49292"/>
                </a:cubicBezTo>
                <a:lnTo>
                  <a:pt x="144482" y="1726"/>
                </a:lnTo>
                <a:cubicBezTo>
                  <a:pt x="146983" y="595"/>
                  <a:pt x="149662" y="0"/>
                  <a:pt x="152400" y="0"/>
                </a:cubicBezTo>
                <a:close/>
                <a:moveTo>
                  <a:pt x="152400" y="39767"/>
                </a:moveTo>
                <a:lnTo>
                  <a:pt x="152400" y="264855"/>
                </a:lnTo>
                <a:cubicBezTo>
                  <a:pt x="234553" y="225088"/>
                  <a:pt x="256639" y="136981"/>
                  <a:pt x="257175" y="84237"/>
                </a:cubicBezTo>
                <a:lnTo>
                  <a:pt x="152400" y="39826"/>
                </a:lnTo>
                <a:lnTo>
                  <a:pt x="152400" y="39826"/>
                </a:lnTo>
                <a:close/>
              </a:path>
            </a:pathLst>
          </a:custGeom>
          <a:solidFill>
            <a:srgbClr val="D4652A"/>
          </a:solidFill>
          <a:ln/>
        </p:spPr>
        <p:txBody>
          <a:bodyPr/>
          <a:lstStyle/>
          <a:p>
            <a:endParaRPr lang="en-US"/>
          </a:p>
        </p:txBody>
      </p:sp>
      <p:sp>
        <p:nvSpPr>
          <p:cNvPr id="26" name="Text 23"/>
          <p:cNvSpPr/>
          <p:nvPr/>
        </p:nvSpPr>
        <p:spPr>
          <a:xfrm>
            <a:off x="1447800" y="7175500"/>
            <a:ext cx="13716000" cy="508000"/>
          </a:xfrm>
          <a:prstGeom prst="rect">
            <a:avLst/>
          </a:prstGeom>
          <a:noFill/>
          <a:ln/>
        </p:spPr>
        <p:txBody>
          <a:bodyPr wrap="square" lIns="0" tIns="0" rIns="0" bIns="0" rtlCol="0" anchor="ctr"/>
          <a:lstStyle/>
          <a:p>
            <a:pPr algn="l">
              <a:lnSpc>
                <a:spcPct val="120000"/>
              </a:lnSpc>
            </a:pPr>
            <a:r>
              <a:rPr lang="en-US" sz="1500" b="1" dirty="0">
                <a:solidFill>
                  <a:srgbClr val="D4652A"/>
                </a:solidFill>
                <a:latin typeface="Quattrocento Sans" pitchFamily="34" charset="0"/>
                <a:ea typeface="Quattrocento Sans" pitchFamily="34" charset="-122"/>
                <a:cs typeface="Quattrocento Sans" pitchFamily="34" charset="-120"/>
              </a:rPr>
              <a:t>Role-Based Access Control:</a:t>
            </a:r>
            <a:r>
              <a:rPr lang="en-US" sz="1500" dirty="0">
                <a:solidFill>
                  <a:srgbClr val="FFFFFF"/>
                </a:solidFill>
                <a:latin typeface="Quattrocento Sans" pitchFamily="34" charset="0"/>
                <a:ea typeface="Quattrocento Sans" pitchFamily="34" charset="-122"/>
                <a:cs typeface="Quattrocento Sans" pitchFamily="34" charset="-120"/>
              </a:rPr>
              <a:t>  Protected routes for authenticated users  |  Admin-only routes with role verification  |  localStorage data isolation per browser</a:t>
            </a:r>
            <a:endParaRPr lang="en-US" sz="1500" dirty="0"/>
          </a:p>
        </p:txBody>
      </p:sp>
      <p:sp>
        <p:nvSpPr>
          <p:cNvPr id="27" name="Text 24"/>
          <p:cNvSpPr/>
          <p:nvPr/>
        </p:nvSpPr>
        <p:spPr>
          <a:xfrm>
            <a:off x="762000" y="8763000"/>
            <a:ext cx="5080000" cy="254000"/>
          </a:xfrm>
          <a:prstGeom prst="rect">
            <a:avLst/>
          </a:prstGeom>
          <a:noFill/>
          <a:ln/>
        </p:spPr>
        <p:txBody>
          <a:bodyPr wrap="none" lIns="0" tIns="0" rIns="0" bIns="0" rtlCol="0" anchor="ctr"/>
          <a:lstStyle/>
          <a:p>
            <a:pPr algn="l">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Restaurant Finder | Graduation Project Defense</a:t>
            </a:r>
            <a:endParaRPr lang="en-US" sz="1200" dirty="0"/>
          </a:p>
        </p:txBody>
      </p:sp>
      <p:sp>
        <p:nvSpPr>
          <p:cNvPr id="28" name="Text 25"/>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07 / 12</a:t>
            </a:r>
            <a:endParaRPr lang="en-US" sz="12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2D2D2D"/>
          </a:solidFill>
          <a:ln/>
        </p:spPr>
        <p:txBody>
          <a:bodyPr/>
          <a:lstStyle/>
          <a:p>
            <a:endParaRPr lang="en-US"/>
          </a:p>
        </p:txBody>
      </p:sp>
      <p:sp>
        <p:nvSpPr>
          <p:cNvPr id="4" name="Text 1"/>
          <p:cNvSpPr/>
          <p:nvPr/>
        </p:nvSpPr>
        <p:spPr>
          <a:xfrm>
            <a:off x="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PROBLEM</a:t>
            </a:r>
            <a:endParaRPr lang="en-US" sz="1100" dirty="0"/>
          </a:p>
        </p:txBody>
      </p:sp>
      <p:sp>
        <p:nvSpPr>
          <p:cNvPr id="5" name="Text 2"/>
          <p:cNvSpPr/>
          <p:nvPr/>
        </p:nvSpPr>
        <p:spPr>
          <a:xfrm>
            <a:off x="32512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SOLUTION</a:t>
            </a:r>
            <a:endParaRPr lang="en-US" sz="1100" dirty="0"/>
          </a:p>
        </p:txBody>
      </p:sp>
      <p:sp>
        <p:nvSpPr>
          <p:cNvPr id="6" name="Text 3"/>
          <p:cNvSpPr/>
          <p:nvPr/>
        </p:nvSpPr>
        <p:spPr>
          <a:xfrm>
            <a:off x="65024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TECH STACK</a:t>
            </a:r>
            <a:endParaRPr lang="en-US" sz="1100" dirty="0"/>
          </a:p>
        </p:txBody>
      </p:sp>
      <p:sp>
        <p:nvSpPr>
          <p:cNvPr id="7" name="Text 4"/>
          <p:cNvSpPr/>
          <p:nvPr/>
        </p:nvSpPr>
        <p:spPr>
          <a:xfrm>
            <a:off x="97536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FEATURES</a:t>
            </a:r>
            <a:endParaRPr lang="en-US" sz="1100" dirty="0"/>
          </a:p>
        </p:txBody>
      </p:sp>
      <p:sp>
        <p:nvSpPr>
          <p:cNvPr id="8" name="Text 5"/>
          <p:cNvSpPr/>
          <p:nvPr/>
        </p:nvSpPr>
        <p:spPr>
          <a:xfrm>
            <a:off x="13004800" y="0"/>
            <a:ext cx="3251200" cy="406400"/>
          </a:xfrm>
          <a:prstGeom prst="rect">
            <a:avLst/>
          </a:prstGeom>
          <a:noFill/>
          <a:ln/>
        </p:spPr>
        <p:txBody>
          <a:bodyPr wrap="none" lIns="0" tIns="0" rIns="0" bIns="0" rtlCol="0" anchor="ctr"/>
          <a:lstStyle/>
          <a:p>
            <a:pPr algn="ctr">
              <a:lnSpc>
                <a:spcPct val="120000"/>
              </a:lnSpc>
            </a:pPr>
            <a:r>
              <a:rPr lang="en-US" sz="1100" b="1" dirty="0">
                <a:solidFill>
                  <a:srgbClr val="D4652A"/>
                </a:solidFill>
                <a:latin typeface="Quattrocento Sans" pitchFamily="34" charset="0"/>
                <a:ea typeface="Quattrocento Sans" pitchFamily="34" charset="-122"/>
                <a:cs typeface="Quattrocento Sans" pitchFamily="34" charset="-120"/>
              </a:rPr>
              <a:t>ARCHITECTURE</a:t>
            </a:r>
            <a:endParaRPr lang="en-US" sz="1100" dirty="0"/>
          </a:p>
        </p:txBody>
      </p:sp>
      <p:sp>
        <p:nvSpPr>
          <p:cNvPr id="9" name="Shape 6"/>
          <p:cNvSpPr/>
          <p:nvPr/>
        </p:nvSpPr>
        <p:spPr>
          <a:xfrm>
            <a:off x="13995400" y="419100"/>
            <a:ext cx="1270000" cy="38100"/>
          </a:xfrm>
          <a:prstGeom prst="rect">
            <a:avLst/>
          </a:prstGeom>
          <a:solidFill>
            <a:srgbClr val="D4652A"/>
          </a:solidFill>
          <a:ln/>
        </p:spPr>
        <p:txBody>
          <a:bodyPr/>
          <a:lstStyle/>
          <a:p>
            <a:endParaRPr lang="en-US"/>
          </a:p>
        </p:txBody>
      </p:sp>
      <p:sp>
        <p:nvSpPr>
          <p:cNvPr id="10" name="Text 7"/>
          <p:cNvSpPr/>
          <p:nvPr/>
        </p:nvSpPr>
        <p:spPr>
          <a:xfrm>
            <a:off x="762000" y="660400"/>
            <a:ext cx="10160000" cy="508000"/>
          </a:xfrm>
          <a:prstGeom prst="rect">
            <a:avLst/>
          </a:prstGeom>
          <a:noFill/>
          <a:ln/>
        </p:spPr>
        <p:txBody>
          <a:bodyPr wrap="none" lIns="0" tIns="0" rIns="0" bIns="0" rtlCol="0" anchor="ctr"/>
          <a:lstStyle/>
          <a:p>
            <a:pPr algn="l">
              <a:lnSpc>
                <a:spcPct val="130000"/>
              </a:lnSpc>
            </a:pPr>
            <a:r>
              <a:rPr lang="en-US" sz="2800" dirty="0">
                <a:solidFill>
                  <a:srgbClr val="1E1E1E"/>
                </a:solidFill>
                <a:latin typeface="Liter" pitchFamily="34" charset="0"/>
                <a:ea typeface="Liter" pitchFamily="34" charset="-122"/>
                <a:cs typeface="Liter" pitchFamily="34" charset="-120"/>
              </a:rPr>
              <a:t>System Architecture &amp; Data Flow</a:t>
            </a:r>
            <a:endParaRPr lang="en-US" sz="2800" dirty="0"/>
          </a:p>
        </p:txBody>
      </p:sp>
      <p:sp>
        <p:nvSpPr>
          <p:cNvPr id="11" name="Shape 8"/>
          <p:cNvSpPr/>
          <p:nvPr/>
        </p:nvSpPr>
        <p:spPr>
          <a:xfrm>
            <a:off x="762000" y="1219200"/>
            <a:ext cx="1016000" cy="38100"/>
          </a:xfrm>
          <a:prstGeom prst="rect">
            <a:avLst/>
          </a:prstGeom>
          <a:solidFill>
            <a:srgbClr val="D4652A"/>
          </a:solidFill>
          <a:ln/>
        </p:spPr>
        <p:txBody>
          <a:bodyPr/>
          <a:lstStyle/>
          <a:p>
            <a:endParaRPr lang="en-US"/>
          </a:p>
        </p:txBody>
      </p:sp>
      <p:sp>
        <p:nvSpPr>
          <p:cNvPr id="12" name="Shape 9"/>
          <p:cNvSpPr/>
          <p:nvPr/>
        </p:nvSpPr>
        <p:spPr>
          <a:xfrm>
            <a:off x="762000" y="1524000"/>
            <a:ext cx="14732000" cy="1778000"/>
          </a:xfrm>
          <a:prstGeom prst="roundRect">
            <a:avLst>
              <a:gd name="adj" fmla="val 4000"/>
            </a:avLst>
          </a:prstGeom>
          <a:solidFill>
            <a:srgbClr val="F0EBE6"/>
          </a:solidFill>
          <a:ln w="12700">
            <a:solidFill>
              <a:srgbClr val="D4652A"/>
            </a:solidFill>
            <a:prstDash val="solid"/>
          </a:ln>
        </p:spPr>
        <p:txBody>
          <a:bodyPr/>
          <a:lstStyle/>
          <a:p>
            <a:endParaRPr lang="en-US"/>
          </a:p>
        </p:txBody>
      </p:sp>
      <p:sp>
        <p:nvSpPr>
          <p:cNvPr id="13" name="Shape 10"/>
          <p:cNvSpPr/>
          <p:nvPr/>
        </p:nvSpPr>
        <p:spPr>
          <a:xfrm>
            <a:off x="762000" y="1524000"/>
            <a:ext cx="2540000" cy="381000"/>
          </a:xfrm>
          <a:prstGeom prst="rect">
            <a:avLst/>
          </a:prstGeom>
          <a:solidFill>
            <a:srgbClr val="D4652A"/>
          </a:solidFill>
          <a:ln/>
        </p:spPr>
        <p:txBody>
          <a:bodyPr/>
          <a:lstStyle/>
          <a:p>
            <a:endParaRPr lang="en-US"/>
          </a:p>
        </p:txBody>
      </p:sp>
      <p:sp>
        <p:nvSpPr>
          <p:cNvPr id="14" name="Text 11"/>
          <p:cNvSpPr/>
          <p:nvPr/>
        </p:nvSpPr>
        <p:spPr>
          <a:xfrm>
            <a:off x="762000" y="1524000"/>
            <a:ext cx="2540000" cy="381000"/>
          </a:xfrm>
          <a:prstGeom prst="rect">
            <a:avLst/>
          </a:prstGeom>
          <a:noFill/>
          <a:ln/>
        </p:spPr>
        <p:txBody>
          <a:bodyPr wrap="none" lIns="0" tIns="0" rIns="0" bIns="0" rtlCol="0" anchor="ctr"/>
          <a:lstStyle/>
          <a:p>
            <a:pPr algn="ctr">
              <a:lnSpc>
                <a:spcPct val="120000"/>
              </a:lnSpc>
            </a:pPr>
            <a:r>
              <a:rPr lang="en-US" sz="1200" b="1" dirty="0">
                <a:solidFill>
                  <a:srgbClr val="FFFFFF"/>
                </a:solidFill>
                <a:latin typeface="Liter" pitchFamily="34" charset="0"/>
                <a:ea typeface="Liter" pitchFamily="34" charset="-122"/>
                <a:cs typeface="Liter" pitchFamily="34" charset="-120"/>
              </a:rPr>
              <a:t>PRESENTATION LAYER</a:t>
            </a:r>
            <a:endParaRPr lang="en-US" sz="1200" dirty="0"/>
          </a:p>
        </p:txBody>
      </p:sp>
      <p:sp>
        <p:nvSpPr>
          <p:cNvPr id="15" name="Shape 12"/>
          <p:cNvSpPr/>
          <p:nvPr/>
        </p:nvSpPr>
        <p:spPr>
          <a:xfrm>
            <a:off x="1270000" y="2095500"/>
            <a:ext cx="457200" cy="457200"/>
          </a:xfrm>
          <a:custGeom>
            <a:avLst/>
            <a:gdLst/>
            <a:ahLst/>
            <a:cxnLst/>
            <a:rect l="l" t="t" r="r" b="b"/>
            <a:pathLst>
              <a:path w="457200" h="457200">
                <a:moveTo>
                  <a:pt x="57150" y="28575"/>
                </a:moveTo>
                <a:cubicBezTo>
                  <a:pt x="25628" y="28575"/>
                  <a:pt x="0" y="54203"/>
                  <a:pt x="0" y="85725"/>
                </a:cubicBezTo>
                <a:lnTo>
                  <a:pt x="0" y="314325"/>
                </a:lnTo>
                <a:cubicBezTo>
                  <a:pt x="0" y="345847"/>
                  <a:pt x="25628" y="371475"/>
                  <a:pt x="57150" y="371475"/>
                </a:cubicBezTo>
                <a:lnTo>
                  <a:pt x="185738" y="371475"/>
                </a:lnTo>
                <a:lnTo>
                  <a:pt x="171450" y="414338"/>
                </a:lnTo>
                <a:lnTo>
                  <a:pt x="107156" y="414338"/>
                </a:lnTo>
                <a:cubicBezTo>
                  <a:pt x="95280" y="414338"/>
                  <a:pt x="85725" y="423892"/>
                  <a:pt x="85725" y="435769"/>
                </a:cubicBezTo>
                <a:cubicBezTo>
                  <a:pt x="85725" y="447645"/>
                  <a:pt x="95280" y="457200"/>
                  <a:pt x="107156" y="457200"/>
                </a:cubicBezTo>
                <a:lnTo>
                  <a:pt x="350044" y="457200"/>
                </a:lnTo>
                <a:cubicBezTo>
                  <a:pt x="361920" y="457200"/>
                  <a:pt x="371475" y="447645"/>
                  <a:pt x="371475" y="435769"/>
                </a:cubicBezTo>
                <a:cubicBezTo>
                  <a:pt x="371475" y="423892"/>
                  <a:pt x="361920" y="414338"/>
                  <a:pt x="350044" y="414338"/>
                </a:cubicBezTo>
                <a:lnTo>
                  <a:pt x="285750" y="414338"/>
                </a:lnTo>
                <a:lnTo>
                  <a:pt x="271463" y="371475"/>
                </a:lnTo>
                <a:lnTo>
                  <a:pt x="400050" y="371475"/>
                </a:lnTo>
                <a:cubicBezTo>
                  <a:pt x="431572" y="371475"/>
                  <a:pt x="457200" y="345847"/>
                  <a:pt x="457200" y="314325"/>
                </a:cubicBezTo>
                <a:lnTo>
                  <a:pt x="457200" y="85725"/>
                </a:lnTo>
                <a:cubicBezTo>
                  <a:pt x="457200" y="54203"/>
                  <a:pt x="431572" y="28575"/>
                  <a:pt x="400050" y="28575"/>
                </a:cubicBezTo>
                <a:lnTo>
                  <a:pt x="57150" y="28575"/>
                </a:lnTo>
                <a:close/>
                <a:moveTo>
                  <a:pt x="85725" y="85725"/>
                </a:moveTo>
                <a:lnTo>
                  <a:pt x="371475" y="85725"/>
                </a:lnTo>
                <a:cubicBezTo>
                  <a:pt x="387281" y="85725"/>
                  <a:pt x="400050" y="98494"/>
                  <a:pt x="400050" y="114300"/>
                </a:cubicBezTo>
                <a:lnTo>
                  <a:pt x="400050" y="257175"/>
                </a:lnTo>
                <a:cubicBezTo>
                  <a:pt x="400050" y="272981"/>
                  <a:pt x="387281" y="285750"/>
                  <a:pt x="371475" y="285750"/>
                </a:cubicBezTo>
                <a:lnTo>
                  <a:pt x="85725" y="285750"/>
                </a:lnTo>
                <a:cubicBezTo>
                  <a:pt x="69919" y="285750"/>
                  <a:pt x="57150" y="272981"/>
                  <a:pt x="57150" y="257175"/>
                </a:cubicBezTo>
                <a:lnTo>
                  <a:pt x="57150" y="114300"/>
                </a:lnTo>
                <a:cubicBezTo>
                  <a:pt x="57150" y="98494"/>
                  <a:pt x="69919" y="85725"/>
                  <a:pt x="85725" y="85725"/>
                </a:cubicBezTo>
                <a:close/>
              </a:path>
            </a:pathLst>
          </a:custGeom>
          <a:solidFill>
            <a:srgbClr val="D4652A"/>
          </a:solidFill>
          <a:ln/>
        </p:spPr>
        <p:txBody>
          <a:bodyPr/>
          <a:lstStyle/>
          <a:p>
            <a:endParaRPr lang="en-US"/>
          </a:p>
        </p:txBody>
      </p:sp>
      <p:sp>
        <p:nvSpPr>
          <p:cNvPr id="16" name="Text 13"/>
          <p:cNvSpPr/>
          <p:nvPr/>
        </p:nvSpPr>
        <p:spPr>
          <a:xfrm>
            <a:off x="1905000" y="2057400"/>
            <a:ext cx="3810000" cy="355600"/>
          </a:xfrm>
          <a:prstGeom prst="rect">
            <a:avLst/>
          </a:prstGeom>
          <a:noFill/>
          <a:ln/>
        </p:spPr>
        <p:txBody>
          <a:bodyPr wrap="none" lIns="0" tIns="0" rIns="0" bIns="0" rtlCol="0" anchor="ctr"/>
          <a:lstStyle/>
          <a:p>
            <a:pPr algn="l">
              <a:lnSpc>
                <a:spcPct val="120000"/>
              </a:lnSpc>
            </a:pPr>
            <a:r>
              <a:rPr lang="en-US" sz="1800" b="1" dirty="0">
                <a:solidFill>
                  <a:srgbClr val="1E1E1E"/>
                </a:solidFill>
                <a:latin typeface="Liter" pitchFamily="34" charset="0"/>
                <a:ea typeface="Liter" pitchFamily="34" charset="-122"/>
                <a:cs typeface="Liter" pitchFamily="34" charset="-120"/>
              </a:rPr>
              <a:t>React SPA</a:t>
            </a:r>
            <a:endParaRPr lang="en-US" sz="1800" dirty="0"/>
          </a:p>
        </p:txBody>
      </p:sp>
      <p:sp>
        <p:nvSpPr>
          <p:cNvPr id="17" name="Text 14"/>
          <p:cNvSpPr/>
          <p:nvPr/>
        </p:nvSpPr>
        <p:spPr>
          <a:xfrm>
            <a:off x="1905000" y="2438400"/>
            <a:ext cx="6350000" cy="635000"/>
          </a:xfrm>
          <a:prstGeom prst="rect">
            <a:avLst/>
          </a:prstGeom>
          <a:noFill/>
          <a:ln/>
        </p:spPr>
        <p:txBody>
          <a:bodyPr wrap="square" lIns="0" tIns="0" rIns="0" bIns="0" rtlCol="0" anchor="t"/>
          <a:lstStyle/>
          <a:p>
            <a:pPr algn="l">
              <a:lnSpc>
                <a:spcPct val="150000"/>
              </a:lnSpc>
            </a:pPr>
            <a:r>
              <a:rPr lang="en-US" sz="1300" dirty="0">
                <a:solidFill>
                  <a:srgbClr val="5C5C5C"/>
                </a:solidFill>
                <a:latin typeface="Quattrocento Sans" pitchFamily="34" charset="0"/>
                <a:ea typeface="Quattrocento Sans" pitchFamily="34" charset="-122"/>
                <a:cs typeface="Quattrocento Sans" pitchFamily="34" charset="-120"/>
              </a:rPr>
              <a:t>20+ components | 8 pages | React hooks state management | Tailwind CSS + Radix UI | Responsive design</a:t>
            </a:r>
            <a:endParaRPr lang="en-US" sz="1300" dirty="0"/>
          </a:p>
        </p:txBody>
      </p:sp>
      <p:sp>
        <p:nvSpPr>
          <p:cNvPr id="18" name="Text 15"/>
          <p:cNvSpPr/>
          <p:nvPr/>
        </p:nvSpPr>
        <p:spPr>
          <a:xfrm>
            <a:off x="8636000" y="2032000"/>
            <a:ext cx="6477000" cy="1079500"/>
          </a:xfrm>
          <a:prstGeom prst="rect">
            <a:avLst/>
          </a:prstGeom>
          <a:noFill/>
          <a:ln/>
        </p:spPr>
        <p:txBody>
          <a:bodyPr wrap="square" lIns="0" tIns="0" rIns="0" bIns="0" rtlCol="0" anchor="t"/>
          <a:lstStyle/>
          <a:p>
            <a:pPr algn="l">
              <a:lnSpc>
                <a:spcPct val="160000"/>
              </a:lnSpc>
            </a:pPr>
            <a:r>
              <a:rPr lang="en-US" sz="1200" dirty="0">
                <a:solidFill>
                  <a:srgbClr val="D4652A"/>
                </a:solidFill>
                <a:latin typeface="Quattrocento Sans" pitchFamily="34" charset="0"/>
                <a:ea typeface="Quattrocento Sans" pitchFamily="34" charset="-122"/>
                <a:cs typeface="Quattrocento Sans" pitchFamily="34" charset="-120"/>
              </a:rPr>
              <a:t>●</a:t>
            </a:r>
            <a:r>
              <a:rPr lang="en-US" sz="1200" dirty="0">
                <a:solidFill>
                  <a:srgbClr val="1E1E1E"/>
                </a:solidFill>
                <a:latin typeface="Quattrocento Sans" pitchFamily="34" charset="0"/>
                <a:ea typeface="Quattrocento Sans" pitchFamily="34" charset="-122"/>
                <a:cs typeface="Quattrocento Sans" pitchFamily="34" charset="-120"/>
              </a:rPr>
              <a:t> Home  </a:t>
            </a:r>
            <a:r>
              <a:rPr lang="en-US" sz="1200" dirty="0">
                <a:solidFill>
                  <a:srgbClr val="D4652A"/>
                </a:solidFill>
                <a:latin typeface="Quattrocento Sans" pitchFamily="34" charset="0"/>
                <a:ea typeface="Quattrocento Sans" pitchFamily="34" charset="-122"/>
                <a:cs typeface="Quattrocento Sans" pitchFamily="34" charset="-120"/>
              </a:rPr>
              <a:t>●</a:t>
            </a:r>
            <a:r>
              <a:rPr lang="en-US" sz="1200" dirty="0">
                <a:solidFill>
                  <a:srgbClr val="1E1E1E"/>
                </a:solidFill>
                <a:latin typeface="Quattrocento Sans" pitchFamily="34" charset="0"/>
                <a:ea typeface="Quattrocento Sans" pitchFamily="34" charset="-122"/>
                <a:cs typeface="Quattrocento Sans" pitchFamily="34" charset="-120"/>
              </a:rPr>
              <a:t> Explore  </a:t>
            </a:r>
            <a:r>
              <a:rPr lang="en-US" sz="1200" dirty="0">
                <a:solidFill>
                  <a:srgbClr val="D4652A"/>
                </a:solidFill>
                <a:latin typeface="Quattrocento Sans" pitchFamily="34" charset="0"/>
                <a:ea typeface="Quattrocento Sans" pitchFamily="34" charset="-122"/>
                <a:cs typeface="Quattrocento Sans" pitchFamily="34" charset="-120"/>
              </a:rPr>
              <a:t>●</a:t>
            </a:r>
            <a:r>
              <a:rPr lang="en-US" sz="1200" dirty="0">
                <a:solidFill>
                  <a:srgbClr val="1E1E1E"/>
                </a:solidFill>
                <a:latin typeface="Quattrocento Sans" pitchFamily="34" charset="0"/>
                <a:ea typeface="Quattrocento Sans" pitchFamily="34" charset="-122"/>
                <a:cs typeface="Quattrocento Sans" pitchFamily="34" charset="-120"/>
              </a:rPr>
              <a:t> Detail  </a:t>
            </a:r>
            <a:r>
              <a:rPr lang="en-US" sz="1200" dirty="0">
                <a:solidFill>
                  <a:srgbClr val="D4652A"/>
                </a:solidFill>
                <a:latin typeface="Quattrocento Sans" pitchFamily="34" charset="0"/>
                <a:ea typeface="Quattrocento Sans" pitchFamily="34" charset="-122"/>
                <a:cs typeface="Quattrocento Sans" pitchFamily="34" charset="-120"/>
              </a:rPr>
              <a:t>●</a:t>
            </a:r>
            <a:r>
              <a:rPr lang="en-US" sz="1200" dirty="0">
                <a:solidFill>
                  <a:srgbClr val="1E1E1E"/>
                </a:solidFill>
                <a:latin typeface="Quattrocento Sans" pitchFamily="34" charset="0"/>
                <a:ea typeface="Quattrocento Sans" pitchFamily="34" charset="-122"/>
                <a:cs typeface="Quattrocento Sans" pitchFamily="34" charset="-120"/>
              </a:rPr>
              <a:t> Saved</a:t>
            </a:r>
            <a:endParaRPr lang="en-US" sz="1200" dirty="0"/>
          </a:p>
          <a:p>
            <a:pPr algn="l">
              <a:lnSpc>
                <a:spcPct val="160000"/>
              </a:lnSpc>
            </a:pPr>
            <a:r>
              <a:rPr lang="en-US" sz="1200" dirty="0">
                <a:solidFill>
                  <a:srgbClr val="D4652A"/>
                </a:solidFill>
                <a:latin typeface="Quattrocento Sans" pitchFamily="34" charset="0"/>
                <a:ea typeface="Quattrocento Sans" pitchFamily="34" charset="-122"/>
                <a:cs typeface="Quattrocento Sans" pitchFamily="34" charset="-120"/>
              </a:rPr>
              <a:t>●</a:t>
            </a:r>
            <a:r>
              <a:rPr lang="en-US" sz="1200" dirty="0">
                <a:solidFill>
                  <a:srgbClr val="1E1E1E"/>
                </a:solidFill>
                <a:latin typeface="Quattrocento Sans" pitchFamily="34" charset="0"/>
                <a:ea typeface="Quattrocento Sans" pitchFamily="34" charset="-122"/>
                <a:cs typeface="Quattrocento Sans" pitchFamily="34" charset="-120"/>
              </a:rPr>
              <a:t> Profile  </a:t>
            </a:r>
            <a:r>
              <a:rPr lang="en-US" sz="1200" dirty="0">
                <a:solidFill>
                  <a:srgbClr val="D4652A"/>
                </a:solidFill>
                <a:latin typeface="Quattrocento Sans" pitchFamily="34" charset="0"/>
                <a:ea typeface="Quattrocento Sans" pitchFamily="34" charset="-122"/>
                <a:cs typeface="Quattrocento Sans" pitchFamily="34" charset="-120"/>
              </a:rPr>
              <a:t>●</a:t>
            </a:r>
            <a:r>
              <a:rPr lang="en-US" sz="1200" dirty="0">
                <a:solidFill>
                  <a:srgbClr val="1E1E1E"/>
                </a:solidFill>
                <a:latin typeface="Quattrocento Sans" pitchFamily="34" charset="0"/>
                <a:ea typeface="Quattrocento Sans" pitchFamily="34" charset="-122"/>
                <a:cs typeface="Quattrocento Sans" pitchFamily="34" charset="-120"/>
              </a:rPr>
              <a:t> Admin  </a:t>
            </a:r>
            <a:r>
              <a:rPr lang="en-US" sz="1200" dirty="0">
                <a:solidFill>
                  <a:srgbClr val="D4652A"/>
                </a:solidFill>
                <a:latin typeface="Quattrocento Sans" pitchFamily="34" charset="0"/>
                <a:ea typeface="Quattrocento Sans" pitchFamily="34" charset="-122"/>
                <a:cs typeface="Quattrocento Sans" pitchFamily="34" charset="-120"/>
              </a:rPr>
              <a:t>●</a:t>
            </a:r>
            <a:r>
              <a:rPr lang="en-US" sz="1200" dirty="0">
                <a:solidFill>
                  <a:srgbClr val="1E1E1E"/>
                </a:solidFill>
                <a:latin typeface="Quattrocento Sans" pitchFamily="34" charset="0"/>
                <a:ea typeface="Quattrocento Sans" pitchFamily="34" charset="-122"/>
                <a:cs typeface="Quattrocento Sans" pitchFamily="34" charset="-120"/>
              </a:rPr>
              <a:t> Login  </a:t>
            </a:r>
            <a:r>
              <a:rPr lang="en-US" sz="1200" dirty="0">
                <a:solidFill>
                  <a:srgbClr val="D4652A"/>
                </a:solidFill>
                <a:latin typeface="Quattrocento Sans" pitchFamily="34" charset="0"/>
                <a:ea typeface="Quattrocento Sans" pitchFamily="34" charset="-122"/>
                <a:cs typeface="Quattrocento Sans" pitchFamily="34" charset="-120"/>
              </a:rPr>
              <a:t>●</a:t>
            </a:r>
            <a:r>
              <a:rPr lang="en-US" sz="1200" dirty="0">
                <a:solidFill>
                  <a:srgbClr val="1E1E1E"/>
                </a:solidFill>
                <a:latin typeface="Quattrocento Sans" pitchFamily="34" charset="0"/>
                <a:ea typeface="Quattrocento Sans" pitchFamily="34" charset="-122"/>
                <a:cs typeface="Quattrocento Sans" pitchFamily="34" charset="-120"/>
              </a:rPr>
              <a:t> Register</a:t>
            </a:r>
            <a:endParaRPr lang="en-US" sz="1200" dirty="0"/>
          </a:p>
        </p:txBody>
      </p:sp>
      <p:sp>
        <p:nvSpPr>
          <p:cNvPr id="19" name="Shape 16"/>
          <p:cNvSpPr/>
          <p:nvPr/>
        </p:nvSpPr>
        <p:spPr>
          <a:xfrm>
            <a:off x="7874000" y="3365500"/>
            <a:ext cx="0" cy="317500"/>
          </a:xfrm>
          <a:prstGeom prst="straightConnector1">
            <a:avLst/>
          </a:prstGeom>
          <a:noFill/>
          <a:ln w="25400">
            <a:solidFill>
              <a:srgbClr val="D4652A"/>
            </a:solidFill>
            <a:prstDash val="solid"/>
            <a:headEnd type="none"/>
            <a:tailEnd type="arrow"/>
          </a:ln>
        </p:spPr>
        <p:txBody>
          <a:bodyPr/>
          <a:lstStyle/>
          <a:p>
            <a:endParaRPr lang="en-US"/>
          </a:p>
        </p:txBody>
      </p:sp>
      <p:sp>
        <p:nvSpPr>
          <p:cNvPr id="20" name="Shape 17"/>
          <p:cNvSpPr/>
          <p:nvPr/>
        </p:nvSpPr>
        <p:spPr>
          <a:xfrm>
            <a:off x="762000" y="3746500"/>
            <a:ext cx="14732000" cy="1778000"/>
          </a:xfrm>
          <a:prstGeom prst="roundRect">
            <a:avLst>
              <a:gd name="adj" fmla="val 4000"/>
            </a:avLst>
          </a:prstGeom>
          <a:solidFill>
            <a:srgbClr val="F0EBE6"/>
          </a:solidFill>
          <a:ln w="12700">
            <a:solidFill>
              <a:srgbClr val="B85C28"/>
            </a:solidFill>
            <a:prstDash val="solid"/>
          </a:ln>
        </p:spPr>
        <p:txBody>
          <a:bodyPr/>
          <a:lstStyle/>
          <a:p>
            <a:endParaRPr lang="en-US"/>
          </a:p>
        </p:txBody>
      </p:sp>
      <p:sp>
        <p:nvSpPr>
          <p:cNvPr id="21" name="Shape 18"/>
          <p:cNvSpPr/>
          <p:nvPr/>
        </p:nvSpPr>
        <p:spPr>
          <a:xfrm>
            <a:off x="762000" y="3746500"/>
            <a:ext cx="2540000" cy="381000"/>
          </a:xfrm>
          <a:prstGeom prst="rect">
            <a:avLst/>
          </a:prstGeom>
          <a:solidFill>
            <a:srgbClr val="B85C28"/>
          </a:solidFill>
          <a:ln/>
        </p:spPr>
        <p:txBody>
          <a:bodyPr/>
          <a:lstStyle/>
          <a:p>
            <a:endParaRPr lang="en-US"/>
          </a:p>
        </p:txBody>
      </p:sp>
      <p:sp>
        <p:nvSpPr>
          <p:cNvPr id="22" name="Text 19"/>
          <p:cNvSpPr/>
          <p:nvPr/>
        </p:nvSpPr>
        <p:spPr>
          <a:xfrm>
            <a:off x="762000" y="3746500"/>
            <a:ext cx="2540000" cy="381000"/>
          </a:xfrm>
          <a:prstGeom prst="rect">
            <a:avLst/>
          </a:prstGeom>
          <a:noFill/>
          <a:ln/>
        </p:spPr>
        <p:txBody>
          <a:bodyPr wrap="none" lIns="0" tIns="0" rIns="0" bIns="0" rtlCol="0" anchor="ctr"/>
          <a:lstStyle/>
          <a:p>
            <a:pPr algn="ctr">
              <a:lnSpc>
                <a:spcPct val="120000"/>
              </a:lnSpc>
            </a:pPr>
            <a:r>
              <a:rPr lang="en-US" sz="1200" b="1" dirty="0">
                <a:solidFill>
                  <a:srgbClr val="FFFFFF"/>
                </a:solidFill>
                <a:latin typeface="Liter" pitchFamily="34" charset="0"/>
                <a:ea typeface="Liter" pitchFamily="34" charset="-122"/>
                <a:cs typeface="Liter" pitchFamily="34" charset="-120"/>
              </a:rPr>
              <a:t>APPLICATION LAYER</a:t>
            </a:r>
            <a:endParaRPr lang="en-US" sz="1200" dirty="0"/>
          </a:p>
        </p:txBody>
      </p:sp>
      <p:sp>
        <p:nvSpPr>
          <p:cNvPr id="23" name="Shape 20"/>
          <p:cNvSpPr/>
          <p:nvPr/>
        </p:nvSpPr>
        <p:spPr>
          <a:xfrm>
            <a:off x="1270000" y="4318000"/>
            <a:ext cx="457200" cy="457200"/>
          </a:xfrm>
          <a:custGeom>
            <a:avLst/>
            <a:gdLst/>
            <a:ahLst/>
            <a:cxnLst/>
            <a:rect l="l" t="t" r="r" b="b"/>
            <a:pathLst>
              <a:path w="457200" h="457200">
                <a:moveTo>
                  <a:pt x="65314" y="28575"/>
                </a:moveTo>
                <a:cubicBezTo>
                  <a:pt x="29289" y="28575"/>
                  <a:pt x="0" y="54203"/>
                  <a:pt x="0" y="85725"/>
                </a:cubicBezTo>
                <a:lnTo>
                  <a:pt x="0" y="142875"/>
                </a:lnTo>
                <a:cubicBezTo>
                  <a:pt x="0" y="174397"/>
                  <a:pt x="29289" y="200025"/>
                  <a:pt x="65314" y="200025"/>
                </a:cubicBezTo>
                <a:lnTo>
                  <a:pt x="391886" y="200025"/>
                </a:lnTo>
                <a:cubicBezTo>
                  <a:pt x="427911" y="200025"/>
                  <a:pt x="457200" y="174397"/>
                  <a:pt x="457200" y="142875"/>
                </a:cubicBezTo>
                <a:lnTo>
                  <a:pt x="457200" y="85725"/>
                </a:lnTo>
                <a:cubicBezTo>
                  <a:pt x="457200" y="54203"/>
                  <a:pt x="427911" y="28575"/>
                  <a:pt x="391886" y="28575"/>
                </a:cubicBezTo>
                <a:lnTo>
                  <a:pt x="65314" y="28575"/>
                </a:lnTo>
                <a:close/>
                <a:moveTo>
                  <a:pt x="285750" y="92869"/>
                </a:moveTo>
                <a:cubicBezTo>
                  <a:pt x="299268" y="92869"/>
                  <a:pt x="310243" y="102472"/>
                  <a:pt x="310243" y="114300"/>
                </a:cubicBezTo>
                <a:cubicBezTo>
                  <a:pt x="310243" y="126128"/>
                  <a:pt x="299268" y="135731"/>
                  <a:pt x="285750" y="135731"/>
                </a:cubicBezTo>
                <a:cubicBezTo>
                  <a:pt x="272232" y="135731"/>
                  <a:pt x="261257" y="126128"/>
                  <a:pt x="261257" y="114300"/>
                </a:cubicBezTo>
                <a:cubicBezTo>
                  <a:pt x="261257" y="102472"/>
                  <a:pt x="272232" y="92869"/>
                  <a:pt x="285750" y="92869"/>
                </a:cubicBezTo>
                <a:close/>
                <a:moveTo>
                  <a:pt x="342900" y="114300"/>
                </a:moveTo>
                <a:cubicBezTo>
                  <a:pt x="342900" y="102472"/>
                  <a:pt x="353875" y="92869"/>
                  <a:pt x="367393" y="92869"/>
                </a:cubicBezTo>
                <a:cubicBezTo>
                  <a:pt x="380911" y="92869"/>
                  <a:pt x="391886" y="102472"/>
                  <a:pt x="391886" y="114300"/>
                </a:cubicBezTo>
                <a:cubicBezTo>
                  <a:pt x="391886" y="126128"/>
                  <a:pt x="380911" y="135731"/>
                  <a:pt x="367393" y="135731"/>
                </a:cubicBezTo>
                <a:cubicBezTo>
                  <a:pt x="353875" y="135731"/>
                  <a:pt x="342900" y="126128"/>
                  <a:pt x="342900" y="114300"/>
                </a:cubicBezTo>
                <a:close/>
                <a:moveTo>
                  <a:pt x="65314" y="257175"/>
                </a:moveTo>
                <a:cubicBezTo>
                  <a:pt x="29289" y="257175"/>
                  <a:pt x="0" y="282803"/>
                  <a:pt x="0" y="314325"/>
                </a:cubicBezTo>
                <a:lnTo>
                  <a:pt x="0" y="371475"/>
                </a:lnTo>
                <a:cubicBezTo>
                  <a:pt x="0" y="402997"/>
                  <a:pt x="29289" y="428625"/>
                  <a:pt x="65314" y="428625"/>
                </a:cubicBezTo>
                <a:lnTo>
                  <a:pt x="391886" y="428625"/>
                </a:lnTo>
                <a:cubicBezTo>
                  <a:pt x="427911" y="428625"/>
                  <a:pt x="457200" y="402997"/>
                  <a:pt x="457200" y="371475"/>
                </a:cubicBezTo>
                <a:lnTo>
                  <a:pt x="457200" y="314325"/>
                </a:lnTo>
                <a:cubicBezTo>
                  <a:pt x="457200" y="282803"/>
                  <a:pt x="427911" y="257175"/>
                  <a:pt x="391886" y="257175"/>
                </a:cubicBezTo>
                <a:lnTo>
                  <a:pt x="65314" y="257175"/>
                </a:lnTo>
                <a:close/>
                <a:moveTo>
                  <a:pt x="285750" y="321469"/>
                </a:moveTo>
                <a:cubicBezTo>
                  <a:pt x="299268" y="321469"/>
                  <a:pt x="310243" y="331072"/>
                  <a:pt x="310243" y="342900"/>
                </a:cubicBezTo>
                <a:cubicBezTo>
                  <a:pt x="310243" y="354728"/>
                  <a:pt x="299268" y="364331"/>
                  <a:pt x="285750" y="364331"/>
                </a:cubicBezTo>
                <a:cubicBezTo>
                  <a:pt x="272232" y="364331"/>
                  <a:pt x="261257" y="354728"/>
                  <a:pt x="261257" y="342900"/>
                </a:cubicBezTo>
                <a:cubicBezTo>
                  <a:pt x="261257" y="331072"/>
                  <a:pt x="272232" y="321469"/>
                  <a:pt x="285750" y="321469"/>
                </a:cubicBezTo>
                <a:close/>
                <a:moveTo>
                  <a:pt x="342900" y="342900"/>
                </a:moveTo>
                <a:cubicBezTo>
                  <a:pt x="342900" y="331072"/>
                  <a:pt x="353875" y="321469"/>
                  <a:pt x="367393" y="321469"/>
                </a:cubicBezTo>
                <a:cubicBezTo>
                  <a:pt x="380911" y="321469"/>
                  <a:pt x="391886" y="331072"/>
                  <a:pt x="391886" y="342900"/>
                </a:cubicBezTo>
                <a:cubicBezTo>
                  <a:pt x="391886" y="354728"/>
                  <a:pt x="380911" y="364331"/>
                  <a:pt x="367393" y="364331"/>
                </a:cubicBezTo>
                <a:cubicBezTo>
                  <a:pt x="353875" y="364331"/>
                  <a:pt x="342900" y="354728"/>
                  <a:pt x="342900" y="342900"/>
                </a:cubicBezTo>
                <a:close/>
              </a:path>
            </a:pathLst>
          </a:custGeom>
          <a:solidFill>
            <a:srgbClr val="B85C28"/>
          </a:solidFill>
          <a:ln/>
        </p:spPr>
        <p:txBody>
          <a:bodyPr/>
          <a:lstStyle/>
          <a:p>
            <a:endParaRPr lang="en-US"/>
          </a:p>
        </p:txBody>
      </p:sp>
      <p:sp>
        <p:nvSpPr>
          <p:cNvPr id="24" name="Text 21"/>
          <p:cNvSpPr/>
          <p:nvPr/>
        </p:nvSpPr>
        <p:spPr>
          <a:xfrm>
            <a:off x="1905000" y="4279900"/>
            <a:ext cx="3810000" cy="355600"/>
          </a:xfrm>
          <a:prstGeom prst="rect">
            <a:avLst/>
          </a:prstGeom>
          <a:noFill/>
          <a:ln/>
        </p:spPr>
        <p:txBody>
          <a:bodyPr wrap="none" lIns="0" tIns="0" rIns="0" bIns="0" rtlCol="0" anchor="ctr"/>
          <a:lstStyle/>
          <a:p>
            <a:pPr algn="l">
              <a:lnSpc>
                <a:spcPct val="120000"/>
              </a:lnSpc>
            </a:pPr>
            <a:r>
              <a:rPr lang="en-US" sz="1800" b="1" dirty="0">
                <a:solidFill>
                  <a:srgbClr val="1E1E1E"/>
                </a:solidFill>
                <a:latin typeface="Liter" pitchFamily="34" charset="0"/>
                <a:ea typeface="Liter" pitchFamily="34" charset="-122"/>
                <a:cs typeface="Liter" pitchFamily="34" charset="-120"/>
              </a:rPr>
              <a:t>Express.js Proxy Server</a:t>
            </a:r>
            <a:endParaRPr lang="en-US" sz="1800" dirty="0"/>
          </a:p>
        </p:txBody>
      </p:sp>
      <p:sp>
        <p:nvSpPr>
          <p:cNvPr id="25" name="Text 22"/>
          <p:cNvSpPr/>
          <p:nvPr/>
        </p:nvSpPr>
        <p:spPr>
          <a:xfrm>
            <a:off x="1905000" y="4660900"/>
            <a:ext cx="6350000" cy="635000"/>
          </a:xfrm>
          <a:prstGeom prst="rect">
            <a:avLst/>
          </a:prstGeom>
          <a:noFill/>
          <a:ln/>
        </p:spPr>
        <p:txBody>
          <a:bodyPr wrap="square" lIns="0" tIns="0" rIns="0" bIns="0" rtlCol="0" anchor="t"/>
          <a:lstStyle/>
          <a:p>
            <a:pPr algn="l">
              <a:lnSpc>
                <a:spcPct val="150000"/>
              </a:lnSpc>
            </a:pPr>
            <a:r>
              <a:rPr lang="en-US" sz="1300" dirty="0">
                <a:solidFill>
                  <a:srgbClr val="5C5C5C"/>
                </a:solidFill>
                <a:latin typeface="Quattrocento Sans" pitchFamily="34" charset="0"/>
                <a:ea typeface="Quattrocento Sans" pitchFamily="34" charset="-122"/>
                <a:cs typeface="Quattrocento Sans" pitchFamily="34" charset="-120"/>
              </a:rPr>
              <a:t>Node.js runtime | 4 REST endpoints | CORS middleware | Environment-based config | Stateless</a:t>
            </a:r>
            <a:endParaRPr lang="en-US" sz="1300" dirty="0"/>
          </a:p>
        </p:txBody>
      </p:sp>
      <p:sp>
        <p:nvSpPr>
          <p:cNvPr id="26" name="Text 23"/>
          <p:cNvSpPr/>
          <p:nvPr/>
        </p:nvSpPr>
        <p:spPr>
          <a:xfrm>
            <a:off x="8636000" y="4254500"/>
            <a:ext cx="6477000" cy="1079500"/>
          </a:xfrm>
          <a:prstGeom prst="rect">
            <a:avLst/>
          </a:prstGeom>
          <a:noFill/>
          <a:ln/>
        </p:spPr>
        <p:txBody>
          <a:bodyPr wrap="square" lIns="0" tIns="0" rIns="0" bIns="0" rtlCol="0" anchor="t"/>
          <a:lstStyle/>
          <a:p>
            <a:pPr algn="l">
              <a:lnSpc>
                <a:spcPct val="160000"/>
              </a:lnSpc>
            </a:pPr>
            <a:r>
              <a:rPr lang="en-US" sz="1200" dirty="0">
                <a:solidFill>
                  <a:srgbClr val="B85C28"/>
                </a:solidFill>
                <a:latin typeface="Quattrocento Sans" pitchFamily="34" charset="0"/>
                <a:ea typeface="Quattrocento Sans" pitchFamily="34" charset="-122"/>
                <a:cs typeface="Quattrocento Sans" pitchFamily="34" charset="-120"/>
              </a:rPr>
              <a:t>●</a:t>
            </a:r>
            <a:r>
              <a:rPr lang="en-US" sz="1200" dirty="0">
                <a:solidFill>
                  <a:srgbClr val="1E1E1E"/>
                </a:solidFill>
                <a:latin typeface="Quattrocento Sans" pitchFamily="34" charset="0"/>
                <a:ea typeface="Quattrocento Sans" pitchFamily="34" charset="-122"/>
                <a:cs typeface="Quattrocento Sans" pitchFamily="34" charset="-120"/>
              </a:rPr>
              <a:t> /api/search  </a:t>
            </a:r>
            <a:r>
              <a:rPr lang="en-US" sz="1200" dirty="0">
                <a:solidFill>
                  <a:srgbClr val="B85C28"/>
                </a:solidFill>
                <a:latin typeface="Quattrocento Sans" pitchFamily="34" charset="0"/>
                <a:ea typeface="Quattrocento Sans" pitchFamily="34" charset="-122"/>
                <a:cs typeface="Quattrocento Sans" pitchFamily="34" charset="-120"/>
              </a:rPr>
              <a:t>●</a:t>
            </a:r>
            <a:r>
              <a:rPr lang="en-US" sz="1200" dirty="0">
                <a:solidFill>
                  <a:srgbClr val="1E1E1E"/>
                </a:solidFill>
                <a:latin typeface="Quattrocento Sans" pitchFamily="34" charset="0"/>
                <a:ea typeface="Quattrocento Sans" pitchFamily="34" charset="-122"/>
                <a:cs typeface="Quattrocento Sans" pitchFamily="34" charset="-120"/>
              </a:rPr>
              <a:t> /api/business/:id</a:t>
            </a:r>
            <a:endParaRPr lang="en-US" sz="1200" dirty="0"/>
          </a:p>
          <a:p>
            <a:pPr algn="l">
              <a:lnSpc>
                <a:spcPct val="160000"/>
              </a:lnSpc>
            </a:pPr>
            <a:r>
              <a:rPr lang="en-US" sz="1200" dirty="0">
                <a:solidFill>
                  <a:srgbClr val="B85C28"/>
                </a:solidFill>
                <a:latin typeface="Quattrocento Sans" pitchFamily="34" charset="0"/>
                <a:ea typeface="Quattrocento Sans" pitchFamily="34" charset="-122"/>
                <a:cs typeface="Quattrocento Sans" pitchFamily="34" charset="-120"/>
              </a:rPr>
              <a:t>●</a:t>
            </a:r>
            <a:r>
              <a:rPr lang="en-US" sz="1200" dirty="0">
                <a:solidFill>
                  <a:srgbClr val="1E1E1E"/>
                </a:solidFill>
                <a:latin typeface="Quattrocento Sans" pitchFamily="34" charset="0"/>
                <a:ea typeface="Quattrocento Sans" pitchFamily="34" charset="-122"/>
                <a:cs typeface="Quattrocento Sans" pitchFamily="34" charset="-120"/>
              </a:rPr>
              <a:t> /api/reviews/:id  </a:t>
            </a:r>
            <a:r>
              <a:rPr lang="en-US" sz="1200" dirty="0">
                <a:solidFill>
                  <a:srgbClr val="B85C28"/>
                </a:solidFill>
                <a:latin typeface="Quattrocento Sans" pitchFamily="34" charset="0"/>
                <a:ea typeface="Quattrocento Sans" pitchFamily="34" charset="-122"/>
                <a:cs typeface="Quattrocento Sans" pitchFamily="34" charset="-120"/>
              </a:rPr>
              <a:t>●</a:t>
            </a:r>
            <a:r>
              <a:rPr lang="en-US" sz="1200" dirty="0">
                <a:solidFill>
                  <a:srgbClr val="1E1E1E"/>
                </a:solidFill>
                <a:latin typeface="Quattrocento Sans" pitchFamily="34" charset="0"/>
                <a:ea typeface="Quattrocento Sans" pitchFamily="34" charset="-122"/>
                <a:cs typeface="Quattrocento Sans" pitchFamily="34" charset="-120"/>
              </a:rPr>
              <a:t> /api/menus/:id</a:t>
            </a:r>
            <a:endParaRPr lang="en-US" sz="1200" dirty="0"/>
          </a:p>
        </p:txBody>
      </p:sp>
      <p:sp>
        <p:nvSpPr>
          <p:cNvPr id="27" name="Shape 24"/>
          <p:cNvSpPr/>
          <p:nvPr/>
        </p:nvSpPr>
        <p:spPr>
          <a:xfrm>
            <a:off x="7874000" y="5588000"/>
            <a:ext cx="0" cy="317500"/>
          </a:xfrm>
          <a:prstGeom prst="straightConnector1">
            <a:avLst/>
          </a:prstGeom>
          <a:noFill/>
          <a:ln w="25400">
            <a:solidFill>
              <a:srgbClr val="B85C28"/>
            </a:solidFill>
            <a:prstDash val="solid"/>
            <a:headEnd type="none"/>
            <a:tailEnd type="arrow"/>
          </a:ln>
        </p:spPr>
        <p:txBody>
          <a:bodyPr/>
          <a:lstStyle/>
          <a:p>
            <a:endParaRPr lang="en-US"/>
          </a:p>
        </p:txBody>
      </p:sp>
      <p:sp>
        <p:nvSpPr>
          <p:cNvPr id="28" name="Shape 25"/>
          <p:cNvSpPr/>
          <p:nvPr/>
        </p:nvSpPr>
        <p:spPr>
          <a:xfrm>
            <a:off x="762000" y="5969000"/>
            <a:ext cx="14732000" cy="1778000"/>
          </a:xfrm>
          <a:prstGeom prst="roundRect">
            <a:avLst>
              <a:gd name="adj" fmla="val 4000"/>
            </a:avLst>
          </a:prstGeom>
          <a:solidFill>
            <a:srgbClr val="2D2D2D"/>
          </a:solidFill>
          <a:ln/>
        </p:spPr>
        <p:txBody>
          <a:bodyPr/>
          <a:lstStyle/>
          <a:p>
            <a:endParaRPr lang="en-US"/>
          </a:p>
        </p:txBody>
      </p:sp>
      <p:sp>
        <p:nvSpPr>
          <p:cNvPr id="29" name="Shape 26"/>
          <p:cNvSpPr/>
          <p:nvPr/>
        </p:nvSpPr>
        <p:spPr>
          <a:xfrm>
            <a:off x="762000" y="5969000"/>
            <a:ext cx="2540000" cy="381000"/>
          </a:xfrm>
          <a:prstGeom prst="rect">
            <a:avLst/>
          </a:prstGeom>
          <a:solidFill>
            <a:srgbClr val="2D2D2D"/>
          </a:solidFill>
          <a:ln w="12700">
            <a:solidFill>
              <a:srgbClr val="D4652A"/>
            </a:solidFill>
            <a:prstDash val="solid"/>
          </a:ln>
        </p:spPr>
        <p:txBody>
          <a:bodyPr/>
          <a:lstStyle/>
          <a:p>
            <a:endParaRPr lang="en-US"/>
          </a:p>
        </p:txBody>
      </p:sp>
      <p:sp>
        <p:nvSpPr>
          <p:cNvPr id="30" name="Text 27"/>
          <p:cNvSpPr/>
          <p:nvPr/>
        </p:nvSpPr>
        <p:spPr>
          <a:xfrm>
            <a:off x="762000" y="5969000"/>
            <a:ext cx="2540000" cy="381000"/>
          </a:xfrm>
          <a:prstGeom prst="rect">
            <a:avLst/>
          </a:prstGeom>
          <a:noFill/>
          <a:ln/>
        </p:spPr>
        <p:txBody>
          <a:bodyPr wrap="none" lIns="0" tIns="0" rIns="0" bIns="0" rtlCol="0" anchor="ctr"/>
          <a:lstStyle/>
          <a:p>
            <a:pPr algn="ctr">
              <a:lnSpc>
                <a:spcPct val="120000"/>
              </a:lnSpc>
            </a:pPr>
            <a:r>
              <a:rPr lang="en-US" sz="1200" b="1" dirty="0">
                <a:solidFill>
                  <a:srgbClr val="D4652A"/>
                </a:solidFill>
                <a:latin typeface="Liter" pitchFamily="34" charset="0"/>
                <a:ea typeface="Liter" pitchFamily="34" charset="-122"/>
                <a:cs typeface="Liter" pitchFamily="34" charset="-120"/>
              </a:rPr>
              <a:t>DATA LAYER</a:t>
            </a:r>
            <a:endParaRPr lang="en-US" sz="1200" dirty="0"/>
          </a:p>
        </p:txBody>
      </p:sp>
      <p:sp>
        <p:nvSpPr>
          <p:cNvPr id="31" name="Shape 28"/>
          <p:cNvSpPr/>
          <p:nvPr/>
        </p:nvSpPr>
        <p:spPr>
          <a:xfrm>
            <a:off x="1270000" y="6540500"/>
            <a:ext cx="6096000" cy="952500"/>
          </a:xfrm>
          <a:prstGeom prst="roundRect">
            <a:avLst>
              <a:gd name="adj" fmla="val 8000"/>
            </a:avLst>
          </a:prstGeom>
          <a:solidFill>
            <a:srgbClr val="3D3D3D"/>
          </a:solidFill>
          <a:ln/>
        </p:spPr>
        <p:txBody>
          <a:bodyPr/>
          <a:lstStyle/>
          <a:p>
            <a:endParaRPr lang="en-US"/>
          </a:p>
        </p:txBody>
      </p:sp>
      <p:sp>
        <p:nvSpPr>
          <p:cNvPr id="32" name="Shape 29"/>
          <p:cNvSpPr/>
          <p:nvPr/>
        </p:nvSpPr>
        <p:spPr>
          <a:xfrm>
            <a:off x="1524000" y="6731000"/>
            <a:ext cx="381000" cy="381000"/>
          </a:xfrm>
          <a:custGeom>
            <a:avLst/>
            <a:gdLst/>
            <a:ahLst/>
            <a:cxnLst/>
            <a:rect l="l" t="t" r="r" b="b"/>
            <a:pathLst>
              <a:path w="381000" h="381000">
                <a:moveTo>
                  <a:pt x="42565" y="178817"/>
                </a:moveTo>
                <a:lnTo>
                  <a:pt x="141387" y="214982"/>
                </a:lnTo>
                <a:cubicBezTo>
                  <a:pt x="160437" y="221977"/>
                  <a:pt x="157460" y="242888"/>
                  <a:pt x="136922" y="246757"/>
                </a:cubicBezTo>
                <a:lnTo>
                  <a:pt x="30262" y="266774"/>
                </a:lnTo>
                <a:cubicBezTo>
                  <a:pt x="27087" y="267370"/>
                  <a:pt x="23912" y="267444"/>
                  <a:pt x="20737" y="266998"/>
                </a:cubicBezTo>
                <a:cubicBezTo>
                  <a:pt x="17562" y="266551"/>
                  <a:pt x="14585" y="265658"/>
                  <a:pt x="11906" y="264244"/>
                </a:cubicBezTo>
                <a:cubicBezTo>
                  <a:pt x="9227" y="262830"/>
                  <a:pt x="7045" y="261045"/>
                  <a:pt x="5358" y="258961"/>
                </a:cubicBezTo>
                <a:cubicBezTo>
                  <a:pt x="3671" y="256877"/>
                  <a:pt x="2679" y="254571"/>
                  <a:pt x="2282" y="252115"/>
                </a:cubicBezTo>
                <a:cubicBezTo>
                  <a:pt x="-992" y="230684"/>
                  <a:pt x="2084" y="209029"/>
                  <a:pt x="11212" y="188640"/>
                </a:cubicBezTo>
                <a:cubicBezTo>
                  <a:pt x="12204" y="186333"/>
                  <a:pt x="13891" y="184249"/>
                  <a:pt x="16073" y="182463"/>
                </a:cubicBezTo>
                <a:cubicBezTo>
                  <a:pt x="18256" y="180677"/>
                  <a:pt x="20935" y="179338"/>
                  <a:pt x="23912" y="178371"/>
                </a:cubicBezTo>
                <a:cubicBezTo>
                  <a:pt x="26888" y="177403"/>
                  <a:pt x="30063" y="177031"/>
                  <a:pt x="33338" y="177031"/>
                </a:cubicBezTo>
                <a:cubicBezTo>
                  <a:pt x="36612" y="177031"/>
                  <a:pt x="39688" y="177701"/>
                  <a:pt x="42565" y="178743"/>
                </a:cubicBezTo>
                <a:close/>
                <a:moveTo>
                  <a:pt x="86221" y="356890"/>
                </a:moveTo>
                <a:cubicBezTo>
                  <a:pt x="109835" y="369019"/>
                  <a:pt x="136723" y="377205"/>
                  <a:pt x="165001" y="380777"/>
                </a:cubicBezTo>
                <a:cubicBezTo>
                  <a:pt x="168176" y="381223"/>
                  <a:pt x="171450" y="381074"/>
                  <a:pt x="174526" y="380479"/>
                </a:cubicBezTo>
                <a:cubicBezTo>
                  <a:pt x="177602" y="379884"/>
                  <a:pt x="180578" y="378768"/>
                  <a:pt x="183059" y="377205"/>
                </a:cubicBezTo>
                <a:cubicBezTo>
                  <a:pt x="185539" y="375642"/>
                  <a:pt x="187623" y="373782"/>
                  <a:pt x="189012" y="371624"/>
                </a:cubicBezTo>
                <a:cubicBezTo>
                  <a:pt x="190401" y="369466"/>
                  <a:pt x="191294" y="367085"/>
                  <a:pt x="191393" y="364629"/>
                </a:cubicBezTo>
                <a:lnTo>
                  <a:pt x="195263" y="282178"/>
                </a:lnTo>
                <a:cubicBezTo>
                  <a:pt x="195957" y="266328"/>
                  <a:pt x="169962" y="258440"/>
                  <a:pt x="155773" y="270197"/>
                </a:cubicBezTo>
                <a:lnTo>
                  <a:pt x="82153" y="331515"/>
                </a:lnTo>
                <a:cubicBezTo>
                  <a:pt x="79970" y="333301"/>
                  <a:pt x="78383" y="335459"/>
                  <a:pt x="77391" y="337765"/>
                </a:cubicBezTo>
                <a:cubicBezTo>
                  <a:pt x="76398" y="340072"/>
                  <a:pt x="76101" y="342528"/>
                  <a:pt x="76498" y="344909"/>
                </a:cubicBezTo>
                <a:cubicBezTo>
                  <a:pt x="76895" y="347290"/>
                  <a:pt x="77986" y="349597"/>
                  <a:pt x="79573" y="351681"/>
                </a:cubicBezTo>
                <a:cubicBezTo>
                  <a:pt x="81161" y="353764"/>
                  <a:pt x="83443" y="355550"/>
                  <a:pt x="86122" y="356890"/>
                </a:cubicBezTo>
                <a:lnTo>
                  <a:pt x="86122" y="356890"/>
                </a:lnTo>
                <a:close/>
                <a:moveTo>
                  <a:pt x="230386" y="275109"/>
                </a:moveTo>
                <a:lnTo>
                  <a:pt x="288727" y="345058"/>
                </a:lnTo>
                <a:cubicBezTo>
                  <a:pt x="290413" y="347142"/>
                  <a:pt x="292695" y="348853"/>
                  <a:pt x="295473" y="350193"/>
                </a:cubicBezTo>
                <a:cubicBezTo>
                  <a:pt x="298252" y="351532"/>
                  <a:pt x="301228" y="352425"/>
                  <a:pt x="304403" y="352797"/>
                </a:cubicBezTo>
                <a:cubicBezTo>
                  <a:pt x="307578" y="353169"/>
                  <a:pt x="310852" y="353020"/>
                  <a:pt x="314027" y="352425"/>
                </a:cubicBezTo>
                <a:cubicBezTo>
                  <a:pt x="317202" y="351830"/>
                  <a:pt x="320080" y="350639"/>
                  <a:pt x="322560" y="349151"/>
                </a:cubicBezTo>
                <a:cubicBezTo>
                  <a:pt x="344686" y="335459"/>
                  <a:pt x="362545" y="318269"/>
                  <a:pt x="374848" y="298847"/>
                </a:cubicBezTo>
                <a:cubicBezTo>
                  <a:pt x="376238" y="296689"/>
                  <a:pt x="376932" y="294308"/>
                  <a:pt x="377031" y="291852"/>
                </a:cubicBezTo>
                <a:cubicBezTo>
                  <a:pt x="377130" y="289396"/>
                  <a:pt x="376436" y="287015"/>
                  <a:pt x="375146" y="284857"/>
                </a:cubicBezTo>
                <a:cubicBezTo>
                  <a:pt x="373856" y="282699"/>
                  <a:pt x="371971" y="280615"/>
                  <a:pt x="369590" y="279053"/>
                </a:cubicBezTo>
                <a:cubicBezTo>
                  <a:pt x="367209" y="277490"/>
                  <a:pt x="364430" y="276151"/>
                  <a:pt x="361355" y="275406"/>
                </a:cubicBezTo>
                <a:lnTo>
                  <a:pt x="256679" y="249808"/>
                </a:lnTo>
                <a:cubicBezTo>
                  <a:pt x="236537" y="244971"/>
                  <a:pt x="219174" y="261565"/>
                  <a:pt x="230386" y="275034"/>
                </a:cubicBezTo>
                <a:close/>
                <a:moveTo>
                  <a:pt x="377627" y="176659"/>
                </a:moveTo>
                <a:cubicBezTo>
                  <a:pt x="366216" y="156939"/>
                  <a:pt x="349151" y="139303"/>
                  <a:pt x="327620" y="125090"/>
                </a:cubicBezTo>
                <a:cubicBezTo>
                  <a:pt x="325239" y="123527"/>
                  <a:pt x="322362" y="122337"/>
                  <a:pt x="319286" y="121593"/>
                </a:cubicBezTo>
                <a:cubicBezTo>
                  <a:pt x="316210" y="120848"/>
                  <a:pt x="312936" y="120700"/>
                  <a:pt x="309761" y="120997"/>
                </a:cubicBezTo>
                <a:cubicBezTo>
                  <a:pt x="306586" y="121295"/>
                  <a:pt x="303510" y="122113"/>
                  <a:pt x="300732" y="123379"/>
                </a:cubicBezTo>
                <a:cubicBezTo>
                  <a:pt x="297954" y="124644"/>
                  <a:pt x="295672" y="126355"/>
                  <a:pt x="293886" y="128364"/>
                </a:cubicBezTo>
                <a:lnTo>
                  <a:pt x="232370" y="196751"/>
                </a:lnTo>
                <a:cubicBezTo>
                  <a:pt x="220563" y="209922"/>
                  <a:pt x="237034" y="226963"/>
                  <a:pt x="257373" y="222572"/>
                </a:cubicBezTo>
                <a:lnTo>
                  <a:pt x="363141" y="199876"/>
                </a:lnTo>
                <a:cubicBezTo>
                  <a:pt x="366216" y="199206"/>
                  <a:pt x="369094" y="198016"/>
                  <a:pt x="371574" y="196453"/>
                </a:cubicBezTo>
                <a:cubicBezTo>
                  <a:pt x="374055" y="194890"/>
                  <a:pt x="376039" y="192956"/>
                  <a:pt x="377329" y="190723"/>
                </a:cubicBezTo>
                <a:cubicBezTo>
                  <a:pt x="378619" y="188491"/>
                  <a:pt x="379413" y="186110"/>
                  <a:pt x="379512" y="183728"/>
                </a:cubicBezTo>
                <a:cubicBezTo>
                  <a:pt x="379611" y="181347"/>
                  <a:pt x="378916" y="178891"/>
                  <a:pt x="377627" y="176659"/>
                </a:cubicBezTo>
                <a:lnTo>
                  <a:pt x="377627" y="176659"/>
                </a:lnTo>
                <a:close/>
                <a:moveTo>
                  <a:pt x="61615" y="22473"/>
                </a:moveTo>
                <a:cubicBezTo>
                  <a:pt x="58837" y="23515"/>
                  <a:pt x="56257" y="24929"/>
                  <a:pt x="54273" y="26715"/>
                </a:cubicBezTo>
                <a:cubicBezTo>
                  <a:pt x="52288" y="28501"/>
                  <a:pt x="50701" y="30584"/>
                  <a:pt x="49808" y="32817"/>
                </a:cubicBezTo>
                <a:cubicBezTo>
                  <a:pt x="48915" y="35049"/>
                  <a:pt x="48617" y="37430"/>
                  <a:pt x="48915" y="39737"/>
                </a:cubicBezTo>
                <a:cubicBezTo>
                  <a:pt x="49213" y="42044"/>
                  <a:pt x="50205" y="44276"/>
                  <a:pt x="51792" y="46360"/>
                </a:cubicBezTo>
                <a:lnTo>
                  <a:pt x="155079" y="180529"/>
                </a:lnTo>
                <a:cubicBezTo>
                  <a:pt x="166688" y="195560"/>
                  <a:pt x="197346" y="189384"/>
                  <a:pt x="197346" y="172045"/>
                </a:cubicBezTo>
                <a:lnTo>
                  <a:pt x="197346" y="17041"/>
                </a:lnTo>
                <a:cubicBezTo>
                  <a:pt x="197346" y="14734"/>
                  <a:pt x="196751" y="12353"/>
                  <a:pt x="195560" y="10195"/>
                </a:cubicBezTo>
                <a:cubicBezTo>
                  <a:pt x="194370" y="8037"/>
                  <a:pt x="192484" y="6102"/>
                  <a:pt x="190202" y="4539"/>
                </a:cubicBezTo>
                <a:cubicBezTo>
                  <a:pt x="187920" y="2977"/>
                  <a:pt x="185241" y="1712"/>
                  <a:pt x="182265" y="967"/>
                </a:cubicBezTo>
                <a:cubicBezTo>
                  <a:pt x="179288" y="223"/>
                  <a:pt x="176213" y="-74"/>
                  <a:pt x="173038" y="74"/>
                </a:cubicBezTo>
                <a:cubicBezTo>
                  <a:pt x="134342" y="2381"/>
                  <a:pt x="96639" y="9971"/>
                  <a:pt x="61615" y="22473"/>
                </a:cubicBezTo>
                <a:close/>
              </a:path>
            </a:pathLst>
          </a:custGeom>
          <a:solidFill>
            <a:srgbClr val="D4652A"/>
          </a:solidFill>
          <a:ln/>
        </p:spPr>
        <p:txBody>
          <a:bodyPr/>
          <a:lstStyle/>
          <a:p>
            <a:endParaRPr lang="en-US"/>
          </a:p>
        </p:txBody>
      </p:sp>
      <p:sp>
        <p:nvSpPr>
          <p:cNvPr id="33" name="Text 30"/>
          <p:cNvSpPr/>
          <p:nvPr/>
        </p:nvSpPr>
        <p:spPr>
          <a:xfrm>
            <a:off x="2032000" y="6604000"/>
            <a:ext cx="5080000" cy="304800"/>
          </a:xfrm>
          <a:prstGeom prst="rect">
            <a:avLst/>
          </a:prstGeom>
          <a:noFill/>
          <a:ln/>
        </p:spPr>
        <p:txBody>
          <a:bodyPr wrap="none" lIns="0" tIns="0" rIns="0" bIns="0" rtlCol="0" anchor="ctr"/>
          <a:lstStyle/>
          <a:p>
            <a:pPr algn="l">
              <a:lnSpc>
                <a:spcPct val="120000"/>
              </a:lnSpc>
            </a:pPr>
            <a:r>
              <a:rPr lang="en-US" sz="1600" b="1" dirty="0">
                <a:solidFill>
                  <a:srgbClr val="FFFFFF"/>
                </a:solidFill>
                <a:latin typeface="Liter" pitchFamily="34" charset="0"/>
                <a:ea typeface="Liter" pitchFamily="34" charset="-122"/>
                <a:cs typeface="Liter" pitchFamily="34" charset="-120"/>
              </a:rPr>
              <a:t>Yelp Fusion API</a:t>
            </a:r>
            <a:endParaRPr lang="en-US" sz="1600" dirty="0"/>
          </a:p>
        </p:txBody>
      </p:sp>
      <p:sp>
        <p:nvSpPr>
          <p:cNvPr id="34" name="Text 31"/>
          <p:cNvSpPr/>
          <p:nvPr/>
        </p:nvSpPr>
        <p:spPr>
          <a:xfrm>
            <a:off x="2032000" y="6959600"/>
            <a:ext cx="5080000" cy="381000"/>
          </a:xfrm>
          <a:prstGeom prst="rect">
            <a:avLst/>
          </a:prstGeom>
          <a:noFill/>
          <a:ln/>
        </p:spPr>
        <p:txBody>
          <a:bodyPr wrap="square" lIns="0" tIns="0" rIns="0" bIns="0" rtlCol="0" anchor="t"/>
          <a:lstStyle/>
          <a:p>
            <a:pPr algn="l">
              <a:lnSpc>
                <a:spcPct val="120000"/>
              </a:lnSpc>
            </a:pPr>
            <a:r>
              <a:rPr lang="en-US" sz="1200" dirty="0">
                <a:solidFill>
                  <a:srgbClr val="AAAAAA"/>
                </a:solidFill>
                <a:latin typeface="Quattrocento Sans" pitchFamily="34" charset="0"/>
                <a:ea typeface="Quattrocento Sans" pitchFamily="34" charset="-122"/>
                <a:cs typeface="Quattrocento Sans" pitchFamily="34" charset="-120"/>
              </a:rPr>
              <a:t>Live restaurant data: search, details, reviews, menus</a:t>
            </a:r>
            <a:endParaRPr lang="en-US" sz="1200" dirty="0"/>
          </a:p>
        </p:txBody>
      </p:sp>
      <p:sp>
        <p:nvSpPr>
          <p:cNvPr id="35" name="Shape 32"/>
          <p:cNvSpPr/>
          <p:nvPr/>
        </p:nvSpPr>
        <p:spPr>
          <a:xfrm>
            <a:off x="7874000" y="6540500"/>
            <a:ext cx="6096000" cy="952500"/>
          </a:xfrm>
          <a:prstGeom prst="roundRect">
            <a:avLst>
              <a:gd name="adj" fmla="val 8000"/>
            </a:avLst>
          </a:prstGeom>
          <a:solidFill>
            <a:srgbClr val="3D3D3D"/>
          </a:solidFill>
          <a:ln/>
        </p:spPr>
        <p:txBody>
          <a:bodyPr/>
          <a:lstStyle/>
          <a:p>
            <a:endParaRPr lang="en-US"/>
          </a:p>
        </p:txBody>
      </p:sp>
      <p:sp>
        <p:nvSpPr>
          <p:cNvPr id="36" name="Shape 33"/>
          <p:cNvSpPr/>
          <p:nvPr/>
        </p:nvSpPr>
        <p:spPr>
          <a:xfrm>
            <a:off x="8128000" y="6731000"/>
            <a:ext cx="381000" cy="381000"/>
          </a:xfrm>
          <a:custGeom>
            <a:avLst/>
            <a:gdLst/>
            <a:ahLst/>
            <a:cxnLst/>
            <a:rect l="l" t="t" r="r" b="b"/>
            <a:pathLst>
              <a:path w="381000" h="381000">
                <a:moveTo>
                  <a:pt x="381000" y="153144"/>
                </a:moveTo>
                <a:cubicBezTo>
                  <a:pt x="368413" y="160437"/>
                  <a:pt x="353956" y="166315"/>
                  <a:pt x="338903" y="171004"/>
                </a:cubicBezTo>
                <a:cubicBezTo>
                  <a:pt x="298932" y="183505"/>
                  <a:pt x="246459" y="190500"/>
                  <a:pt x="190500" y="190500"/>
                </a:cubicBezTo>
                <a:cubicBezTo>
                  <a:pt x="134541" y="190500"/>
                  <a:pt x="81983" y="183431"/>
                  <a:pt x="42097" y="171004"/>
                </a:cubicBezTo>
                <a:cubicBezTo>
                  <a:pt x="27129" y="166315"/>
                  <a:pt x="12587" y="160437"/>
                  <a:pt x="0" y="153144"/>
                </a:cubicBezTo>
                <a:lnTo>
                  <a:pt x="0" y="214313"/>
                </a:lnTo>
                <a:cubicBezTo>
                  <a:pt x="0" y="247204"/>
                  <a:pt x="85300" y="273844"/>
                  <a:pt x="190500" y="273844"/>
                </a:cubicBezTo>
                <a:cubicBezTo>
                  <a:pt x="295700" y="273844"/>
                  <a:pt x="381000" y="247204"/>
                  <a:pt x="381000" y="214313"/>
                </a:cubicBezTo>
                <a:lnTo>
                  <a:pt x="381000" y="153144"/>
                </a:lnTo>
                <a:close/>
                <a:moveTo>
                  <a:pt x="381000" y="95250"/>
                </a:moveTo>
                <a:lnTo>
                  <a:pt x="381000" y="59531"/>
                </a:lnTo>
                <a:cubicBezTo>
                  <a:pt x="381000" y="26640"/>
                  <a:pt x="295700" y="0"/>
                  <a:pt x="190500" y="0"/>
                </a:cubicBezTo>
                <a:cubicBezTo>
                  <a:pt x="85300" y="0"/>
                  <a:pt x="0" y="26640"/>
                  <a:pt x="0" y="59531"/>
                </a:cubicBezTo>
                <a:lnTo>
                  <a:pt x="0" y="95250"/>
                </a:lnTo>
                <a:cubicBezTo>
                  <a:pt x="0" y="128141"/>
                  <a:pt x="85300" y="154781"/>
                  <a:pt x="190500" y="154781"/>
                </a:cubicBezTo>
                <a:cubicBezTo>
                  <a:pt x="295700" y="154781"/>
                  <a:pt x="381000" y="128141"/>
                  <a:pt x="381000" y="95250"/>
                </a:cubicBezTo>
                <a:close/>
                <a:moveTo>
                  <a:pt x="338903" y="290066"/>
                </a:moveTo>
                <a:cubicBezTo>
                  <a:pt x="299017" y="302493"/>
                  <a:pt x="246544" y="309563"/>
                  <a:pt x="190500" y="309563"/>
                </a:cubicBezTo>
                <a:cubicBezTo>
                  <a:pt x="134456" y="309563"/>
                  <a:pt x="81983" y="302493"/>
                  <a:pt x="42097" y="290066"/>
                </a:cubicBezTo>
                <a:cubicBezTo>
                  <a:pt x="27129" y="285378"/>
                  <a:pt x="12587" y="279499"/>
                  <a:pt x="0" y="272207"/>
                </a:cubicBezTo>
                <a:lnTo>
                  <a:pt x="0" y="321469"/>
                </a:lnTo>
                <a:cubicBezTo>
                  <a:pt x="0" y="354360"/>
                  <a:pt x="85300" y="381000"/>
                  <a:pt x="190500" y="381000"/>
                </a:cubicBezTo>
                <a:cubicBezTo>
                  <a:pt x="295700" y="381000"/>
                  <a:pt x="381000" y="354360"/>
                  <a:pt x="381000" y="321469"/>
                </a:cubicBezTo>
                <a:lnTo>
                  <a:pt x="381000" y="272207"/>
                </a:lnTo>
                <a:cubicBezTo>
                  <a:pt x="368413" y="279499"/>
                  <a:pt x="353956" y="285378"/>
                  <a:pt x="338903" y="290066"/>
                </a:cubicBezTo>
                <a:close/>
              </a:path>
            </a:pathLst>
          </a:custGeom>
          <a:solidFill>
            <a:srgbClr val="D4652A"/>
          </a:solidFill>
          <a:ln/>
        </p:spPr>
        <p:txBody>
          <a:bodyPr/>
          <a:lstStyle/>
          <a:p>
            <a:endParaRPr lang="en-US"/>
          </a:p>
        </p:txBody>
      </p:sp>
      <p:sp>
        <p:nvSpPr>
          <p:cNvPr id="37" name="Text 34"/>
          <p:cNvSpPr/>
          <p:nvPr/>
        </p:nvSpPr>
        <p:spPr>
          <a:xfrm>
            <a:off x="8636000" y="6604000"/>
            <a:ext cx="5080000" cy="304800"/>
          </a:xfrm>
          <a:prstGeom prst="rect">
            <a:avLst/>
          </a:prstGeom>
          <a:noFill/>
          <a:ln/>
        </p:spPr>
        <p:txBody>
          <a:bodyPr wrap="none" lIns="0" tIns="0" rIns="0" bIns="0" rtlCol="0" anchor="ctr"/>
          <a:lstStyle/>
          <a:p>
            <a:pPr algn="l">
              <a:lnSpc>
                <a:spcPct val="120000"/>
              </a:lnSpc>
            </a:pPr>
            <a:r>
              <a:rPr lang="en-US" sz="1600" b="1" dirty="0">
                <a:solidFill>
                  <a:srgbClr val="FFFFFF"/>
                </a:solidFill>
                <a:latin typeface="Liter" pitchFamily="34" charset="0"/>
                <a:ea typeface="Liter" pitchFamily="34" charset="-122"/>
                <a:cs typeface="Liter" pitchFamily="34" charset="-120"/>
              </a:rPr>
              <a:t>Browser localStorage</a:t>
            </a:r>
            <a:endParaRPr lang="en-US" sz="1600" dirty="0"/>
          </a:p>
        </p:txBody>
      </p:sp>
      <p:sp>
        <p:nvSpPr>
          <p:cNvPr id="38" name="Text 35"/>
          <p:cNvSpPr/>
          <p:nvPr/>
        </p:nvSpPr>
        <p:spPr>
          <a:xfrm>
            <a:off x="8636000" y="6959600"/>
            <a:ext cx="5080000" cy="381000"/>
          </a:xfrm>
          <a:prstGeom prst="rect">
            <a:avLst/>
          </a:prstGeom>
          <a:noFill/>
          <a:ln/>
        </p:spPr>
        <p:txBody>
          <a:bodyPr wrap="square" lIns="0" tIns="0" rIns="0" bIns="0" rtlCol="0" anchor="t"/>
          <a:lstStyle/>
          <a:p>
            <a:pPr algn="l">
              <a:lnSpc>
                <a:spcPct val="120000"/>
              </a:lnSpc>
            </a:pPr>
            <a:r>
              <a:rPr lang="en-US" sz="1200" dirty="0">
                <a:solidFill>
                  <a:srgbClr val="AAAAAA"/>
                </a:solidFill>
                <a:latin typeface="Quattrocento Sans" pitchFamily="34" charset="0"/>
                <a:ea typeface="Quattrocento Sans" pitchFamily="34" charset="-122"/>
                <a:cs typeface="Quattrocento Sans" pitchFamily="34" charset="-120"/>
              </a:rPr>
              <a:t>User data, preferences, saved restaurants, history (8 collections)</a:t>
            </a:r>
            <a:endParaRPr lang="en-US" sz="1200" dirty="0"/>
          </a:p>
        </p:txBody>
      </p:sp>
      <p:sp>
        <p:nvSpPr>
          <p:cNvPr id="39" name="Text 36"/>
          <p:cNvSpPr/>
          <p:nvPr/>
        </p:nvSpPr>
        <p:spPr>
          <a:xfrm>
            <a:off x="762000" y="8001000"/>
            <a:ext cx="14732000" cy="508000"/>
          </a:xfrm>
          <a:prstGeom prst="rect">
            <a:avLst/>
          </a:prstGeom>
          <a:noFill/>
          <a:ln/>
        </p:spPr>
        <p:txBody>
          <a:bodyPr wrap="square" lIns="0" tIns="0" rIns="0" bIns="0" rtlCol="0" anchor="ctr"/>
          <a:lstStyle/>
          <a:p>
            <a:pPr algn="ctr">
              <a:lnSpc>
                <a:spcPct val="120000"/>
              </a:lnSpc>
            </a:pPr>
            <a:r>
              <a:rPr lang="en-US" sz="1400" b="1" dirty="0">
                <a:solidFill>
                  <a:srgbClr val="5C5C5C"/>
                </a:solidFill>
                <a:latin typeface="Quattrocento Sans" pitchFamily="34" charset="0"/>
                <a:ea typeface="Quattrocento Sans" pitchFamily="34" charset="-122"/>
                <a:cs typeface="Quattrocento Sans" pitchFamily="34" charset="-120"/>
              </a:rPr>
              <a:t>Data Flow:</a:t>
            </a:r>
            <a:r>
              <a:rPr lang="en-US" sz="1400" dirty="0">
                <a:solidFill>
                  <a:srgbClr val="5C5C5C"/>
                </a:solidFill>
                <a:latin typeface="Quattrocento Sans" pitchFamily="34" charset="0"/>
                <a:ea typeface="Quattrocento Sans" pitchFamily="34" charset="-122"/>
                <a:cs typeface="Quattrocento Sans" pitchFamily="34" charset="-120"/>
              </a:rPr>
              <a:t> User Action → React Component → Express Proxy → Yelp API → Response → React Render</a:t>
            </a:r>
            <a:endParaRPr lang="en-US" sz="1400" dirty="0"/>
          </a:p>
        </p:txBody>
      </p:sp>
      <p:sp>
        <p:nvSpPr>
          <p:cNvPr id="40" name="Text 37"/>
          <p:cNvSpPr/>
          <p:nvPr/>
        </p:nvSpPr>
        <p:spPr>
          <a:xfrm>
            <a:off x="762000" y="8763000"/>
            <a:ext cx="5080000" cy="254000"/>
          </a:xfrm>
          <a:prstGeom prst="rect">
            <a:avLst/>
          </a:prstGeom>
          <a:noFill/>
          <a:ln/>
        </p:spPr>
        <p:txBody>
          <a:bodyPr wrap="none" lIns="0" tIns="0" rIns="0" bIns="0" rtlCol="0" anchor="ctr"/>
          <a:lstStyle/>
          <a:p>
            <a:pPr algn="l">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Restaurant Finder | Graduation Project Defense</a:t>
            </a:r>
            <a:endParaRPr lang="en-US" sz="1200" dirty="0"/>
          </a:p>
        </p:txBody>
      </p:sp>
      <p:sp>
        <p:nvSpPr>
          <p:cNvPr id="41" name="Text 38"/>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08 / 12</a:t>
            </a:r>
            <a:endParaRPr lang="en-US" sz="12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2D2D2D"/>
          </a:solidFill>
          <a:ln/>
        </p:spPr>
        <p:txBody>
          <a:bodyPr/>
          <a:lstStyle/>
          <a:p>
            <a:endParaRPr lang="en-US"/>
          </a:p>
        </p:txBody>
      </p:sp>
      <p:sp>
        <p:nvSpPr>
          <p:cNvPr id="4" name="Text 1"/>
          <p:cNvSpPr/>
          <p:nvPr/>
        </p:nvSpPr>
        <p:spPr>
          <a:xfrm>
            <a:off x="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PROBLEM</a:t>
            </a:r>
            <a:endParaRPr lang="en-US" sz="1100" dirty="0"/>
          </a:p>
        </p:txBody>
      </p:sp>
      <p:sp>
        <p:nvSpPr>
          <p:cNvPr id="5" name="Text 2"/>
          <p:cNvSpPr/>
          <p:nvPr/>
        </p:nvSpPr>
        <p:spPr>
          <a:xfrm>
            <a:off x="32512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SOLUTION</a:t>
            </a:r>
            <a:endParaRPr lang="en-US" sz="1100" dirty="0"/>
          </a:p>
        </p:txBody>
      </p:sp>
      <p:sp>
        <p:nvSpPr>
          <p:cNvPr id="6" name="Text 3"/>
          <p:cNvSpPr/>
          <p:nvPr/>
        </p:nvSpPr>
        <p:spPr>
          <a:xfrm>
            <a:off x="65024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TECH STACK</a:t>
            </a:r>
            <a:endParaRPr lang="en-US" sz="1100" dirty="0"/>
          </a:p>
        </p:txBody>
      </p:sp>
      <p:sp>
        <p:nvSpPr>
          <p:cNvPr id="7" name="Text 4"/>
          <p:cNvSpPr/>
          <p:nvPr/>
        </p:nvSpPr>
        <p:spPr>
          <a:xfrm>
            <a:off x="97536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FEATURES</a:t>
            </a:r>
            <a:endParaRPr lang="en-US" sz="1100" dirty="0"/>
          </a:p>
        </p:txBody>
      </p:sp>
      <p:sp>
        <p:nvSpPr>
          <p:cNvPr id="8" name="Text 5"/>
          <p:cNvSpPr/>
          <p:nvPr/>
        </p:nvSpPr>
        <p:spPr>
          <a:xfrm>
            <a:off x="13004800" y="0"/>
            <a:ext cx="3251200" cy="406400"/>
          </a:xfrm>
          <a:prstGeom prst="rect">
            <a:avLst/>
          </a:prstGeom>
          <a:noFill/>
          <a:ln/>
        </p:spPr>
        <p:txBody>
          <a:bodyPr wrap="none" lIns="0" tIns="0" rIns="0" bIns="0" rtlCol="0" anchor="ctr"/>
          <a:lstStyle/>
          <a:p>
            <a:pPr algn="ctr">
              <a:lnSpc>
                <a:spcPct val="120000"/>
              </a:lnSpc>
            </a:pPr>
            <a:r>
              <a:rPr lang="en-US" sz="1100" b="1" dirty="0">
                <a:solidFill>
                  <a:srgbClr val="D4652A"/>
                </a:solidFill>
                <a:latin typeface="Quattrocento Sans" pitchFamily="34" charset="0"/>
                <a:ea typeface="Quattrocento Sans" pitchFamily="34" charset="-122"/>
                <a:cs typeface="Quattrocento Sans" pitchFamily="34" charset="-120"/>
              </a:rPr>
              <a:t>ARCHITECTURE</a:t>
            </a:r>
            <a:endParaRPr lang="en-US" sz="1100" dirty="0"/>
          </a:p>
        </p:txBody>
      </p:sp>
      <p:sp>
        <p:nvSpPr>
          <p:cNvPr id="9" name="Shape 6"/>
          <p:cNvSpPr/>
          <p:nvPr/>
        </p:nvSpPr>
        <p:spPr>
          <a:xfrm>
            <a:off x="13995400" y="419100"/>
            <a:ext cx="1270000" cy="38100"/>
          </a:xfrm>
          <a:prstGeom prst="rect">
            <a:avLst/>
          </a:prstGeom>
          <a:solidFill>
            <a:srgbClr val="D4652A"/>
          </a:solidFill>
          <a:ln/>
        </p:spPr>
        <p:txBody>
          <a:bodyPr/>
          <a:lstStyle/>
          <a:p>
            <a:endParaRPr lang="en-US"/>
          </a:p>
        </p:txBody>
      </p:sp>
      <p:sp>
        <p:nvSpPr>
          <p:cNvPr id="10" name="Text 7"/>
          <p:cNvSpPr/>
          <p:nvPr/>
        </p:nvSpPr>
        <p:spPr>
          <a:xfrm>
            <a:off x="762000" y="660400"/>
            <a:ext cx="11430000" cy="508000"/>
          </a:xfrm>
          <a:prstGeom prst="rect">
            <a:avLst/>
          </a:prstGeom>
          <a:noFill/>
          <a:ln/>
        </p:spPr>
        <p:txBody>
          <a:bodyPr wrap="none" lIns="0" tIns="0" rIns="0" bIns="0" rtlCol="0" anchor="ctr"/>
          <a:lstStyle/>
          <a:p>
            <a:pPr algn="l">
              <a:lnSpc>
                <a:spcPct val="130000"/>
              </a:lnSpc>
            </a:pPr>
            <a:r>
              <a:rPr lang="en-US" sz="2800" dirty="0">
                <a:solidFill>
                  <a:srgbClr val="1E1E1E"/>
                </a:solidFill>
                <a:latin typeface="Liter" pitchFamily="34" charset="0"/>
                <a:ea typeface="Liter" pitchFamily="34" charset="-122"/>
                <a:cs typeface="Liter" pitchFamily="34" charset="-120"/>
              </a:rPr>
              <a:t>Security, Performance &amp; Responsive Design</a:t>
            </a:r>
            <a:endParaRPr lang="en-US" sz="2800" dirty="0"/>
          </a:p>
        </p:txBody>
      </p:sp>
      <p:sp>
        <p:nvSpPr>
          <p:cNvPr id="11" name="Shape 8"/>
          <p:cNvSpPr/>
          <p:nvPr/>
        </p:nvSpPr>
        <p:spPr>
          <a:xfrm>
            <a:off x="762000" y="1219200"/>
            <a:ext cx="1016000" cy="38100"/>
          </a:xfrm>
          <a:prstGeom prst="rect">
            <a:avLst/>
          </a:prstGeom>
          <a:solidFill>
            <a:srgbClr val="D4652A"/>
          </a:solidFill>
          <a:ln/>
        </p:spPr>
        <p:txBody>
          <a:bodyPr/>
          <a:lstStyle/>
          <a:p>
            <a:endParaRPr lang="en-US"/>
          </a:p>
        </p:txBody>
      </p:sp>
      <p:sp>
        <p:nvSpPr>
          <p:cNvPr id="12" name="Shape 9"/>
          <p:cNvSpPr/>
          <p:nvPr/>
        </p:nvSpPr>
        <p:spPr>
          <a:xfrm>
            <a:off x="762000" y="1460500"/>
            <a:ext cx="4699000" cy="457200"/>
          </a:xfrm>
          <a:prstGeom prst="roundRect">
            <a:avLst>
              <a:gd name="adj" fmla="val 8000"/>
            </a:avLst>
          </a:prstGeom>
          <a:solidFill>
            <a:srgbClr val="D4652A"/>
          </a:solidFill>
          <a:ln/>
        </p:spPr>
        <p:txBody>
          <a:bodyPr/>
          <a:lstStyle/>
          <a:p>
            <a:endParaRPr lang="en-US"/>
          </a:p>
        </p:txBody>
      </p:sp>
      <p:sp>
        <p:nvSpPr>
          <p:cNvPr id="13" name="Text 10"/>
          <p:cNvSpPr/>
          <p:nvPr/>
        </p:nvSpPr>
        <p:spPr>
          <a:xfrm>
            <a:off x="762000" y="1460500"/>
            <a:ext cx="4699000" cy="457200"/>
          </a:xfrm>
          <a:prstGeom prst="rect">
            <a:avLst/>
          </a:prstGeom>
          <a:noFill/>
          <a:ln/>
        </p:spPr>
        <p:txBody>
          <a:bodyPr wrap="none" lIns="0" tIns="0" rIns="0" bIns="0" rtlCol="0" anchor="ctr"/>
          <a:lstStyle/>
          <a:p>
            <a:pPr algn="ctr">
              <a:lnSpc>
                <a:spcPct val="120000"/>
              </a:lnSpc>
            </a:pPr>
            <a:r>
              <a:rPr lang="en-US" sz="1400" b="1" dirty="0">
                <a:solidFill>
                  <a:srgbClr val="FFFFFF"/>
                </a:solidFill>
                <a:latin typeface="Liter" pitchFamily="34" charset="0"/>
                <a:ea typeface="Liter" pitchFamily="34" charset="-122"/>
                <a:cs typeface="Liter" pitchFamily="34" charset="-120"/>
              </a:rPr>
              <a:t>SECURITY</a:t>
            </a:r>
            <a:endParaRPr lang="en-US" sz="1400" dirty="0"/>
          </a:p>
        </p:txBody>
      </p:sp>
      <p:sp>
        <p:nvSpPr>
          <p:cNvPr id="14" name="Shape 11"/>
          <p:cNvSpPr/>
          <p:nvPr/>
        </p:nvSpPr>
        <p:spPr>
          <a:xfrm>
            <a:off x="762000" y="1968500"/>
            <a:ext cx="4699000" cy="4318000"/>
          </a:xfrm>
          <a:prstGeom prst="roundRect">
            <a:avLst>
              <a:gd name="adj" fmla="val 4000"/>
            </a:avLst>
          </a:prstGeom>
          <a:solidFill>
            <a:srgbClr val="F0EBE6"/>
          </a:solidFill>
          <a:ln/>
        </p:spPr>
        <p:txBody>
          <a:bodyPr/>
          <a:lstStyle/>
          <a:p>
            <a:endParaRPr lang="en-US"/>
          </a:p>
        </p:txBody>
      </p:sp>
      <p:sp>
        <p:nvSpPr>
          <p:cNvPr id="15" name="Shape 12"/>
          <p:cNvSpPr/>
          <p:nvPr/>
        </p:nvSpPr>
        <p:spPr>
          <a:xfrm>
            <a:off x="990600" y="2159000"/>
            <a:ext cx="304800" cy="304800"/>
          </a:xfrm>
          <a:custGeom>
            <a:avLst/>
            <a:gdLst/>
            <a:ahLst/>
            <a:cxnLst/>
            <a:rect l="l" t="t" r="r" b="b"/>
            <a:pathLst>
              <a:path w="304800" h="304800">
                <a:moveTo>
                  <a:pt x="101600" y="57150"/>
                </a:moveTo>
                <a:lnTo>
                  <a:pt x="101600" y="95250"/>
                </a:lnTo>
                <a:lnTo>
                  <a:pt x="203200" y="95250"/>
                </a:lnTo>
                <a:lnTo>
                  <a:pt x="203200" y="57150"/>
                </a:lnTo>
                <a:cubicBezTo>
                  <a:pt x="203200" y="36135"/>
                  <a:pt x="180419" y="19050"/>
                  <a:pt x="152400" y="19050"/>
                </a:cubicBezTo>
                <a:cubicBezTo>
                  <a:pt x="124381" y="19050"/>
                  <a:pt x="101600" y="36135"/>
                  <a:pt x="101600" y="57150"/>
                </a:cubicBezTo>
                <a:close/>
                <a:moveTo>
                  <a:pt x="50800" y="95250"/>
                </a:moveTo>
                <a:lnTo>
                  <a:pt x="50800" y="57150"/>
                </a:lnTo>
                <a:cubicBezTo>
                  <a:pt x="50800" y="15061"/>
                  <a:pt x="96282" y="-19050"/>
                  <a:pt x="152400" y="-19050"/>
                </a:cubicBezTo>
                <a:cubicBezTo>
                  <a:pt x="208518" y="-19050"/>
                  <a:pt x="254000" y="15061"/>
                  <a:pt x="254000" y="57150"/>
                </a:cubicBezTo>
                <a:lnTo>
                  <a:pt x="254000" y="95250"/>
                </a:lnTo>
                <a:cubicBezTo>
                  <a:pt x="282019" y="95250"/>
                  <a:pt x="304800" y="112335"/>
                  <a:pt x="304800" y="133350"/>
                </a:cubicBezTo>
                <a:lnTo>
                  <a:pt x="304800" y="266700"/>
                </a:lnTo>
                <a:cubicBezTo>
                  <a:pt x="304800" y="287715"/>
                  <a:pt x="282019" y="304800"/>
                  <a:pt x="254000" y="304800"/>
                </a:cubicBezTo>
                <a:lnTo>
                  <a:pt x="50800" y="304800"/>
                </a:lnTo>
                <a:cubicBezTo>
                  <a:pt x="22781" y="304800"/>
                  <a:pt x="0" y="287715"/>
                  <a:pt x="0" y="266700"/>
                </a:cubicBezTo>
                <a:lnTo>
                  <a:pt x="0" y="133350"/>
                </a:lnTo>
                <a:cubicBezTo>
                  <a:pt x="0" y="112335"/>
                  <a:pt x="22781" y="95250"/>
                  <a:pt x="50800" y="95250"/>
                </a:cubicBezTo>
                <a:close/>
              </a:path>
            </a:pathLst>
          </a:custGeom>
          <a:solidFill>
            <a:srgbClr val="D4652A"/>
          </a:solidFill>
          <a:ln/>
        </p:spPr>
        <p:txBody>
          <a:bodyPr/>
          <a:lstStyle/>
          <a:p>
            <a:endParaRPr lang="en-US"/>
          </a:p>
        </p:txBody>
      </p:sp>
      <p:sp>
        <p:nvSpPr>
          <p:cNvPr id="16" name="Text 13"/>
          <p:cNvSpPr/>
          <p:nvPr/>
        </p:nvSpPr>
        <p:spPr>
          <a:xfrm>
            <a:off x="1397000" y="2133600"/>
            <a:ext cx="3810000" cy="635000"/>
          </a:xfrm>
          <a:prstGeom prst="rect">
            <a:avLst/>
          </a:prstGeom>
          <a:noFill/>
          <a:ln/>
        </p:spPr>
        <p:txBody>
          <a:bodyPr wrap="square" lIns="0" tIns="0" rIns="0" bIns="0" rtlCol="0" anchor="t"/>
          <a:lstStyle/>
          <a:p>
            <a:pPr algn="l">
              <a:lnSpc>
                <a:spcPct val="150000"/>
              </a:lnSpc>
            </a:pPr>
            <a:r>
              <a:rPr lang="en-US" sz="1400" b="1" dirty="0">
                <a:solidFill>
                  <a:srgbClr val="1E1E1E"/>
                </a:solidFill>
                <a:latin typeface="Quattrocento Sans" pitchFamily="34" charset="0"/>
                <a:ea typeface="Quattrocento Sans" pitchFamily="34" charset="-122"/>
                <a:cs typeface="Quattrocento Sans" pitchFamily="34" charset="-120"/>
              </a:rPr>
              <a:t>Protected Routes</a:t>
            </a:r>
            <a:endParaRPr lang="en-US" sz="1400" dirty="0"/>
          </a:p>
          <a:p>
            <a:pPr algn="l">
              <a:lnSpc>
                <a:spcPct val="150000"/>
              </a:lnSpc>
            </a:pPr>
            <a:r>
              <a:rPr lang="en-US" sz="1200" dirty="0">
                <a:solidFill>
                  <a:srgbClr val="5C5C5C"/>
                </a:solidFill>
                <a:latin typeface="Quattrocento Sans" pitchFamily="34" charset="0"/>
                <a:ea typeface="Quattrocento Sans" pitchFamily="34" charset="-122"/>
                <a:cs typeface="Quattrocento Sans" pitchFamily="34" charset="-120"/>
              </a:rPr>
              <a:t>Auth context guards authenticated pages</a:t>
            </a:r>
            <a:endParaRPr lang="en-US" sz="1400" dirty="0"/>
          </a:p>
        </p:txBody>
      </p:sp>
      <p:sp>
        <p:nvSpPr>
          <p:cNvPr id="17" name="Shape 14"/>
          <p:cNvSpPr/>
          <p:nvPr/>
        </p:nvSpPr>
        <p:spPr>
          <a:xfrm>
            <a:off x="990600" y="2895600"/>
            <a:ext cx="304800" cy="304800"/>
          </a:xfrm>
          <a:custGeom>
            <a:avLst/>
            <a:gdLst/>
            <a:ahLst/>
            <a:cxnLst/>
            <a:rect l="l" t="t" r="r" b="b"/>
            <a:pathLst>
              <a:path w="304800" h="304800">
                <a:moveTo>
                  <a:pt x="118533" y="147638"/>
                </a:moveTo>
                <a:cubicBezTo>
                  <a:pt x="153580" y="147638"/>
                  <a:pt x="182033" y="115627"/>
                  <a:pt x="182033" y="76200"/>
                </a:cubicBezTo>
                <a:cubicBezTo>
                  <a:pt x="182033" y="36773"/>
                  <a:pt x="153580" y="4763"/>
                  <a:pt x="118533" y="4763"/>
                </a:cubicBezTo>
                <a:cubicBezTo>
                  <a:pt x="83487" y="4763"/>
                  <a:pt x="55033" y="36773"/>
                  <a:pt x="55033" y="76200"/>
                </a:cubicBezTo>
                <a:cubicBezTo>
                  <a:pt x="55033" y="115627"/>
                  <a:pt x="83487" y="147638"/>
                  <a:pt x="118533" y="147638"/>
                </a:cubicBezTo>
                <a:close/>
                <a:moveTo>
                  <a:pt x="102817" y="180975"/>
                </a:moveTo>
                <a:cubicBezTo>
                  <a:pt x="50694" y="180975"/>
                  <a:pt x="8467" y="228481"/>
                  <a:pt x="8467" y="287119"/>
                </a:cubicBezTo>
                <a:cubicBezTo>
                  <a:pt x="8467" y="296882"/>
                  <a:pt x="15505" y="304800"/>
                  <a:pt x="24183" y="304800"/>
                </a:cubicBezTo>
                <a:lnTo>
                  <a:pt x="157268" y="304800"/>
                </a:lnTo>
                <a:cubicBezTo>
                  <a:pt x="138113" y="279440"/>
                  <a:pt x="127000" y="246757"/>
                  <a:pt x="127000" y="212169"/>
                </a:cubicBezTo>
                <a:lnTo>
                  <a:pt x="127000" y="193655"/>
                </a:lnTo>
                <a:cubicBezTo>
                  <a:pt x="127000" y="189309"/>
                  <a:pt x="127529" y="185023"/>
                  <a:pt x="128535" y="180975"/>
                </a:cubicBezTo>
                <a:lnTo>
                  <a:pt x="102817" y="180975"/>
                </a:lnTo>
                <a:close/>
                <a:moveTo>
                  <a:pt x="235638" y="290810"/>
                </a:moveTo>
                <a:lnTo>
                  <a:pt x="228600" y="294561"/>
                </a:lnTo>
                <a:lnTo>
                  <a:pt x="228600" y="182582"/>
                </a:lnTo>
                <a:lnTo>
                  <a:pt x="279400" y="201632"/>
                </a:lnTo>
                <a:lnTo>
                  <a:pt x="279400" y="213300"/>
                </a:lnTo>
                <a:cubicBezTo>
                  <a:pt x="279400" y="246519"/>
                  <a:pt x="262361" y="276701"/>
                  <a:pt x="235638" y="290870"/>
                </a:cubicBezTo>
                <a:close/>
                <a:moveTo>
                  <a:pt x="223255" y="154484"/>
                </a:moveTo>
                <a:lnTo>
                  <a:pt x="163989" y="176689"/>
                </a:lnTo>
                <a:cubicBezTo>
                  <a:pt x="157057" y="179308"/>
                  <a:pt x="152400" y="186571"/>
                  <a:pt x="152400" y="194786"/>
                </a:cubicBezTo>
                <a:lnTo>
                  <a:pt x="152400" y="213300"/>
                </a:lnTo>
                <a:cubicBezTo>
                  <a:pt x="152400" y="257592"/>
                  <a:pt x="175154" y="297894"/>
                  <a:pt x="210714" y="316706"/>
                </a:cubicBezTo>
                <a:lnTo>
                  <a:pt x="220504" y="321885"/>
                </a:lnTo>
                <a:cubicBezTo>
                  <a:pt x="223044" y="323195"/>
                  <a:pt x="225795" y="323910"/>
                  <a:pt x="228547" y="323910"/>
                </a:cubicBezTo>
                <a:cubicBezTo>
                  <a:pt x="231299" y="323910"/>
                  <a:pt x="234103" y="323195"/>
                  <a:pt x="236590" y="321885"/>
                </a:cubicBezTo>
                <a:lnTo>
                  <a:pt x="246380" y="316706"/>
                </a:lnTo>
                <a:cubicBezTo>
                  <a:pt x="282046" y="297835"/>
                  <a:pt x="304800" y="257532"/>
                  <a:pt x="304800" y="213241"/>
                </a:cubicBezTo>
                <a:lnTo>
                  <a:pt x="304800" y="194727"/>
                </a:lnTo>
                <a:cubicBezTo>
                  <a:pt x="304800" y="186511"/>
                  <a:pt x="300143" y="179249"/>
                  <a:pt x="293211" y="176629"/>
                </a:cubicBezTo>
                <a:lnTo>
                  <a:pt x="233945" y="154424"/>
                </a:lnTo>
                <a:cubicBezTo>
                  <a:pt x="230452" y="153114"/>
                  <a:pt x="226695" y="153114"/>
                  <a:pt x="223255" y="154424"/>
                </a:cubicBezTo>
                <a:close/>
              </a:path>
            </a:pathLst>
          </a:custGeom>
          <a:solidFill>
            <a:srgbClr val="D4652A"/>
          </a:solidFill>
          <a:ln/>
        </p:spPr>
        <p:txBody>
          <a:bodyPr/>
          <a:lstStyle/>
          <a:p>
            <a:endParaRPr lang="en-US"/>
          </a:p>
        </p:txBody>
      </p:sp>
      <p:sp>
        <p:nvSpPr>
          <p:cNvPr id="18" name="Text 15"/>
          <p:cNvSpPr/>
          <p:nvPr/>
        </p:nvSpPr>
        <p:spPr>
          <a:xfrm>
            <a:off x="1397000" y="2870200"/>
            <a:ext cx="3810000" cy="635000"/>
          </a:xfrm>
          <a:prstGeom prst="rect">
            <a:avLst/>
          </a:prstGeom>
          <a:noFill/>
          <a:ln/>
        </p:spPr>
        <p:txBody>
          <a:bodyPr wrap="square" lIns="0" tIns="0" rIns="0" bIns="0" rtlCol="0" anchor="t"/>
          <a:lstStyle/>
          <a:p>
            <a:pPr algn="l">
              <a:lnSpc>
                <a:spcPct val="150000"/>
              </a:lnSpc>
            </a:pPr>
            <a:r>
              <a:rPr lang="en-US" sz="1400" b="1" dirty="0">
                <a:solidFill>
                  <a:srgbClr val="1E1E1E"/>
                </a:solidFill>
                <a:latin typeface="Quattrocento Sans" pitchFamily="34" charset="0"/>
                <a:ea typeface="Quattrocento Sans" pitchFamily="34" charset="-122"/>
                <a:cs typeface="Quattrocento Sans" pitchFamily="34" charset="-120"/>
              </a:rPr>
              <a:t>Role-Based Access</a:t>
            </a:r>
            <a:endParaRPr lang="en-US" sz="1400" dirty="0"/>
          </a:p>
          <a:p>
            <a:pPr algn="l">
              <a:lnSpc>
                <a:spcPct val="150000"/>
              </a:lnSpc>
            </a:pPr>
            <a:r>
              <a:rPr lang="en-US" sz="1200" dirty="0">
                <a:solidFill>
                  <a:srgbClr val="5C5C5C"/>
                </a:solidFill>
                <a:latin typeface="Quattrocento Sans" pitchFamily="34" charset="0"/>
                <a:ea typeface="Quattrocento Sans" pitchFamily="34" charset="-122"/>
                <a:cs typeface="Quattrocento Sans" pitchFamily="34" charset="-120"/>
              </a:rPr>
              <a:t>Admin-only routes with role verification</a:t>
            </a:r>
            <a:endParaRPr lang="en-US" sz="1400" dirty="0"/>
          </a:p>
        </p:txBody>
      </p:sp>
      <p:sp>
        <p:nvSpPr>
          <p:cNvPr id="19" name="Shape 16"/>
          <p:cNvSpPr/>
          <p:nvPr/>
        </p:nvSpPr>
        <p:spPr>
          <a:xfrm>
            <a:off x="990600" y="3632200"/>
            <a:ext cx="304800" cy="304800"/>
          </a:xfrm>
          <a:custGeom>
            <a:avLst/>
            <a:gdLst/>
            <a:ahLst/>
            <a:cxnLst/>
            <a:rect l="l" t="t" r="r" b="b"/>
            <a:pathLst>
              <a:path w="304800" h="304800">
                <a:moveTo>
                  <a:pt x="200025" y="209550"/>
                </a:moveTo>
                <a:cubicBezTo>
                  <a:pt x="257889" y="209550"/>
                  <a:pt x="304800" y="162639"/>
                  <a:pt x="304800" y="104775"/>
                </a:cubicBezTo>
                <a:cubicBezTo>
                  <a:pt x="304800" y="46911"/>
                  <a:pt x="257889" y="0"/>
                  <a:pt x="200025" y="0"/>
                </a:cubicBezTo>
                <a:cubicBezTo>
                  <a:pt x="142161" y="0"/>
                  <a:pt x="95250" y="46911"/>
                  <a:pt x="95250" y="104775"/>
                </a:cubicBezTo>
                <a:cubicBezTo>
                  <a:pt x="95250" y="115907"/>
                  <a:pt x="96976" y="126683"/>
                  <a:pt x="100191" y="136743"/>
                </a:cubicBezTo>
                <a:lnTo>
                  <a:pt x="4167" y="232767"/>
                </a:lnTo>
                <a:cubicBezTo>
                  <a:pt x="1488" y="235446"/>
                  <a:pt x="0" y="239078"/>
                  <a:pt x="0" y="242888"/>
                </a:cubicBezTo>
                <a:lnTo>
                  <a:pt x="0" y="290513"/>
                </a:lnTo>
                <a:cubicBezTo>
                  <a:pt x="0" y="298430"/>
                  <a:pt x="6370" y="304800"/>
                  <a:pt x="14288" y="304800"/>
                </a:cubicBezTo>
                <a:lnTo>
                  <a:pt x="61912" y="304800"/>
                </a:lnTo>
                <a:cubicBezTo>
                  <a:pt x="69830" y="304800"/>
                  <a:pt x="76200" y="298430"/>
                  <a:pt x="76200" y="290513"/>
                </a:cubicBezTo>
                <a:lnTo>
                  <a:pt x="76200" y="266700"/>
                </a:lnTo>
                <a:lnTo>
                  <a:pt x="100013" y="266700"/>
                </a:lnTo>
                <a:cubicBezTo>
                  <a:pt x="107930" y="266700"/>
                  <a:pt x="114300" y="260330"/>
                  <a:pt x="114300" y="252413"/>
                </a:cubicBezTo>
                <a:lnTo>
                  <a:pt x="114300" y="228600"/>
                </a:lnTo>
                <a:lnTo>
                  <a:pt x="138113" y="228600"/>
                </a:lnTo>
                <a:cubicBezTo>
                  <a:pt x="141923" y="228600"/>
                  <a:pt x="145554" y="227112"/>
                  <a:pt x="148233" y="224433"/>
                </a:cubicBezTo>
                <a:lnTo>
                  <a:pt x="168057" y="204609"/>
                </a:lnTo>
                <a:cubicBezTo>
                  <a:pt x="178117" y="207824"/>
                  <a:pt x="188893" y="209550"/>
                  <a:pt x="200025" y="209550"/>
                </a:cubicBezTo>
                <a:close/>
                <a:moveTo>
                  <a:pt x="223838" y="57150"/>
                </a:moveTo>
                <a:cubicBezTo>
                  <a:pt x="236980" y="57150"/>
                  <a:pt x="247650" y="67820"/>
                  <a:pt x="247650" y="80962"/>
                </a:cubicBezTo>
                <a:cubicBezTo>
                  <a:pt x="247650" y="94105"/>
                  <a:pt x="236980" y="104775"/>
                  <a:pt x="223838" y="104775"/>
                </a:cubicBezTo>
                <a:cubicBezTo>
                  <a:pt x="210695" y="104775"/>
                  <a:pt x="200025" y="94105"/>
                  <a:pt x="200025" y="80962"/>
                </a:cubicBezTo>
                <a:cubicBezTo>
                  <a:pt x="200025" y="67820"/>
                  <a:pt x="210695" y="57150"/>
                  <a:pt x="223838" y="57150"/>
                </a:cubicBezTo>
                <a:close/>
              </a:path>
            </a:pathLst>
          </a:custGeom>
          <a:solidFill>
            <a:srgbClr val="D4652A"/>
          </a:solidFill>
          <a:ln/>
        </p:spPr>
        <p:txBody>
          <a:bodyPr/>
          <a:lstStyle/>
          <a:p>
            <a:endParaRPr lang="en-US"/>
          </a:p>
        </p:txBody>
      </p:sp>
      <p:sp>
        <p:nvSpPr>
          <p:cNvPr id="20" name="Text 17"/>
          <p:cNvSpPr/>
          <p:nvPr/>
        </p:nvSpPr>
        <p:spPr>
          <a:xfrm>
            <a:off x="1397000" y="3606800"/>
            <a:ext cx="3810000" cy="635000"/>
          </a:xfrm>
          <a:prstGeom prst="rect">
            <a:avLst/>
          </a:prstGeom>
          <a:noFill/>
          <a:ln/>
        </p:spPr>
        <p:txBody>
          <a:bodyPr wrap="square" lIns="0" tIns="0" rIns="0" bIns="0" rtlCol="0" anchor="t"/>
          <a:lstStyle/>
          <a:p>
            <a:pPr algn="l">
              <a:lnSpc>
                <a:spcPct val="150000"/>
              </a:lnSpc>
            </a:pPr>
            <a:r>
              <a:rPr lang="en-US" sz="1400" b="1" dirty="0">
                <a:solidFill>
                  <a:srgbClr val="1E1E1E"/>
                </a:solidFill>
                <a:latin typeface="Quattrocento Sans" pitchFamily="34" charset="0"/>
                <a:ea typeface="Quattrocento Sans" pitchFamily="34" charset="-122"/>
                <a:cs typeface="Quattrocento Sans" pitchFamily="34" charset="-120"/>
              </a:rPr>
              <a:t>API Key Protection</a:t>
            </a:r>
            <a:endParaRPr lang="en-US" sz="1400" dirty="0"/>
          </a:p>
          <a:p>
            <a:pPr algn="l">
              <a:lnSpc>
                <a:spcPct val="150000"/>
              </a:lnSpc>
            </a:pPr>
            <a:r>
              <a:rPr lang="en-US" sz="1200" dirty="0">
                <a:solidFill>
                  <a:srgbClr val="5C5C5C"/>
                </a:solidFill>
                <a:latin typeface="Quattrocento Sans" pitchFamily="34" charset="0"/>
                <a:ea typeface="Quattrocento Sans" pitchFamily="34" charset="-122"/>
                <a:cs typeface="Quattrocento Sans" pitchFamily="34" charset="-120"/>
              </a:rPr>
              <a:t>Yelp key never leaves the backend server</a:t>
            </a:r>
            <a:endParaRPr lang="en-US" sz="1400" dirty="0"/>
          </a:p>
        </p:txBody>
      </p:sp>
      <p:sp>
        <p:nvSpPr>
          <p:cNvPr id="21" name="Shape 18"/>
          <p:cNvSpPr/>
          <p:nvPr/>
        </p:nvSpPr>
        <p:spPr>
          <a:xfrm>
            <a:off x="990600" y="4368800"/>
            <a:ext cx="304800" cy="304800"/>
          </a:xfrm>
          <a:custGeom>
            <a:avLst/>
            <a:gdLst/>
            <a:ahLst/>
            <a:cxnLst/>
            <a:rect l="l" t="t" r="r" b="b"/>
            <a:pathLst>
              <a:path w="304800" h="304800">
                <a:moveTo>
                  <a:pt x="152400" y="0"/>
                </a:moveTo>
                <a:cubicBezTo>
                  <a:pt x="155138" y="0"/>
                  <a:pt x="157877" y="595"/>
                  <a:pt x="160377" y="1726"/>
                </a:cubicBezTo>
                <a:lnTo>
                  <a:pt x="272534" y="49292"/>
                </a:lnTo>
                <a:cubicBezTo>
                  <a:pt x="285631" y="54828"/>
                  <a:pt x="295394" y="67747"/>
                  <a:pt x="295335" y="83344"/>
                </a:cubicBezTo>
                <a:cubicBezTo>
                  <a:pt x="295037" y="142399"/>
                  <a:pt x="270748" y="250448"/>
                  <a:pt x="168176" y="299561"/>
                </a:cubicBezTo>
                <a:cubicBezTo>
                  <a:pt x="158234" y="304324"/>
                  <a:pt x="146685" y="304324"/>
                  <a:pt x="136743" y="299561"/>
                </a:cubicBezTo>
                <a:cubicBezTo>
                  <a:pt x="34111" y="250448"/>
                  <a:pt x="9882" y="142399"/>
                  <a:pt x="9585" y="83344"/>
                </a:cubicBezTo>
                <a:cubicBezTo>
                  <a:pt x="9525" y="67747"/>
                  <a:pt x="19288" y="54828"/>
                  <a:pt x="32385" y="49292"/>
                </a:cubicBezTo>
                <a:lnTo>
                  <a:pt x="144482" y="1726"/>
                </a:lnTo>
                <a:cubicBezTo>
                  <a:pt x="146983" y="595"/>
                  <a:pt x="149662" y="0"/>
                  <a:pt x="152400" y="0"/>
                </a:cubicBezTo>
                <a:close/>
                <a:moveTo>
                  <a:pt x="152400" y="39767"/>
                </a:moveTo>
                <a:lnTo>
                  <a:pt x="152400" y="264855"/>
                </a:lnTo>
                <a:cubicBezTo>
                  <a:pt x="234553" y="225088"/>
                  <a:pt x="256639" y="136981"/>
                  <a:pt x="257175" y="84237"/>
                </a:cubicBezTo>
                <a:lnTo>
                  <a:pt x="152400" y="39826"/>
                </a:lnTo>
                <a:lnTo>
                  <a:pt x="152400" y="39826"/>
                </a:lnTo>
                <a:close/>
              </a:path>
            </a:pathLst>
          </a:custGeom>
          <a:solidFill>
            <a:srgbClr val="D4652A"/>
          </a:solidFill>
          <a:ln/>
        </p:spPr>
        <p:txBody>
          <a:bodyPr/>
          <a:lstStyle/>
          <a:p>
            <a:endParaRPr lang="en-US"/>
          </a:p>
        </p:txBody>
      </p:sp>
      <p:sp>
        <p:nvSpPr>
          <p:cNvPr id="22" name="Text 19"/>
          <p:cNvSpPr/>
          <p:nvPr/>
        </p:nvSpPr>
        <p:spPr>
          <a:xfrm>
            <a:off x="1397000" y="4343400"/>
            <a:ext cx="3810000" cy="635000"/>
          </a:xfrm>
          <a:prstGeom prst="rect">
            <a:avLst/>
          </a:prstGeom>
          <a:noFill/>
          <a:ln/>
        </p:spPr>
        <p:txBody>
          <a:bodyPr wrap="square" lIns="0" tIns="0" rIns="0" bIns="0" rtlCol="0" anchor="t"/>
          <a:lstStyle/>
          <a:p>
            <a:pPr algn="l">
              <a:lnSpc>
                <a:spcPct val="150000"/>
              </a:lnSpc>
            </a:pPr>
            <a:r>
              <a:rPr lang="en-US" sz="1400" b="1" dirty="0">
                <a:solidFill>
                  <a:srgbClr val="1E1E1E"/>
                </a:solidFill>
                <a:latin typeface="Quattrocento Sans" pitchFamily="34" charset="0"/>
                <a:ea typeface="Quattrocento Sans" pitchFamily="34" charset="-122"/>
                <a:cs typeface="Quattrocento Sans" pitchFamily="34" charset="-120"/>
              </a:rPr>
              <a:t>Input Validation</a:t>
            </a:r>
            <a:endParaRPr lang="en-US" sz="1400" dirty="0"/>
          </a:p>
          <a:p>
            <a:pPr algn="l">
              <a:lnSpc>
                <a:spcPct val="150000"/>
              </a:lnSpc>
            </a:pPr>
            <a:r>
              <a:rPr lang="en-US" sz="1200" dirty="0">
                <a:solidFill>
                  <a:srgbClr val="5C5C5C"/>
                </a:solidFill>
                <a:latin typeface="Quattrocento Sans" pitchFamily="34" charset="0"/>
                <a:ea typeface="Quattrocento Sans" pitchFamily="34" charset="-122"/>
                <a:cs typeface="Quattrocento Sans" pitchFamily="34" charset="-120"/>
              </a:rPr>
              <a:t>Zod schema validation on all forms</a:t>
            </a:r>
            <a:endParaRPr lang="en-US" sz="1400" dirty="0"/>
          </a:p>
        </p:txBody>
      </p:sp>
      <p:sp>
        <p:nvSpPr>
          <p:cNvPr id="23" name="Shape 20"/>
          <p:cNvSpPr/>
          <p:nvPr/>
        </p:nvSpPr>
        <p:spPr>
          <a:xfrm>
            <a:off x="990600" y="5105400"/>
            <a:ext cx="304800" cy="304800"/>
          </a:xfrm>
          <a:custGeom>
            <a:avLst/>
            <a:gdLst/>
            <a:ahLst/>
            <a:cxnLst/>
            <a:rect l="l" t="t" r="r" b="b"/>
            <a:pathLst>
              <a:path w="304800" h="304800">
                <a:moveTo>
                  <a:pt x="304800" y="122515"/>
                </a:moveTo>
                <a:cubicBezTo>
                  <a:pt x="294731" y="128349"/>
                  <a:pt x="283165" y="133052"/>
                  <a:pt x="271122" y="136803"/>
                </a:cubicBezTo>
                <a:cubicBezTo>
                  <a:pt x="239146" y="146804"/>
                  <a:pt x="197168" y="152400"/>
                  <a:pt x="152400" y="152400"/>
                </a:cubicBezTo>
                <a:cubicBezTo>
                  <a:pt x="107632" y="152400"/>
                  <a:pt x="65586" y="146745"/>
                  <a:pt x="33678" y="136803"/>
                </a:cubicBezTo>
                <a:cubicBezTo>
                  <a:pt x="21703" y="133052"/>
                  <a:pt x="10069" y="128349"/>
                  <a:pt x="0" y="122515"/>
                </a:cubicBezTo>
                <a:lnTo>
                  <a:pt x="0" y="171450"/>
                </a:lnTo>
                <a:cubicBezTo>
                  <a:pt x="0" y="197763"/>
                  <a:pt x="68240" y="219075"/>
                  <a:pt x="152400" y="219075"/>
                </a:cubicBezTo>
                <a:cubicBezTo>
                  <a:pt x="236560" y="219075"/>
                  <a:pt x="304800" y="197763"/>
                  <a:pt x="304800" y="171450"/>
                </a:cubicBezTo>
                <a:lnTo>
                  <a:pt x="304800" y="122515"/>
                </a:lnTo>
                <a:close/>
                <a:moveTo>
                  <a:pt x="304800" y="76200"/>
                </a:moveTo>
                <a:lnTo>
                  <a:pt x="304800" y="47625"/>
                </a:lnTo>
                <a:cubicBezTo>
                  <a:pt x="304800" y="21312"/>
                  <a:pt x="236560" y="0"/>
                  <a:pt x="152400" y="0"/>
                </a:cubicBezTo>
                <a:cubicBezTo>
                  <a:pt x="68240" y="0"/>
                  <a:pt x="0" y="21312"/>
                  <a:pt x="0" y="47625"/>
                </a:cubicBezTo>
                <a:lnTo>
                  <a:pt x="0" y="76200"/>
                </a:lnTo>
                <a:cubicBezTo>
                  <a:pt x="0" y="102513"/>
                  <a:pt x="68240" y="123825"/>
                  <a:pt x="152400" y="123825"/>
                </a:cubicBezTo>
                <a:cubicBezTo>
                  <a:pt x="236560" y="123825"/>
                  <a:pt x="304800" y="102513"/>
                  <a:pt x="304800" y="76200"/>
                </a:cubicBezTo>
                <a:close/>
                <a:moveTo>
                  <a:pt x="271122" y="232053"/>
                </a:moveTo>
                <a:cubicBezTo>
                  <a:pt x="239214" y="241995"/>
                  <a:pt x="197236" y="247650"/>
                  <a:pt x="152400" y="247650"/>
                </a:cubicBezTo>
                <a:cubicBezTo>
                  <a:pt x="107564" y="247650"/>
                  <a:pt x="65586" y="241995"/>
                  <a:pt x="33678" y="232053"/>
                </a:cubicBezTo>
                <a:cubicBezTo>
                  <a:pt x="21703" y="228302"/>
                  <a:pt x="10069" y="223599"/>
                  <a:pt x="0" y="217765"/>
                </a:cubicBezTo>
                <a:lnTo>
                  <a:pt x="0" y="257175"/>
                </a:lnTo>
                <a:cubicBezTo>
                  <a:pt x="0" y="283488"/>
                  <a:pt x="68240" y="304800"/>
                  <a:pt x="152400" y="304800"/>
                </a:cubicBezTo>
                <a:cubicBezTo>
                  <a:pt x="236560" y="304800"/>
                  <a:pt x="304800" y="283488"/>
                  <a:pt x="304800" y="257175"/>
                </a:cubicBezTo>
                <a:lnTo>
                  <a:pt x="304800" y="217765"/>
                </a:lnTo>
                <a:cubicBezTo>
                  <a:pt x="294731" y="223599"/>
                  <a:pt x="283165" y="228302"/>
                  <a:pt x="271122" y="232053"/>
                </a:cubicBezTo>
                <a:close/>
              </a:path>
            </a:pathLst>
          </a:custGeom>
          <a:solidFill>
            <a:srgbClr val="D4652A"/>
          </a:solidFill>
          <a:ln/>
        </p:spPr>
        <p:txBody>
          <a:bodyPr/>
          <a:lstStyle/>
          <a:p>
            <a:endParaRPr lang="en-US"/>
          </a:p>
        </p:txBody>
      </p:sp>
      <p:sp>
        <p:nvSpPr>
          <p:cNvPr id="24" name="Text 21"/>
          <p:cNvSpPr/>
          <p:nvPr/>
        </p:nvSpPr>
        <p:spPr>
          <a:xfrm>
            <a:off x="1397000" y="5080000"/>
            <a:ext cx="3810000" cy="635000"/>
          </a:xfrm>
          <a:prstGeom prst="rect">
            <a:avLst/>
          </a:prstGeom>
          <a:noFill/>
          <a:ln/>
        </p:spPr>
        <p:txBody>
          <a:bodyPr wrap="square" lIns="0" tIns="0" rIns="0" bIns="0" rtlCol="0" anchor="t"/>
          <a:lstStyle/>
          <a:p>
            <a:pPr algn="l">
              <a:lnSpc>
                <a:spcPct val="150000"/>
              </a:lnSpc>
            </a:pPr>
            <a:r>
              <a:rPr lang="en-US" sz="1400" b="1" dirty="0">
                <a:solidFill>
                  <a:srgbClr val="1E1E1E"/>
                </a:solidFill>
                <a:latin typeface="Quattrocento Sans" pitchFamily="34" charset="0"/>
                <a:ea typeface="Quattrocento Sans" pitchFamily="34" charset="-122"/>
                <a:cs typeface="Quattrocento Sans" pitchFamily="34" charset="-120"/>
              </a:rPr>
              <a:t>Data Isolation</a:t>
            </a:r>
            <a:endParaRPr lang="en-US" sz="1400" dirty="0"/>
          </a:p>
          <a:p>
            <a:pPr algn="l">
              <a:lnSpc>
                <a:spcPct val="150000"/>
              </a:lnSpc>
            </a:pPr>
            <a:r>
              <a:rPr lang="en-US" sz="1200" dirty="0">
                <a:solidFill>
                  <a:srgbClr val="5C5C5C"/>
                </a:solidFill>
                <a:latin typeface="Quattrocento Sans" pitchFamily="34" charset="0"/>
                <a:ea typeface="Quattrocento Sans" pitchFamily="34" charset="-122"/>
                <a:cs typeface="Quattrocento Sans" pitchFamily="34" charset="-120"/>
              </a:rPr>
              <a:t>localStorage isolation per browser session</a:t>
            </a:r>
            <a:endParaRPr lang="en-US" sz="1400" dirty="0"/>
          </a:p>
        </p:txBody>
      </p:sp>
      <p:sp>
        <p:nvSpPr>
          <p:cNvPr id="25" name="Shape 22"/>
          <p:cNvSpPr/>
          <p:nvPr/>
        </p:nvSpPr>
        <p:spPr>
          <a:xfrm>
            <a:off x="5778500" y="1460500"/>
            <a:ext cx="4699000" cy="457200"/>
          </a:xfrm>
          <a:prstGeom prst="roundRect">
            <a:avLst>
              <a:gd name="adj" fmla="val 8000"/>
            </a:avLst>
          </a:prstGeom>
          <a:solidFill>
            <a:srgbClr val="B85C28"/>
          </a:solidFill>
          <a:ln/>
        </p:spPr>
        <p:txBody>
          <a:bodyPr/>
          <a:lstStyle/>
          <a:p>
            <a:endParaRPr lang="en-US"/>
          </a:p>
        </p:txBody>
      </p:sp>
      <p:sp>
        <p:nvSpPr>
          <p:cNvPr id="26" name="Text 23"/>
          <p:cNvSpPr/>
          <p:nvPr/>
        </p:nvSpPr>
        <p:spPr>
          <a:xfrm>
            <a:off x="5778500" y="1460500"/>
            <a:ext cx="4699000" cy="457200"/>
          </a:xfrm>
          <a:prstGeom prst="rect">
            <a:avLst/>
          </a:prstGeom>
          <a:noFill/>
          <a:ln/>
        </p:spPr>
        <p:txBody>
          <a:bodyPr wrap="none" lIns="0" tIns="0" rIns="0" bIns="0" rtlCol="0" anchor="ctr"/>
          <a:lstStyle/>
          <a:p>
            <a:pPr algn="ctr">
              <a:lnSpc>
                <a:spcPct val="120000"/>
              </a:lnSpc>
            </a:pPr>
            <a:r>
              <a:rPr lang="en-US" sz="1400" b="1" dirty="0">
                <a:solidFill>
                  <a:srgbClr val="FFFFFF"/>
                </a:solidFill>
                <a:latin typeface="Liter" pitchFamily="34" charset="0"/>
                <a:ea typeface="Liter" pitchFamily="34" charset="-122"/>
                <a:cs typeface="Liter" pitchFamily="34" charset="-120"/>
              </a:rPr>
              <a:t>PERFORMANCE</a:t>
            </a:r>
            <a:endParaRPr lang="en-US" sz="1400" dirty="0"/>
          </a:p>
        </p:txBody>
      </p:sp>
      <p:sp>
        <p:nvSpPr>
          <p:cNvPr id="27" name="Shape 24"/>
          <p:cNvSpPr/>
          <p:nvPr/>
        </p:nvSpPr>
        <p:spPr>
          <a:xfrm>
            <a:off x="5778500" y="1968500"/>
            <a:ext cx="4699000" cy="4318000"/>
          </a:xfrm>
          <a:prstGeom prst="roundRect">
            <a:avLst>
              <a:gd name="adj" fmla="val 4000"/>
            </a:avLst>
          </a:prstGeom>
          <a:solidFill>
            <a:srgbClr val="F0EBE6"/>
          </a:solidFill>
          <a:ln/>
        </p:spPr>
        <p:txBody>
          <a:bodyPr/>
          <a:lstStyle/>
          <a:p>
            <a:endParaRPr lang="en-US"/>
          </a:p>
        </p:txBody>
      </p:sp>
      <p:sp>
        <p:nvSpPr>
          <p:cNvPr id="28" name="Shape 25"/>
          <p:cNvSpPr/>
          <p:nvPr/>
        </p:nvSpPr>
        <p:spPr>
          <a:xfrm>
            <a:off x="6007100" y="2159000"/>
            <a:ext cx="304800" cy="304800"/>
          </a:xfrm>
          <a:custGeom>
            <a:avLst/>
            <a:gdLst/>
            <a:ahLst/>
            <a:cxnLst/>
            <a:rect l="l" t="t" r="r" b="b"/>
            <a:pathLst>
              <a:path w="304800" h="304800">
                <a:moveTo>
                  <a:pt x="0" y="38100"/>
                </a:moveTo>
                <a:cubicBezTo>
                  <a:pt x="0" y="17085"/>
                  <a:pt x="22781" y="0"/>
                  <a:pt x="50800" y="0"/>
                </a:cubicBezTo>
                <a:lnTo>
                  <a:pt x="169466" y="0"/>
                </a:lnTo>
                <a:cubicBezTo>
                  <a:pt x="182959" y="0"/>
                  <a:pt x="195898" y="3989"/>
                  <a:pt x="205423" y="11132"/>
                </a:cubicBezTo>
                <a:lnTo>
                  <a:pt x="289957" y="74593"/>
                </a:lnTo>
                <a:cubicBezTo>
                  <a:pt x="299482" y="81736"/>
                  <a:pt x="304800" y="91440"/>
                  <a:pt x="304800" y="101560"/>
                </a:cubicBezTo>
                <a:lnTo>
                  <a:pt x="304800" y="266700"/>
                </a:lnTo>
                <a:cubicBezTo>
                  <a:pt x="304800" y="287715"/>
                  <a:pt x="282019" y="304800"/>
                  <a:pt x="254000" y="304800"/>
                </a:cubicBezTo>
                <a:lnTo>
                  <a:pt x="50800" y="304800"/>
                </a:lnTo>
                <a:cubicBezTo>
                  <a:pt x="22781" y="304800"/>
                  <a:pt x="0" y="287715"/>
                  <a:pt x="0" y="266700"/>
                </a:cubicBezTo>
                <a:lnTo>
                  <a:pt x="0" y="38100"/>
                </a:lnTo>
                <a:close/>
                <a:moveTo>
                  <a:pt x="165100" y="34826"/>
                </a:moveTo>
                <a:lnTo>
                  <a:pt x="165100" y="90488"/>
                </a:lnTo>
                <a:cubicBezTo>
                  <a:pt x="165100" y="98405"/>
                  <a:pt x="173593" y="104775"/>
                  <a:pt x="184150" y="104775"/>
                </a:cubicBezTo>
                <a:lnTo>
                  <a:pt x="258366" y="104775"/>
                </a:lnTo>
                <a:lnTo>
                  <a:pt x="165100" y="34826"/>
                </a:lnTo>
                <a:close/>
                <a:moveTo>
                  <a:pt x="95250" y="152400"/>
                </a:moveTo>
                <a:cubicBezTo>
                  <a:pt x="84693" y="152400"/>
                  <a:pt x="76200" y="158770"/>
                  <a:pt x="76200" y="166688"/>
                </a:cubicBezTo>
                <a:cubicBezTo>
                  <a:pt x="76200" y="174605"/>
                  <a:pt x="84693" y="180975"/>
                  <a:pt x="95250" y="180975"/>
                </a:cubicBezTo>
                <a:lnTo>
                  <a:pt x="209550" y="180975"/>
                </a:lnTo>
                <a:cubicBezTo>
                  <a:pt x="220107" y="180975"/>
                  <a:pt x="228600" y="174605"/>
                  <a:pt x="228600" y="166688"/>
                </a:cubicBezTo>
                <a:cubicBezTo>
                  <a:pt x="228600" y="158770"/>
                  <a:pt x="220107" y="152400"/>
                  <a:pt x="209550" y="152400"/>
                </a:cubicBezTo>
                <a:lnTo>
                  <a:pt x="95250" y="152400"/>
                </a:lnTo>
                <a:close/>
                <a:moveTo>
                  <a:pt x="95250" y="209550"/>
                </a:moveTo>
                <a:cubicBezTo>
                  <a:pt x="84693" y="209550"/>
                  <a:pt x="76200" y="215920"/>
                  <a:pt x="76200" y="223838"/>
                </a:cubicBezTo>
                <a:cubicBezTo>
                  <a:pt x="76200" y="231755"/>
                  <a:pt x="84693" y="238125"/>
                  <a:pt x="95250" y="238125"/>
                </a:cubicBezTo>
                <a:lnTo>
                  <a:pt x="209550" y="238125"/>
                </a:lnTo>
                <a:cubicBezTo>
                  <a:pt x="220107" y="238125"/>
                  <a:pt x="228600" y="231755"/>
                  <a:pt x="228600" y="223838"/>
                </a:cubicBezTo>
                <a:cubicBezTo>
                  <a:pt x="228600" y="215920"/>
                  <a:pt x="220107" y="209550"/>
                  <a:pt x="209550" y="209550"/>
                </a:cubicBezTo>
                <a:lnTo>
                  <a:pt x="95250" y="209550"/>
                </a:lnTo>
                <a:close/>
              </a:path>
            </a:pathLst>
          </a:custGeom>
          <a:solidFill>
            <a:srgbClr val="B85C28"/>
          </a:solidFill>
          <a:ln/>
        </p:spPr>
        <p:txBody>
          <a:bodyPr/>
          <a:lstStyle/>
          <a:p>
            <a:endParaRPr lang="en-US"/>
          </a:p>
        </p:txBody>
      </p:sp>
      <p:sp>
        <p:nvSpPr>
          <p:cNvPr id="29" name="Text 26"/>
          <p:cNvSpPr/>
          <p:nvPr/>
        </p:nvSpPr>
        <p:spPr>
          <a:xfrm>
            <a:off x="6413500" y="2133600"/>
            <a:ext cx="3810000" cy="635000"/>
          </a:xfrm>
          <a:prstGeom prst="rect">
            <a:avLst/>
          </a:prstGeom>
          <a:noFill/>
          <a:ln/>
        </p:spPr>
        <p:txBody>
          <a:bodyPr wrap="square" lIns="0" tIns="0" rIns="0" bIns="0" rtlCol="0" anchor="t"/>
          <a:lstStyle/>
          <a:p>
            <a:pPr algn="l">
              <a:lnSpc>
                <a:spcPct val="150000"/>
              </a:lnSpc>
            </a:pPr>
            <a:r>
              <a:rPr lang="en-US" sz="1400" b="1" dirty="0">
                <a:solidFill>
                  <a:srgbClr val="1E1E1E"/>
                </a:solidFill>
                <a:latin typeface="Quattrocento Sans" pitchFamily="34" charset="0"/>
                <a:ea typeface="Quattrocento Sans" pitchFamily="34" charset="-122"/>
                <a:cs typeface="Quattrocento Sans" pitchFamily="34" charset="-120"/>
              </a:rPr>
              <a:t>Pagination</a:t>
            </a:r>
            <a:endParaRPr lang="en-US" sz="1400" dirty="0"/>
          </a:p>
          <a:p>
            <a:pPr algn="l">
              <a:lnSpc>
                <a:spcPct val="150000"/>
              </a:lnSpc>
            </a:pPr>
            <a:r>
              <a:rPr lang="en-US" sz="1200" dirty="0">
                <a:solidFill>
                  <a:srgbClr val="5C5C5C"/>
                </a:solidFill>
                <a:latin typeface="Quattrocento Sans" pitchFamily="34" charset="0"/>
                <a:ea typeface="Quattrocento Sans" pitchFamily="34" charset="-122"/>
                <a:cs typeface="Quattrocento Sans" pitchFamily="34" charset="-120"/>
              </a:rPr>
              <a:t>21 items per page, limits API calls and DOM size</a:t>
            </a:r>
            <a:endParaRPr lang="en-US" sz="1400" dirty="0"/>
          </a:p>
        </p:txBody>
      </p:sp>
      <p:sp>
        <p:nvSpPr>
          <p:cNvPr id="30" name="Shape 27"/>
          <p:cNvSpPr/>
          <p:nvPr/>
        </p:nvSpPr>
        <p:spPr>
          <a:xfrm>
            <a:off x="6007100" y="2895600"/>
            <a:ext cx="304800" cy="304800"/>
          </a:xfrm>
          <a:custGeom>
            <a:avLst/>
            <a:gdLst/>
            <a:ahLst/>
            <a:cxnLst/>
            <a:rect l="l" t="t" r="r" b="b"/>
            <a:pathLst>
              <a:path w="304800" h="304800">
                <a:moveTo>
                  <a:pt x="43543" y="19050"/>
                </a:moveTo>
                <a:cubicBezTo>
                  <a:pt x="19526" y="19050"/>
                  <a:pt x="0" y="36135"/>
                  <a:pt x="0" y="57150"/>
                </a:cubicBezTo>
                <a:lnTo>
                  <a:pt x="0" y="247650"/>
                </a:lnTo>
                <a:cubicBezTo>
                  <a:pt x="0" y="268665"/>
                  <a:pt x="19526" y="285750"/>
                  <a:pt x="43543" y="285750"/>
                </a:cubicBezTo>
                <a:lnTo>
                  <a:pt x="261257" y="285750"/>
                </a:lnTo>
                <a:cubicBezTo>
                  <a:pt x="285274" y="285750"/>
                  <a:pt x="304800" y="268665"/>
                  <a:pt x="304800" y="247650"/>
                </a:cubicBezTo>
                <a:lnTo>
                  <a:pt x="304800" y="57150"/>
                </a:lnTo>
                <a:cubicBezTo>
                  <a:pt x="304800" y="36135"/>
                  <a:pt x="285274" y="19050"/>
                  <a:pt x="261257" y="19050"/>
                </a:cubicBezTo>
                <a:lnTo>
                  <a:pt x="43543" y="19050"/>
                </a:lnTo>
                <a:close/>
                <a:moveTo>
                  <a:pt x="87086" y="66675"/>
                </a:moveTo>
                <a:cubicBezTo>
                  <a:pt x="105110" y="66675"/>
                  <a:pt x="119743" y="79479"/>
                  <a:pt x="119743" y="95250"/>
                </a:cubicBezTo>
                <a:cubicBezTo>
                  <a:pt x="119743" y="111021"/>
                  <a:pt x="105110" y="123825"/>
                  <a:pt x="87086" y="123825"/>
                </a:cubicBezTo>
                <a:cubicBezTo>
                  <a:pt x="69062" y="123825"/>
                  <a:pt x="54429" y="111021"/>
                  <a:pt x="54429" y="95250"/>
                </a:cubicBezTo>
                <a:cubicBezTo>
                  <a:pt x="54429" y="79479"/>
                  <a:pt x="69062" y="66675"/>
                  <a:pt x="87086" y="66675"/>
                </a:cubicBezTo>
                <a:close/>
                <a:moveTo>
                  <a:pt x="185057" y="133350"/>
                </a:moveTo>
                <a:cubicBezTo>
                  <a:pt x="190772" y="133350"/>
                  <a:pt x="196011" y="135969"/>
                  <a:pt x="199004" y="140196"/>
                </a:cubicBezTo>
                <a:lnTo>
                  <a:pt x="258876" y="225921"/>
                </a:lnTo>
                <a:cubicBezTo>
                  <a:pt x="261937" y="230326"/>
                  <a:pt x="262074" y="235863"/>
                  <a:pt x="259216" y="240387"/>
                </a:cubicBezTo>
                <a:cubicBezTo>
                  <a:pt x="256359" y="244912"/>
                  <a:pt x="250848" y="247650"/>
                  <a:pt x="244929" y="247650"/>
                </a:cubicBezTo>
                <a:lnTo>
                  <a:pt x="59871" y="247650"/>
                </a:lnTo>
                <a:cubicBezTo>
                  <a:pt x="53816" y="247650"/>
                  <a:pt x="48169" y="244673"/>
                  <a:pt x="45380" y="239970"/>
                </a:cubicBezTo>
                <a:cubicBezTo>
                  <a:pt x="42590" y="235268"/>
                  <a:pt x="42999" y="229553"/>
                  <a:pt x="46468" y="225207"/>
                </a:cubicBezTo>
                <a:lnTo>
                  <a:pt x="84568" y="177582"/>
                </a:lnTo>
                <a:cubicBezTo>
                  <a:pt x="87630" y="173772"/>
                  <a:pt x="92597" y="171510"/>
                  <a:pt x="97971" y="171510"/>
                </a:cubicBezTo>
                <a:cubicBezTo>
                  <a:pt x="103346" y="171510"/>
                  <a:pt x="108313" y="173772"/>
                  <a:pt x="111374" y="177582"/>
                </a:cubicBezTo>
                <a:lnTo>
                  <a:pt x="129336" y="200085"/>
                </a:lnTo>
                <a:lnTo>
                  <a:pt x="171110" y="140256"/>
                </a:lnTo>
                <a:cubicBezTo>
                  <a:pt x="174103" y="136029"/>
                  <a:pt x="179342" y="133410"/>
                  <a:pt x="185057" y="133410"/>
                </a:cubicBezTo>
                <a:close/>
              </a:path>
            </a:pathLst>
          </a:custGeom>
          <a:solidFill>
            <a:srgbClr val="B85C28"/>
          </a:solidFill>
          <a:ln/>
        </p:spPr>
        <p:txBody>
          <a:bodyPr/>
          <a:lstStyle/>
          <a:p>
            <a:endParaRPr lang="en-US"/>
          </a:p>
        </p:txBody>
      </p:sp>
      <p:sp>
        <p:nvSpPr>
          <p:cNvPr id="31" name="Text 28"/>
          <p:cNvSpPr/>
          <p:nvPr/>
        </p:nvSpPr>
        <p:spPr>
          <a:xfrm>
            <a:off x="6413500" y="2870200"/>
            <a:ext cx="3810000" cy="635000"/>
          </a:xfrm>
          <a:prstGeom prst="rect">
            <a:avLst/>
          </a:prstGeom>
          <a:noFill/>
          <a:ln/>
        </p:spPr>
        <p:txBody>
          <a:bodyPr wrap="square" lIns="0" tIns="0" rIns="0" bIns="0" rtlCol="0" anchor="t"/>
          <a:lstStyle/>
          <a:p>
            <a:pPr algn="l">
              <a:lnSpc>
                <a:spcPct val="150000"/>
              </a:lnSpc>
            </a:pPr>
            <a:r>
              <a:rPr lang="en-US" sz="1400" b="1" dirty="0">
                <a:solidFill>
                  <a:srgbClr val="1E1E1E"/>
                </a:solidFill>
                <a:latin typeface="Quattrocento Sans" pitchFamily="34" charset="0"/>
                <a:ea typeface="Quattrocento Sans" pitchFamily="34" charset="-122"/>
                <a:cs typeface="Quattrocento Sans" pitchFamily="34" charset="-120"/>
              </a:rPr>
              <a:t>Lazy Loading</a:t>
            </a:r>
            <a:endParaRPr lang="en-US" sz="1400" dirty="0"/>
          </a:p>
          <a:p>
            <a:pPr algn="l">
              <a:lnSpc>
                <a:spcPct val="150000"/>
              </a:lnSpc>
            </a:pPr>
            <a:r>
              <a:rPr lang="en-US" sz="1200" dirty="0">
                <a:solidFill>
                  <a:srgbClr val="5C5C5C"/>
                </a:solidFill>
                <a:latin typeface="Quattrocento Sans" pitchFamily="34" charset="0"/>
                <a:ea typeface="Quattrocento Sans" pitchFamily="34" charset="-122"/>
                <a:cs typeface="Quattrocento Sans" pitchFamily="34" charset="-120"/>
              </a:rPr>
              <a:t>Images load on demand from Yelp CDN</a:t>
            </a:r>
            <a:endParaRPr lang="en-US" sz="1400" dirty="0"/>
          </a:p>
        </p:txBody>
      </p:sp>
      <p:sp>
        <p:nvSpPr>
          <p:cNvPr id="32" name="Shape 29"/>
          <p:cNvSpPr/>
          <p:nvPr/>
        </p:nvSpPr>
        <p:spPr>
          <a:xfrm>
            <a:off x="6007100" y="3632200"/>
            <a:ext cx="304800" cy="304800"/>
          </a:xfrm>
          <a:custGeom>
            <a:avLst/>
            <a:gdLst/>
            <a:ahLst/>
            <a:cxnLst/>
            <a:rect l="l" t="t" r="r" b="b"/>
            <a:pathLst>
              <a:path w="304800" h="304800">
                <a:moveTo>
                  <a:pt x="230505" y="-5894"/>
                </a:moveTo>
                <a:cubicBezTo>
                  <a:pt x="238601" y="-774"/>
                  <a:pt x="241595" y="8513"/>
                  <a:pt x="237921" y="16609"/>
                </a:cubicBezTo>
                <a:lnTo>
                  <a:pt x="184581" y="133350"/>
                </a:lnTo>
                <a:lnTo>
                  <a:pt x="283029" y="133350"/>
                </a:lnTo>
                <a:cubicBezTo>
                  <a:pt x="292213" y="133350"/>
                  <a:pt x="300378" y="138351"/>
                  <a:pt x="303507" y="145911"/>
                </a:cubicBezTo>
                <a:cubicBezTo>
                  <a:pt x="306637" y="153472"/>
                  <a:pt x="303984" y="161925"/>
                  <a:pt x="296976" y="167045"/>
                </a:cubicBezTo>
                <a:lnTo>
                  <a:pt x="101033" y="309920"/>
                </a:lnTo>
                <a:cubicBezTo>
                  <a:pt x="93345" y="315516"/>
                  <a:pt x="82391" y="315813"/>
                  <a:pt x="74295" y="310694"/>
                </a:cubicBezTo>
                <a:cubicBezTo>
                  <a:pt x="66199" y="305574"/>
                  <a:pt x="63205" y="296287"/>
                  <a:pt x="66879" y="288191"/>
                </a:cubicBezTo>
                <a:lnTo>
                  <a:pt x="120219" y="171450"/>
                </a:lnTo>
                <a:lnTo>
                  <a:pt x="21771" y="171450"/>
                </a:lnTo>
                <a:cubicBezTo>
                  <a:pt x="12587" y="171450"/>
                  <a:pt x="4422" y="166449"/>
                  <a:pt x="1293" y="158889"/>
                </a:cubicBezTo>
                <a:cubicBezTo>
                  <a:pt x="-1837" y="151328"/>
                  <a:pt x="816" y="142875"/>
                  <a:pt x="7824" y="137755"/>
                </a:cubicBezTo>
                <a:lnTo>
                  <a:pt x="203767" y="-5120"/>
                </a:lnTo>
                <a:cubicBezTo>
                  <a:pt x="211455" y="-10716"/>
                  <a:pt x="222409" y="-11013"/>
                  <a:pt x="230505" y="-5894"/>
                </a:cubicBezTo>
                <a:close/>
              </a:path>
            </a:pathLst>
          </a:custGeom>
          <a:solidFill>
            <a:srgbClr val="B85C28"/>
          </a:solidFill>
          <a:ln/>
        </p:spPr>
        <p:txBody>
          <a:bodyPr/>
          <a:lstStyle/>
          <a:p>
            <a:endParaRPr lang="en-US"/>
          </a:p>
        </p:txBody>
      </p:sp>
      <p:sp>
        <p:nvSpPr>
          <p:cNvPr id="33" name="Text 30"/>
          <p:cNvSpPr/>
          <p:nvPr/>
        </p:nvSpPr>
        <p:spPr>
          <a:xfrm>
            <a:off x="6413500" y="3606800"/>
            <a:ext cx="3810000" cy="635000"/>
          </a:xfrm>
          <a:prstGeom prst="rect">
            <a:avLst/>
          </a:prstGeom>
          <a:noFill/>
          <a:ln/>
        </p:spPr>
        <p:txBody>
          <a:bodyPr wrap="square" lIns="0" tIns="0" rIns="0" bIns="0" rtlCol="0" anchor="t"/>
          <a:lstStyle/>
          <a:p>
            <a:pPr algn="l">
              <a:lnSpc>
                <a:spcPct val="140000"/>
              </a:lnSpc>
            </a:pPr>
            <a:r>
              <a:rPr lang="en-US" sz="1400" b="1" dirty="0">
                <a:solidFill>
                  <a:srgbClr val="1E1E1E"/>
                </a:solidFill>
                <a:latin typeface="Quattrocento Sans" pitchFamily="34" charset="0"/>
                <a:ea typeface="Quattrocento Sans" pitchFamily="34" charset="-122"/>
                <a:cs typeface="Quattrocento Sans" pitchFamily="34" charset="-120"/>
              </a:rPr>
              <a:t>Fast Builds</a:t>
            </a:r>
            <a:endParaRPr lang="en-US" sz="1400" dirty="0"/>
          </a:p>
          <a:p>
            <a:pPr algn="l">
              <a:lnSpc>
                <a:spcPct val="140000"/>
              </a:lnSpc>
            </a:pPr>
            <a:r>
              <a:rPr lang="en-US" sz="1100" dirty="0">
                <a:solidFill>
                  <a:srgbClr val="5C5C5C"/>
                </a:solidFill>
                <a:latin typeface="Quattrocento Sans" pitchFamily="34" charset="0"/>
                <a:ea typeface="Quattrocento Sans" pitchFamily="34" charset="-122"/>
                <a:cs typeface="Quattrocento Sans" pitchFamily="34" charset="-120"/>
              </a:rPr>
              <a:t>Vite HMR, optimized production output</a:t>
            </a:r>
            <a:endParaRPr lang="en-US" sz="1400" dirty="0"/>
          </a:p>
        </p:txBody>
      </p:sp>
      <p:sp>
        <p:nvSpPr>
          <p:cNvPr id="34" name="Shape 31"/>
          <p:cNvSpPr/>
          <p:nvPr/>
        </p:nvSpPr>
        <p:spPr>
          <a:xfrm>
            <a:off x="6007100" y="4368800"/>
            <a:ext cx="304800" cy="304800"/>
          </a:xfrm>
          <a:custGeom>
            <a:avLst/>
            <a:gdLst/>
            <a:ahLst/>
            <a:cxnLst/>
            <a:rect l="l" t="t" r="r" b="b"/>
            <a:pathLst>
              <a:path w="304800" h="304800">
                <a:moveTo>
                  <a:pt x="152400" y="0"/>
                </a:moveTo>
                <a:cubicBezTo>
                  <a:pt x="236512" y="0"/>
                  <a:pt x="304800" y="68288"/>
                  <a:pt x="304800" y="152400"/>
                </a:cubicBezTo>
                <a:cubicBezTo>
                  <a:pt x="304800" y="236512"/>
                  <a:pt x="236512" y="304800"/>
                  <a:pt x="152400" y="304800"/>
                </a:cubicBezTo>
                <a:cubicBezTo>
                  <a:pt x="68288" y="304800"/>
                  <a:pt x="0" y="236512"/>
                  <a:pt x="0" y="152400"/>
                </a:cubicBezTo>
                <a:cubicBezTo>
                  <a:pt x="0" y="68288"/>
                  <a:pt x="68288" y="0"/>
                  <a:pt x="152400" y="0"/>
                </a:cubicBezTo>
                <a:close/>
                <a:moveTo>
                  <a:pt x="138113" y="71438"/>
                </a:moveTo>
                <a:lnTo>
                  <a:pt x="138113" y="152400"/>
                </a:lnTo>
                <a:cubicBezTo>
                  <a:pt x="138113" y="157163"/>
                  <a:pt x="140494" y="161627"/>
                  <a:pt x="144482" y="164306"/>
                </a:cubicBezTo>
                <a:lnTo>
                  <a:pt x="201632" y="202406"/>
                </a:lnTo>
                <a:cubicBezTo>
                  <a:pt x="208181" y="206812"/>
                  <a:pt x="217051" y="205026"/>
                  <a:pt x="221456" y="198418"/>
                </a:cubicBezTo>
                <a:cubicBezTo>
                  <a:pt x="225862" y="191810"/>
                  <a:pt x="224076" y="182999"/>
                  <a:pt x="217468" y="178594"/>
                </a:cubicBezTo>
                <a:lnTo>
                  <a:pt x="166688" y="144780"/>
                </a:lnTo>
                <a:lnTo>
                  <a:pt x="166688" y="71438"/>
                </a:lnTo>
                <a:cubicBezTo>
                  <a:pt x="166688" y="63520"/>
                  <a:pt x="160318" y="57150"/>
                  <a:pt x="152400" y="57150"/>
                </a:cubicBezTo>
                <a:cubicBezTo>
                  <a:pt x="144482" y="57150"/>
                  <a:pt x="138113" y="63520"/>
                  <a:pt x="138113" y="71438"/>
                </a:cubicBezTo>
                <a:close/>
              </a:path>
            </a:pathLst>
          </a:custGeom>
          <a:solidFill>
            <a:srgbClr val="B85C28"/>
          </a:solidFill>
          <a:ln/>
        </p:spPr>
        <p:txBody>
          <a:bodyPr/>
          <a:lstStyle/>
          <a:p>
            <a:endParaRPr lang="en-US"/>
          </a:p>
        </p:txBody>
      </p:sp>
      <p:sp>
        <p:nvSpPr>
          <p:cNvPr id="35" name="Text 32"/>
          <p:cNvSpPr/>
          <p:nvPr/>
        </p:nvSpPr>
        <p:spPr>
          <a:xfrm>
            <a:off x="6413500" y="4343400"/>
            <a:ext cx="3810000" cy="635000"/>
          </a:xfrm>
          <a:prstGeom prst="rect">
            <a:avLst/>
          </a:prstGeom>
          <a:noFill/>
          <a:ln/>
        </p:spPr>
        <p:txBody>
          <a:bodyPr wrap="square" lIns="0" tIns="0" rIns="0" bIns="0" rtlCol="0" anchor="t"/>
          <a:lstStyle/>
          <a:p>
            <a:pPr algn="l">
              <a:lnSpc>
                <a:spcPct val="150000"/>
              </a:lnSpc>
            </a:pPr>
            <a:r>
              <a:rPr lang="en-US" sz="1400" b="1" dirty="0">
                <a:solidFill>
                  <a:srgbClr val="1E1E1E"/>
                </a:solidFill>
                <a:latin typeface="Quattrocento Sans" pitchFamily="34" charset="0"/>
                <a:ea typeface="Quattrocento Sans" pitchFamily="34" charset="-122"/>
                <a:cs typeface="Quattrocento Sans" pitchFamily="34" charset="-120"/>
              </a:rPr>
              <a:t>Debounced Search</a:t>
            </a:r>
            <a:endParaRPr lang="en-US" sz="1400" dirty="0"/>
          </a:p>
          <a:p>
            <a:pPr algn="l">
              <a:lnSpc>
                <a:spcPct val="150000"/>
              </a:lnSpc>
            </a:pPr>
            <a:r>
              <a:rPr lang="en-US" sz="1200" dirty="0">
                <a:solidFill>
                  <a:srgbClr val="5C5C5C"/>
                </a:solidFill>
                <a:latin typeface="Quattrocento Sans" pitchFamily="34" charset="0"/>
                <a:ea typeface="Quattrocento Sans" pitchFamily="34" charset="-122"/>
                <a:cs typeface="Quattrocento Sans" pitchFamily="34" charset="-120"/>
              </a:rPr>
              <a:t>300ms delay reduces unnecessary API calls</a:t>
            </a:r>
            <a:endParaRPr lang="en-US" sz="1400" dirty="0"/>
          </a:p>
        </p:txBody>
      </p:sp>
      <p:sp>
        <p:nvSpPr>
          <p:cNvPr id="36" name="Shape 33"/>
          <p:cNvSpPr/>
          <p:nvPr/>
        </p:nvSpPr>
        <p:spPr>
          <a:xfrm>
            <a:off x="6007100" y="5105400"/>
            <a:ext cx="304800" cy="304800"/>
          </a:xfrm>
          <a:custGeom>
            <a:avLst/>
            <a:gdLst/>
            <a:ahLst/>
            <a:cxnLst/>
            <a:rect l="l" t="t" r="r" b="b"/>
            <a:pathLst>
              <a:path w="304800" h="304800">
                <a:moveTo>
                  <a:pt x="54429" y="61912"/>
                </a:moveTo>
                <a:cubicBezTo>
                  <a:pt x="63441" y="61912"/>
                  <a:pt x="70757" y="55510"/>
                  <a:pt x="70757" y="47625"/>
                </a:cubicBezTo>
                <a:cubicBezTo>
                  <a:pt x="70757" y="39740"/>
                  <a:pt x="63441" y="33338"/>
                  <a:pt x="54429" y="33338"/>
                </a:cubicBezTo>
                <a:cubicBezTo>
                  <a:pt x="45417" y="33338"/>
                  <a:pt x="38100" y="39740"/>
                  <a:pt x="38100" y="47625"/>
                </a:cubicBezTo>
                <a:cubicBezTo>
                  <a:pt x="38100" y="55510"/>
                  <a:pt x="45417" y="61912"/>
                  <a:pt x="54429" y="61912"/>
                </a:cubicBezTo>
                <a:close/>
                <a:moveTo>
                  <a:pt x="108857" y="47625"/>
                </a:moveTo>
                <a:cubicBezTo>
                  <a:pt x="108857" y="67151"/>
                  <a:pt x="95454" y="83939"/>
                  <a:pt x="76200" y="91261"/>
                </a:cubicBezTo>
                <a:lnTo>
                  <a:pt x="76200" y="133350"/>
                </a:lnTo>
                <a:lnTo>
                  <a:pt x="195943" y="133350"/>
                </a:lnTo>
                <a:cubicBezTo>
                  <a:pt x="213972" y="133350"/>
                  <a:pt x="228600" y="120551"/>
                  <a:pt x="228600" y="104775"/>
                </a:cubicBezTo>
                <a:lnTo>
                  <a:pt x="228600" y="91261"/>
                </a:lnTo>
                <a:cubicBezTo>
                  <a:pt x="209346" y="83939"/>
                  <a:pt x="195943" y="67151"/>
                  <a:pt x="195943" y="47625"/>
                </a:cubicBezTo>
                <a:cubicBezTo>
                  <a:pt x="195943" y="21312"/>
                  <a:pt x="220300" y="0"/>
                  <a:pt x="250371" y="0"/>
                </a:cubicBezTo>
                <a:cubicBezTo>
                  <a:pt x="280443" y="0"/>
                  <a:pt x="304800" y="21312"/>
                  <a:pt x="304800" y="47625"/>
                </a:cubicBezTo>
                <a:cubicBezTo>
                  <a:pt x="304800" y="67151"/>
                  <a:pt x="291397" y="83939"/>
                  <a:pt x="272143" y="91261"/>
                </a:cubicBezTo>
                <a:lnTo>
                  <a:pt x="272143" y="104775"/>
                </a:lnTo>
                <a:cubicBezTo>
                  <a:pt x="272143" y="141625"/>
                  <a:pt x="238057" y="171450"/>
                  <a:pt x="195943" y="171450"/>
                </a:cubicBezTo>
                <a:lnTo>
                  <a:pt x="76200" y="171450"/>
                </a:lnTo>
                <a:lnTo>
                  <a:pt x="76200" y="213539"/>
                </a:lnTo>
                <a:cubicBezTo>
                  <a:pt x="95454" y="220861"/>
                  <a:pt x="108857" y="237649"/>
                  <a:pt x="108857" y="257175"/>
                </a:cubicBezTo>
                <a:cubicBezTo>
                  <a:pt x="108857" y="283488"/>
                  <a:pt x="84500" y="304800"/>
                  <a:pt x="54429" y="304800"/>
                </a:cubicBezTo>
                <a:cubicBezTo>
                  <a:pt x="24357" y="304800"/>
                  <a:pt x="0" y="283488"/>
                  <a:pt x="0" y="257175"/>
                </a:cubicBezTo>
                <a:cubicBezTo>
                  <a:pt x="0" y="237649"/>
                  <a:pt x="13403" y="220861"/>
                  <a:pt x="32657" y="213539"/>
                </a:cubicBezTo>
                <a:lnTo>
                  <a:pt x="32657" y="91321"/>
                </a:lnTo>
                <a:cubicBezTo>
                  <a:pt x="13403" y="83939"/>
                  <a:pt x="0" y="67151"/>
                  <a:pt x="0" y="47625"/>
                </a:cubicBezTo>
                <a:cubicBezTo>
                  <a:pt x="0" y="21312"/>
                  <a:pt x="24357" y="0"/>
                  <a:pt x="54429" y="0"/>
                </a:cubicBezTo>
                <a:cubicBezTo>
                  <a:pt x="84500" y="0"/>
                  <a:pt x="108857" y="21312"/>
                  <a:pt x="108857" y="47625"/>
                </a:cubicBezTo>
                <a:close/>
                <a:moveTo>
                  <a:pt x="266700" y="47625"/>
                </a:moveTo>
                <a:cubicBezTo>
                  <a:pt x="266700" y="39740"/>
                  <a:pt x="259383" y="33338"/>
                  <a:pt x="250371" y="33338"/>
                </a:cubicBezTo>
                <a:cubicBezTo>
                  <a:pt x="241359" y="33338"/>
                  <a:pt x="234043" y="39740"/>
                  <a:pt x="234043" y="47625"/>
                </a:cubicBezTo>
                <a:cubicBezTo>
                  <a:pt x="234043" y="55510"/>
                  <a:pt x="241359" y="61912"/>
                  <a:pt x="250371" y="61912"/>
                </a:cubicBezTo>
                <a:cubicBezTo>
                  <a:pt x="259383" y="61912"/>
                  <a:pt x="266700" y="55510"/>
                  <a:pt x="266700" y="47625"/>
                </a:cubicBezTo>
                <a:close/>
                <a:moveTo>
                  <a:pt x="54429" y="271463"/>
                </a:moveTo>
                <a:cubicBezTo>
                  <a:pt x="63441" y="271463"/>
                  <a:pt x="70757" y="265060"/>
                  <a:pt x="70757" y="257175"/>
                </a:cubicBezTo>
                <a:cubicBezTo>
                  <a:pt x="70757" y="249290"/>
                  <a:pt x="63441" y="242888"/>
                  <a:pt x="54429" y="242888"/>
                </a:cubicBezTo>
                <a:cubicBezTo>
                  <a:pt x="45417" y="242888"/>
                  <a:pt x="38100" y="249290"/>
                  <a:pt x="38100" y="257175"/>
                </a:cubicBezTo>
                <a:cubicBezTo>
                  <a:pt x="38100" y="265060"/>
                  <a:pt x="45417" y="271463"/>
                  <a:pt x="54429" y="271463"/>
                </a:cubicBezTo>
                <a:close/>
              </a:path>
            </a:pathLst>
          </a:custGeom>
          <a:solidFill>
            <a:srgbClr val="B85C28"/>
          </a:solidFill>
          <a:ln/>
        </p:spPr>
        <p:txBody>
          <a:bodyPr/>
          <a:lstStyle/>
          <a:p>
            <a:endParaRPr lang="en-US"/>
          </a:p>
        </p:txBody>
      </p:sp>
      <p:sp>
        <p:nvSpPr>
          <p:cNvPr id="37" name="Text 34"/>
          <p:cNvSpPr/>
          <p:nvPr/>
        </p:nvSpPr>
        <p:spPr>
          <a:xfrm>
            <a:off x="6413500" y="5080000"/>
            <a:ext cx="3810000" cy="635000"/>
          </a:xfrm>
          <a:prstGeom prst="rect">
            <a:avLst/>
          </a:prstGeom>
          <a:noFill/>
          <a:ln/>
        </p:spPr>
        <p:txBody>
          <a:bodyPr wrap="square" lIns="0" tIns="0" rIns="0" bIns="0" rtlCol="0" anchor="t"/>
          <a:lstStyle/>
          <a:p>
            <a:pPr algn="l">
              <a:lnSpc>
                <a:spcPct val="150000"/>
              </a:lnSpc>
            </a:pPr>
            <a:r>
              <a:rPr lang="en-US" sz="1400" b="1" dirty="0">
                <a:solidFill>
                  <a:srgbClr val="1E1E1E"/>
                </a:solidFill>
                <a:latin typeface="Quattrocento Sans" pitchFamily="34" charset="0"/>
                <a:ea typeface="Quattrocento Sans" pitchFamily="34" charset="-122"/>
                <a:cs typeface="Quattrocento Sans" pitchFamily="34" charset="-120"/>
              </a:rPr>
              <a:t>Code Splitting</a:t>
            </a:r>
            <a:endParaRPr lang="en-US" sz="1400" dirty="0"/>
          </a:p>
          <a:p>
            <a:pPr algn="l">
              <a:lnSpc>
                <a:spcPct val="150000"/>
              </a:lnSpc>
            </a:pPr>
            <a:r>
              <a:rPr lang="en-US" sz="1200" dirty="0">
                <a:solidFill>
                  <a:srgbClr val="5C5C5C"/>
                </a:solidFill>
                <a:latin typeface="Quattrocento Sans" pitchFamily="34" charset="0"/>
                <a:ea typeface="Quattrocento Sans" pitchFamily="34" charset="-122"/>
                <a:cs typeface="Quattrocento Sans" pitchFamily="34" charset="-120"/>
              </a:rPr>
              <a:t>Route-based splitting with React Router v7</a:t>
            </a:r>
            <a:endParaRPr lang="en-US" sz="1400" dirty="0"/>
          </a:p>
        </p:txBody>
      </p:sp>
      <p:sp>
        <p:nvSpPr>
          <p:cNvPr id="38" name="Shape 35"/>
          <p:cNvSpPr/>
          <p:nvPr/>
        </p:nvSpPr>
        <p:spPr>
          <a:xfrm>
            <a:off x="10795000" y="1460500"/>
            <a:ext cx="4699000" cy="457200"/>
          </a:xfrm>
          <a:prstGeom prst="roundRect">
            <a:avLst>
              <a:gd name="adj" fmla="val 8000"/>
            </a:avLst>
          </a:prstGeom>
          <a:solidFill>
            <a:srgbClr val="2D2D2D"/>
          </a:solidFill>
          <a:ln/>
        </p:spPr>
        <p:txBody>
          <a:bodyPr/>
          <a:lstStyle/>
          <a:p>
            <a:endParaRPr lang="en-US"/>
          </a:p>
        </p:txBody>
      </p:sp>
      <p:sp>
        <p:nvSpPr>
          <p:cNvPr id="39" name="Text 36"/>
          <p:cNvSpPr/>
          <p:nvPr/>
        </p:nvSpPr>
        <p:spPr>
          <a:xfrm>
            <a:off x="10795000" y="1460500"/>
            <a:ext cx="4699000" cy="457200"/>
          </a:xfrm>
          <a:prstGeom prst="rect">
            <a:avLst/>
          </a:prstGeom>
          <a:noFill/>
          <a:ln/>
        </p:spPr>
        <p:txBody>
          <a:bodyPr wrap="none" lIns="0" tIns="0" rIns="0" bIns="0" rtlCol="0" anchor="ctr"/>
          <a:lstStyle/>
          <a:p>
            <a:pPr algn="ctr">
              <a:lnSpc>
                <a:spcPct val="120000"/>
              </a:lnSpc>
            </a:pPr>
            <a:r>
              <a:rPr lang="en-US" sz="1400" b="1" dirty="0">
                <a:solidFill>
                  <a:srgbClr val="FFFFFF"/>
                </a:solidFill>
                <a:latin typeface="Liter" pitchFamily="34" charset="0"/>
                <a:ea typeface="Liter" pitchFamily="34" charset="-122"/>
                <a:cs typeface="Liter" pitchFamily="34" charset="-120"/>
              </a:rPr>
              <a:t>RESPONSIVE &amp; A11Y</a:t>
            </a:r>
            <a:endParaRPr lang="en-US" sz="1400" dirty="0"/>
          </a:p>
        </p:txBody>
      </p:sp>
      <p:sp>
        <p:nvSpPr>
          <p:cNvPr id="40" name="Shape 37"/>
          <p:cNvSpPr/>
          <p:nvPr/>
        </p:nvSpPr>
        <p:spPr>
          <a:xfrm>
            <a:off x="10795000" y="1968500"/>
            <a:ext cx="4699000" cy="4318000"/>
          </a:xfrm>
          <a:prstGeom prst="roundRect">
            <a:avLst>
              <a:gd name="adj" fmla="val 4000"/>
            </a:avLst>
          </a:prstGeom>
          <a:solidFill>
            <a:srgbClr val="F0EBE6"/>
          </a:solidFill>
          <a:ln/>
        </p:spPr>
        <p:txBody>
          <a:bodyPr/>
          <a:lstStyle/>
          <a:p>
            <a:endParaRPr lang="en-US"/>
          </a:p>
        </p:txBody>
      </p:sp>
      <p:sp>
        <p:nvSpPr>
          <p:cNvPr id="41" name="Shape 38"/>
          <p:cNvSpPr/>
          <p:nvPr/>
        </p:nvSpPr>
        <p:spPr>
          <a:xfrm>
            <a:off x="11023600" y="2159000"/>
            <a:ext cx="304800" cy="304800"/>
          </a:xfrm>
          <a:custGeom>
            <a:avLst/>
            <a:gdLst/>
            <a:ahLst/>
            <a:cxnLst/>
            <a:rect l="l" t="t" r="r" b="b"/>
            <a:pathLst>
              <a:path w="304800" h="304800">
                <a:moveTo>
                  <a:pt x="12700" y="38100"/>
                </a:moveTo>
                <a:cubicBezTo>
                  <a:pt x="12700" y="17085"/>
                  <a:pt x="35481" y="0"/>
                  <a:pt x="63500" y="0"/>
                </a:cubicBezTo>
                <a:lnTo>
                  <a:pt x="241300" y="0"/>
                </a:lnTo>
                <a:cubicBezTo>
                  <a:pt x="269319" y="0"/>
                  <a:pt x="292100" y="17085"/>
                  <a:pt x="292100" y="38100"/>
                </a:cubicBezTo>
                <a:lnTo>
                  <a:pt x="292100" y="266700"/>
                </a:lnTo>
                <a:cubicBezTo>
                  <a:pt x="292100" y="287715"/>
                  <a:pt x="269319" y="304800"/>
                  <a:pt x="241300" y="304800"/>
                </a:cubicBezTo>
                <a:lnTo>
                  <a:pt x="63500" y="304800"/>
                </a:lnTo>
                <a:cubicBezTo>
                  <a:pt x="35481" y="304800"/>
                  <a:pt x="12700" y="287715"/>
                  <a:pt x="12700" y="266700"/>
                </a:cubicBezTo>
                <a:lnTo>
                  <a:pt x="12700" y="38100"/>
                </a:lnTo>
                <a:close/>
                <a:moveTo>
                  <a:pt x="101600" y="261937"/>
                </a:moveTo>
                <a:cubicBezTo>
                  <a:pt x="101600" y="269855"/>
                  <a:pt x="110093" y="276225"/>
                  <a:pt x="120650" y="276225"/>
                </a:cubicBezTo>
                <a:lnTo>
                  <a:pt x="184150" y="276225"/>
                </a:lnTo>
                <a:cubicBezTo>
                  <a:pt x="194707" y="276225"/>
                  <a:pt x="203200" y="269855"/>
                  <a:pt x="203200" y="261937"/>
                </a:cubicBezTo>
                <a:cubicBezTo>
                  <a:pt x="203200" y="254020"/>
                  <a:pt x="194707" y="247650"/>
                  <a:pt x="184150" y="247650"/>
                </a:cubicBezTo>
                <a:lnTo>
                  <a:pt x="120650" y="247650"/>
                </a:lnTo>
                <a:cubicBezTo>
                  <a:pt x="110093" y="247650"/>
                  <a:pt x="101600" y="254020"/>
                  <a:pt x="101600" y="261937"/>
                </a:cubicBezTo>
                <a:close/>
                <a:moveTo>
                  <a:pt x="241300" y="38100"/>
                </a:moveTo>
                <a:lnTo>
                  <a:pt x="63500" y="38100"/>
                </a:lnTo>
                <a:lnTo>
                  <a:pt x="63500" y="219075"/>
                </a:lnTo>
                <a:lnTo>
                  <a:pt x="241300" y="219075"/>
                </a:lnTo>
                <a:lnTo>
                  <a:pt x="241300" y="38100"/>
                </a:lnTo>
                <a:close/>
              </a:path>
            </a:pathLst>
          </a:custGeom>
          <a:solidFill>
            <a:srgbClr val="2D2D2D"/>
          </a:solidFill>
          <a:ln/>
        </p:spPr>
        <p:txBody>
          <a:bodyPr/>
          <a:lstStyle/>
          <a:p>
            <a:endParaRPr lang="en-US"/>
          </a:p>
        </p:txBody>
      </p:sp>
      <p:sp>
        <p:nvSpPr>
          <p:cNvPr id="42" name="Text 39"/>
          <p:cNvSpPr/>
          <p:nvPr/>
        </p:nvSpPr>
        <p:spPr>
          <a:xfrm>
            <a:off x="11430000" y="2133600"/>
            <a:ext cx="3810000" cy="635000"/>
          </a:xfrm>
          <a:prstGeom prst="rect">
            <a:avLst/>
          </a:prstGeom>
          <a:noFill/>
          <a:ln/>
        </p:spPr>
        <p:txBody>
          <a:bodyPr wrap="square" lIns="0" tIns="0" rIns="0" bIns="0" rtlCol="0" anchor="t"/>
          <a:lstStyle/>
          <a:p>
            <a:pPr algn="l">
              <a:lnSpc>
                <a:spcPct val="150000"/>
              </a:lnSpc>
            </a:pPr>
            <a:r>
              <a:rPr lang="en-US" sz="1400" b="1" dirty="0">
                <a:solidFill>
                  <a:srgbClr val="1E1E1E"/>
                </a:solidFill>
                <a:latin typeface="Quattrocento Sans" pitchFamily="34" charset="0"/>
                <a:ea typeface="Quattrocento Sans" pitchFamily="34" charset="-122"/>
                <a:cs typeface="Quattrocento Sans" pitchFamily="34" charset="-120"/>
              </a:rPr>
              <a:t>Mobile-First Design</a:t>
            </a:r>
            <a:endParaRPr lang="en-US" sz="1400" dirty="0"/>
          </a:p>
          <a:p>
            <a:pPr algn="l">
              <a:lnSpc>
                <a:spcPct val="150000"/>
              </a:lnSpc>
            </a:pPr>
            <a:r>
              <a:rPr lang="en-US" sz="1200" dirty="0">
                <a:solidFill>
                  <a:srgbClr val="5C5C5C"/>
                </a:solidFill>
                <a:latin typeface="Quattrocento Sans" pitchFamily="34" charset="0"/>
                <a:ea typeface="Quattrocento Sans" pitchFamily="34" charset="-122"/>
                <a:cs typeface="Quattrocento Sans" pitchFamily="34" charset="-120"/>
              </a:rPr>
              <a:t>4 breakpoints: sm, md, lg, xl</a:t>
            </a:r>
            <a:endParaRPr lang="en-US" sz="1400" dirty="0"/>
          </a:p>
        </p:txBody>
      </p:sp>
      <p:sp>
        <p:nvSpPr>
          <p:cNvPr id="43" name="Shape 40"/>
          <p:cNvSpPr/>
          <p:nvPr/>
        </p:nvSpPr>
        <p:spPr>
          <a:xfrm>
            <a:off x="11023600" y="2895600"/>
            <a:ext cx="304800" cy="304800"/>
          </a:xfrm>
          <a:custGeom>
            <a:avLst/>
            <a:gdLst/>
            <a:ahLst/>
            <a:cxnLst/>
            <a:rect l="l" t="t" r="r" b="b"/>
            <a:pathLst>
              <a:path w="304800" h="304800">
                <a:moveTo>
                  <a:pt x="87086" y="23813"/>
                </a:moveTo>
                <a:cubicBezTo>
                  <a:pt x="87086" y="10656"/>
                  <a:pt x="99264" y="0"/>
                  <a:pt x="114300" y="0"/>
                </a:cubicBezTo>
                <a:cubicBezTo>
                  <a:pt x="129336" y="0"/>
                  <a:pt x="141514" y="10656"/>
                  <a:pt x="141514" y="23813"/>
                </a:cubicBezTo>
                <a:lnTo>
                  <a:pt x="141514" y="112038"/>
                </a:lnTo>
                <a:cubicBezTo>
                  <a:pt x="147297" y="107513"/>
                  <a:pt x="154917" y="104775"/>
                  <a:pt x="163286" y="104775"/>
                </a:cubicBezTo>
                <a:cubicBezTo>
                  <a:pt x="177301" y="104775"/>
                  <a:pt x="189275" y="112514"/>
                  <a:pt x="193902" y="123349"/>
                </a:cubicBezTo>
                <a:cubicBezTo>
                  <a:pt x="199889" y="117812"/>
                  <a:pt x="208325" y="114300"/>
                  <a:pt x="217714" y="114300"/>
                </a:cubicBezTo>
                <a:cubicBezTo>
                  <a:pt x="234927" y="114300"/>
                  <a:pt x="249011" y="125909"/>
                  <a:pt x="250303" y="140672"/>
                </a:cubicBezTo>
                <a:cubicBezTo>
                  <a:pt x="256086" y="136088"/>
                  <a:pt x="263774" y="133350"/>
                  <a:pt x="272143" y="133350"/>
                </a:cubicBezTo>
                <a:cubicBezTo>
                  <a:pt x="290172" y="133350"/>
                  <a:pt x="304800" y="146149"/>
                  <a:pt x="304800" y="161925"/>
                </a:cubicBezTo>
                <a:lnTo>
                  <a:pt x="304800" y="228600"/>
                </a:lnTo>
                <a:cubicBezTo>
                  <a:pt x="304800" y="270689"/>
                  <a:pt x="265816" y="304800"/>
                  <a:pt x="217714" y="304800"/>
                </a:cubicBezTo>
                <a:lnTo>
                  <a:pt x="159680" y="304800"/>
                </a:lnTo>
                <a:cubicBezTo>
                  <a:pt x="156278" y="304800"/>
                  <a:pt x="152944" y="304621"/>
                  <a:pt x="149679" y="304205"/>
                </a:cubicBezTo>
                <a:cubicBezTo>
                  <a:pt x="112055" y="300871"/>
                  <a:pt x="77425" y="283964"/>
                  <a:pt x="54429" y="257175"/>
                </a:cubicBezTo>
                <a:lnTo>
                  <a:pt x="5443" y="200025"/>
                </a:lnTo>
                <a:cubicBezTo>
                  <a:pt x="-3606" y="189488"/>
                  <a:pt x="-1157" y="174605"/>
                  <a:pt x="10886" y="166688"/>
                </a:cubicBezTo>
                <a:cubicBezTo>
                  <a:pt x="22928" y="158770"/>
                  <a:pt x="39937" y="160913"/>
                  <a:pt x="48986" y="171450"/>
                </a:cubicBezTo>
                <a:lnTo>
                  <a:pt x="87086" y="215920"/>
                </a:lnTo>
                <a:lnTo>
                  <a:pt x="87086" y="23813"/>
                </a:lnTo>
                <a:close/>
                <a:moveTo>
                  <a:pt x="163286" y="180975"/>
                </a:moveTo>
                <a:cubicBezTo>
                  <a:pt x="163286" y="175736"/>
                  <a:pt x="158387" y="171450"/>
                  <a:pt x="152400" y="171450"/>
                </a:cubicBezTo>
                <a:cubicBezTo>
                  <a:pt x="146413" y="171450"/>
                  <a:pt x="141514" y="175736"/>
                  <a:pt x="141514" y="180975"/>
                </a:cubicBezTo>
                <a:lnTo>
                  <a:pt x="141514" y="238125"/>
                </a:lnTo>
                <a:cubicBezTo>
                  <a:pt x="141514" y="243364"/>
                  <a:pt x="146413" y="247650"/>
                  <a:pt x="152400" y="247650"/>
                </a:cubicBezTo>
                <a:cubicBezTo>
                  <a:pt x="158387" y="247650"/>
                  <a:pt x="163286" y="243364"/>
                  <a:pt x="163286" y="238125"/>
                </a:cubicBezTo>
                <a:lnTo>
                  <a:pt x="163286" y="180975"/>
                </a:lnTo>
                <a:close/>
                <a:moveTo>
                  <a:pt x="195943" y="171450"/>
                </a:moveTo>
                <a:cubicBezTo>
                  <a:pt x="189956" y="171450"/>
                  <a:pt x="185057" y="175736"/>
                  <a:pt x="185057" y="180975"/>
                </a:cubicBezTo>
                <a:lnTo>
                  <a:pt x="185057" y="238125"/>
                </a:lnTo>
                <a:cubicBezTo>
                  <a:pt x="185057" y="243364"/>
                  <a:pt x="189956" y="247650"/>
                  <a:pt x="195943" y="247650"/>
                </a:cubicBezTo>
                <a:cubicBezTo>
                  <a:pt x="201930" y="247650"/>
                  <a:pt x="206829" y="243364"/>
                  <a:pt x="206829" y="238125"/>
                </a:cubicBezTo>
                <a:lnTo>
                  <a:pt x="206829" y="180975"/>
                </a:lnTo>
                <a:cubicBezTo>
                  <a:pt x="206829" y="175736"/>
                  <a:pt x="201930" y="171450"/>
                  <a:pt x="195943" y="171450"/>
                </a:cubicBezTo>
                <a:close/>
                <a:moveTo>
                  <a:pt x="250371" y="180975"/>
                </a:moveTo>
                <a:cubicBezTo>
                  <a:pt x="250371" y="175736"/>
                  <a:pt x="245473" y="171450"/>
                  <a:pt x="239486" y="171450"/>
                </a:cubicBezTo>
                <a:cubicBezTo>
                  <a:pt x="233499" y="171450"/>
                  <a:pt x="228600" y="175736"/>
                  <a:pt x="228600" y="180975"/>
                </a:cubicBezTo>
                <a:lnTo>
                  <a:pt x="228600" y="238125"/>
                </a:lnTo>
                <a:cubicBezTo>
                  <a:pt x="228600" y="243364"/>
                  <a:pt x="233499" y="247650"/>
                  <a:pt x="239486" y="247650"/>
                </a:cubicBezTo>
                <a:cubicBezTo>
                  <a:pt x="245473" y="247650"/>
                  <a:pt x="250371" y="243364"/>
                  <a:pt x="250371" y="238125"/>
                </a:cubicBezTo>
                <a:lnTo>
                  <a:pt x="250371" y="180975"/>
                </a:lnTo>
                <a:close/>
              </a:path>
            </a:pathLst>
          </a:custGeom>
          <a:solidFill>
            <a:srgbClr val="2D2D2D"/>
          </a:solidFill>
          <a:ln/>
        </p:spPr>
        <p:txBody>
          <a:bodyPr/>
          <a:lstStyle/>
          <a:p>
            <a:endParaRPr lang="en-US"/>
          </a:p>
        </p:txBody>
      </p:sp>
      <p:sp>
        <p:nvSpPr>
          <p:cNvPr id="44" name="Text 41"/>
          <p:cNvSpPr/>
          <p:nvPr/>
        </p:nvSpPr>
        <p:spPr>
          <a:xfrm>
            <a:off x="11430000" y="2870200"/>
            <a:ext cx="3810000" cy="635000"/>
          </a:xfrm>
          <a:prstGeom prst="rect">
            <a:avLst/>
          </a:prstGeom>
          <a:noFill/>
          <a:ln/>
        </p:spPr>
        <p:txBody>
          <a:bodyPr wrap="square" lIns="0" tIns="0" rIns="0" bIns="0" rtlCol="0" anchor="t"/>
          <a:lstStyle/>
          <a:p>
            <a:pPr algn="l">
              <a:lnSpc>
                <a:spcPct val="150000"/>
              </a:lnSpc>
            </a:pPr>
            <a:r>
              <a:rPr lang="en-US" sz="1400" b="1" dirty="0">
                <a:solidFill>
                  <a:srgbClr val="1E1E1E"/>
                </a:solidFill>
                <a:latin typeface="Quattrocento Sans" pitchFamily="34" charset="0"/>
                <a:ea typeface="Quattrocento Sans" pitchFamily="34" charset="-122"/>
                <a:cs typeface="Quattrocento Sans" pitchFamily="34" charset="-120"/>
              </a:rPr>
              <a:t>Touch-Friendly</a:t>
            </a:r>
            <a:endParaRPr lang="en-US" sz="1400" dirty="0"/>
          </a:p>
          <a:p>
            <a:pPr algn="l">
              <a:lnSpc>
                <a:spcPct val="150000"/>
              </a:lnSpc>
            </a:pPr>
            <a:r>
              <a:rPr lang="en-US" sz="1200" dirty="0">
                <a:solidFill>
                  <a:srgbClr val="5C5C5C"/>
                </a:solidFill>
                <a:latin typeface="Quattrocento Sans" pitchFamily="34" charset="0"/>
                <a:ea typeface="Quattrocento Sans" pitchFamily="34" charset="-122"/>
                <a:cs typeface="Quattrocento Sans" pitchFamily="34" charset="-120"/>
              </a:rPr>
              <a:t>Minimum 44x44px touch targets</a:t>
            </a:r>
            <a:endParaRPr lang="en-US" sz="1400" dirty="0"/>
          </a:p>
        </p:txBody>
      </p:sp>
      <p:sp>
        <p:nvSpPr>
          <p:cNvPr id="45" name="Shape 42"/>
          <p:cNvSpPr/>
          <p:nvPr/>
        </p:nvSpPr>
        <p:spPr>
          <a:xfrm>
            <a:off x="11023600" y="3632200"/>
            <a:ext cx="304800" cy="304800"/>
          </a:xfrm>
          <a:custGeom>
            <a:avLst/>
            <a:gdLst/>
            <a:ahLst/>
            <a:cxnLst/>
            <a:rect l="l" t="t" r="r" b="b"/>
            <a:pathLst>
              <a:path w="304800" h="304800">
                <a:moveTo>
                  <a:pt x="0" y="152400"/>
                </a:moveTo>
                <a:cubicBezTo>
                  <a:pt x="0" y="68288"/>
                  <a:pt x="68288" y="0"/>
                  <a:pt x="152400" y="0"/>
                </a:cubicBezTo>
                <a:cubicBezTo>
                  <a:pt x="236512" y="0"/>
                  <a:pt x="304800" y="68288"/>
                  <a:pt x="304800" y="152400"/>
                </a:cubicBezTo>
                <a:cubicBezTo>
                  <a:pt x="304800" y="236512"/>
                  <a:pt x="236512" y="304800"/>
                  <a:pt x="152400" y="304800"/>
                </a:cubicBezTo>
                <a:cubicBezTo>
                  <a:pt x="68288" y="304800"/>
                  <a:pt x="0" y="236512"/>
                  <a:pt x="0" y="152400"/>
                </a:cubicBezTo>
                <a:close/>
                <a:moveTo>
                  <a:pt x="96143" y="101144"/>
                </a:moveTo>
                <a:cubicBezTo>
                  <a:pt x="88880" y="98048"/>
                  <a:pt x="80486" y="101382"/>
                  <a:pt x="77391" y="108645"/>
                </a:cubicBezTo>
                <a:cubicBezTo>
                  <a:pt x="74295" y="115907"/>
                  <a:pt x="77629" y="124301"/>
                  <a:pt x="84892" y="127397"/>
                </a:cubicBezTo>
                <a:lnTo>
                  <a:pt x="91976" y="130433"/>
                </a:lnTo>
                <a:cubicBezTo>
                  <a:pt x="102275" y="134838"/>
                  <a:pt x="112931" y="138113"/>
                  <a:pt x="123885" y="140137"/>
                </a:cubicBezTo>
                <a:lnTo>
                  <a:pt x="123885" y="169962"/>
                </a:lnTo>
                <a:cubicBezTo>
                  <a:pt x="123885" y="172522"/>
                  <a:pt x="123468" y="175081"/>
                  <a:pt x="122634" y="177463"/>
                </a:cubicBezTo>
                <a:lnTo>
                  <a:pt x="105549" y="228719"/>
                </a:lnTo>
                <a:cubicBezTo>
                  <a:pt x="103049" y="236220"/>
                  <a:pt x="107097" y="244316"/>
                  <a:pt x="114598" y="246817"/>
                </a:cubicBezTo>
                <a:cubicBezTo>
                  <a:pt x="122099" y="249317"/>
                  <a:pt x="130195" y="245269"/>
                  <a:pt x="132695" y="237768"/>
                </a:cubicBezTo>
                <a:lnTo>
                  <a:pt x="147221" y="194191"/>
                </a:lnTo>
                <a:cubicBezTo>
                  <a:pt x="147995" y="191929"/>
                  <a:pt x="150078" y="190381"/>
                  <a:pt x="152460" y="190381"/>
                </a:cubicBezTo>
                <a:cubicBezTo>
                  <a:pt x="154841" y="190381"/>
                  <a:pt x="156984" y="191929"/>
                  <a:pt x="157698" y="194191"/>
                </a:cubicBezTo>
                <a:lnTo>
                  <a:pt x="172224" y="237768"/>
                </a:lnTo>
                <a:cubicBezTo>
                  <a:pt x="174724" y="245269"/>
                  <a:pt x="182820" y="249317"/>
                  <a:pt x="190321" y="246817"/>
                </a:cubicBezTo>
                <a:cubicBezTo>
                  <a:pt x="197822" y="244316"/>
                  <a:pt x="201811" y="236339"/>
                  <a:pt x="199311" y="228838"/>
                </a:cubicBezTo>
                <a:lnTo>
                  <a:pt x="182225" y="177582"/>
                </a:lnTo>
                <a:cubicBezTo>
                  <a:pt x="181392" y="175141"/>
                  <a:pt x="180975" y="172641"/>
                  <a:pt x="180975" y="170081"/>
                </a:cubicBezTo>
                <a:lnTo>
                  <a:pt x="180975" y="140256"/>
                </a:lnTo>
                <a:cubicBezTo>
                  <a:pt x="191929" y="138172"/>
                  <a:pt x="202585" y="134957"/>
                  <a:pt x="212884" y="130552"/>
                </a:cubicBezTo>
                <a:lnTo>
                  <a:pt x="219968" y="127516"/>
                </a:lnTo>
                <a:cubicBezTo>
                  <a:pt x="227231" y="124420"/>
                  <a:pt x="230565" y="116026"/>
                  <a:pt x="227469" y="108764"/>
                </a:cubicBezTo>
                <a:cubicBezTo>
                  <a:pt x="224373" y="101501"/>
                  <a:pt x="215979" y="98167"/>
                  <a:pt x="208717" y="101263"/>
                </a:cubicBezTo>
                <a:lnTo>
                  <a:pt x="201632" y="104180"/>
                </a:lnTo>
                <a:cubicBezTo>
                  <a:pt x="186095" y="110847"/>
                  <a:pt x="169366" y="114300"/>
                  <a:pt x="152400" y="114300"/>
                </a:cubicBezTo>
                <a:cubicBezTo>
                  <a:pt x="135434" y="114300"/>
                  <a:pt x="118765" y="110847"/>
                  <a:pt x="103168" y="104180"/>
                </a:cubicBezTo>
                <a:lnTo>
                  <a:pt x="96083" y="101144"/>
                </a:lnTo>
                <a:close/>
                <a:moveTo>
                  <a:pt x="152400" y="95250"/>
                </a:moveTo>
                <a:cubicBezTo>
                  <a:pt x="165542" y="95250"/>
                  <a:pt x="176212" y="84580"/>
                  <a:pt x="176212" y="71438"/>
                </a:cubicBezTo>
                <a:cubicBezTo>
                  <a:pt x="176212" y="58295"/>
                  <a:pt x="165542" y="47625"/>
                  <a:pt x="152400" y="47625"/>
                </a:cubicBezTo>
                <a:cubicBezTo>
                  <a:pt x="139258" y="47625"/>
                  <a:pt x="128588" y="58295"/>
                  <a:pt x="128588" y="71438"/>
                </a:cubicBezTo>
                <a:cubicBezTo>
                  <a:pt x="128588" y="84580"/>
                  <a:pt x="139258" y="95250"/>
                  <a:pt x="152400" y="95250"/>
                </a:cubicBezTo>
                <a:close/>
              </a:path>
            </a:pathLst>
          </a:custGeom>
          <a:solidFill>
            <a:srgbClr val="2D2D2D"/>
          </a:solidFill>
          <a:ln/>
        </p:spPr>
        <p:txBody>
          <a:bodyPr/>
          <a:lstStyle/>
          <a:p>
            <a:endParaRPr lang="en-US"/>
          </a:p>
        </p:txBody>
      </p:sp>
      <p:sp>
        <p:nvSpPr>
          <p:cNvPr id="46" name="Text 43"/>
          <p:cNvSpPr/>
          <p:nvPr/>
        </p:nvSpPr>
        <p:spPr>
          <a:xfrm>
            <a:off x="11430000" y="3606800"/>
            <a:ext cx="3810000" cy="635000"/>
          </a:xfrm>
          <a:prstGeom prst="rect">
            <a:avLst/>
          </a:prstGeom>
          <a:noFill/>
          <a:ln/>
        </p:spPr>
        <p:txBody>
          <a:bodyPr wrap="square" lIns="0" tIns="0" rIns="0" bIns="0" rtlCol="0" anchor="t"/>
          <a:lstStyle/>
          <a:p>
            <a:pPr algn="l">
              <a:lnSpc>
                <a:spcPct val="150000"/>
              </a:lnSpc>
            </a:pPr>
            <a:r>
              <a:rPr lang="en-US" sz="1400" b="1" dirty="0">
                <a:solidFill>
                  <a:srgbClr val="1E1E1E"/>
                </a:solidFill>
                <a:latin typeface="Quattrocento Sans" pitchFamily="34" charset="0"/>
                <a:ea typeface="Quattrocento Sans" pitchFamily="34" charset="-122"/>
                <a:cs typeface="Quattrocento Sans" pitchFamily="34" charset="-120"/>
              </a:rPr>
              <a:t>WCAG 2.1 Compliant</a:t>
            </a:r>
            <a:endParaRPr lang="en-US" sz="1400" dirty="0"/>
          </a:p>
          <a:p>
            <a:pPr algn="l">
              <a:lnSpc>
                <a:spcPct val="150000"/>
              </a:lnSpc>
            </a:pPr>
            <a:r>
              <a:rPr lang="en-US" sz="1200" dirty="0">
                <a:solidFill>
                  <a:srgbClr val="5C5C5C"/>
                </a:solidFill>
                <a:latin typeface="Quattrocento Sans" pitchFamily="34" charset="0"/>
                <a:ea typeface="Quattrocento Sans" pitchFamily="34" charset="-122"/>
                <a:cs typeface="Quattrocento Sans" pitchFamily="34" charset="-120"/>
              </a:rPr>
              <a:t>Radix UI accessible components</a:t>
            </a:r>
            <a:endParaRPr lang="en-US" sz="1400" dirty="0"/>
          </a:p>
        </p:txBody>
      </p:sp>
      <p:sp>
        <p:nvSpPr>
          <p:cNvPr id="47" name="Shape 44"/>
          <p:cNvSpPr/>
          <p:nvPr/>
        </p:nvSpPr>
        <p:spPr>
          <a:xfrm>
            <a:off x="11023600" y="4368800"/>
            <a:ext cx="304800" cy="304800"/>
          </a:xfrm>
          <a:custGeom>
            <a:avLst/>
            <a:gdLst/>
            <a:ahLst/>
            <a:cxnLst/>
            <a:rect l="l" t="t" r="r" b="b"/>
            <a:pathLst>
              <a:path w="304800" h="304800">
                <a:moveTo>
                  <a:pt x="33867" y="38100"/>
                </a:moveTo>
                <a:cubicBezTo>
                  <a:pt x="15187" y="38100"/>
                  <a:pt x="0" y="55185"/>
                  <a:pt x="0" y="76200"/>
                </a:cubicBezTo>
                <a:lnTo>
                  <a:pt x="0" y="228600"/>
                </a:lnTo>
                <a:cubicBezTo>
                  <a:pt x="0" y="249615"/>
                  <a:pt x="15187" y="266700"/>
                  <a:pt x="33867" y="266700"/>
                </a:cubicBezTo>
                <a:lnTo>
                  <a:pt x="270933" y="266700"/>
                </a:lnTo>
                <a:cubicBezTo>
                  <a:pt x="289613" y="266700"/>
                  <a:pt x="304800" y="249615"/>
                  <a:pt x="304800" y="228600"/>
                </a:cubicBezTo>
                <a:lnTo>
                  <a:pt x="304800" y="76200"/>
                </a:lnTo>
                <a:cubicBezTo>
                  <a:pt x="304800" y="55185"/>
                  <a:pt x="289613" y="38100"/>
                  <a:pt x="270933" y="38100"/>
                </a:cubicBezTo>
                <a:lnTo>
                  <a:pt x="33867" y="38100"/>
                </a:lnTo>
                <a:close/>
                <a:moveTo>
                  <a:pt x="42333" y="76200"/>
                </a:moveTo>
                <a:lnTo>
                  <a:pt x="59267" y="76200"/>
                </a:lnTo>
                <a:cubicBezTo>
                  <a:pt x="63923" y="76200"/>
                  <a:pt x="67733" y="80486"/>
                  <a:pt x="67733" y="85725"/>
                </a:cubicBezTo>
                <a:lnTo>
                  <a:pt x="67733" y="104775"/>
                </a:lnTo>
                <a:cubicBezTo>
                  <a:pt x="67733" y="110014"/>
                  <a:pt x="63923" y="114300"/>
                  <a:pt x="59267" y="114300"/>
                </a:cubicBezTo>
                <a:lnTo>
                  <a:pt x="42333" y="114300"/>
                </a:lnTo>
                <a:cubicBezTo>
                  <a:pt x="37677" y="114300"/>
                  <a:pt x="33867" y="110014"/>
                  <a:pt x="33867" y="104775"/>
                </a:cubicBezTo>
                <a:lnTo>
                  <a:pt x="33867" y="85725"/>
                </a:lnTo>
                <a:cubicBezTo>
                  <a:pt x="33867" y="80486"/>
                  <a:pt x="37677" y="76200"/>
                  <a:pt x="42333" y="76200"/>
                </a:cubicBezTo>
                <a:close/>
                <a:moveTo>
                  <a:pt x="33867" y="142875"/>
                </a:moveTo>
                <a:cubicBezTo>
                  <a:pt x="33867" y="137636"/>
                  <a:pt x="37677" y="133350"/>
                  <a:pt x="42333" y="133350"/>
                </a:cubicBezTo>
                <a:lnTo>
                  <a:pt x="59267" y="133350"/>
                </a:lnTo>
                <a:cubicBezTo>
                  <a:pt x="63923" y="133350"/>
                  <a:pt x="67733" y="137636"/>
                  <a:pt x="67733" y="142875"/>
                </a:cubicBezTo>
                <a:lnTo>
                  <a:pt x="67733" y="161925"/>
                </a:lnTo>
                <a:cubicBezTo>
                  <a:pt x="67733" y="167164"/>
                  <a:pt x="63923" y="171450"/>
                  <a:pt x="59267" y="171450"/>
                </a:cubicBezTo>
                <a:lnTo>
                  <a:pt x="42333" y="171450"/>
                </a:lnTo>
                <a:cubicBezTo>
                  <a:pt x="37677" y="171450"/>
                  <a:pt x="33867" y="167164"/>
                  <a:pt x="33867" y="161925"/>
                </a:cubicBezTo>
                <a:lnTo>
                  <a:pt x="33867" y="142875"/>
                </a:lnTo>
                <a:close/>
                <a:moveTo>
                  <a:pt x="93133" y="76200"/>
                </a:moveTo>
                <a:lnTo>
                  <a:pt x="110067" y="76200"/>
                </a:lnTo>
                <a:cubicBezTo>
                  <a:pt x="114723" y="76200"/>
                  <a:pt x="118533" y="80486"/>
                  <a:pt x="118533" y="85725"/>
                </a:cubicBezTo>
                <a:lnTo>
                  <a:pt x="118533" y="104775"/>
                </a:lnTo>
                <a:cubicBezTo>
                  <a:pt x="118533" y="110014"/>
                  <a:pt x="114723" y="114300"/>
                  <a:pt x="110067" y="114300"/>
                </a:cubicBezTo>
                <a:lnTo>
                  <a:pt x="93133" y="114300"/>
                </a:lnTo>
                <a:cubicBezTo>
                  <a:pt x="88477" y="114300"/>
                  <a:pt x="84667" y="110014"/>
                  <a:pt x="84667" y="104775"/>
                </a:cubicBezTo>
                <a:lnTo>
                  <a:pt x="84667" y="85725"/>
                </a:lnTo>
                <a:cubicBezTo>
                  <a:pt x="84667" y="80486"/>
                  <a:pt x="88477" y="76200"/>
                  <a:pt x="93133" y="76200"/>
                </a:cubicBezTo>
                <a:close/>
                <a:moveTo>
                  <a:pt x="84667" y="142875"/>
                </a:moveTo>
                <a:cubicBezTo>
                  <a:pt x="84667" y="137636"/>
                  <a:pt x="88477" y="133350"/>
                  <a:pt x="93133" y="133350"/>
                </a:cubicBezTo>
                <a:lnTo>
                  <a:pt x="110067" y="133350"/>
                </a:lnTo>
                <a:cubicBezTo>
                  <a:pt x="114723" y="133350"/>
                  <a:pt x="118533" y="137636"/>
                  <a:pt x="118533" y="142875"/>
                </a:cubicBezTo>
                <a:lnTo>
                  <a:pt x="118533" y="161925"/>
                </a:lnTo>
                <a:cubicBezTo>
                  <a:pt x="118533" y="167164"/>
                  <a:pt x="114723" y="171450"/>
                  <a:pt x="110067" y="171450"/>
                </a:cubicBezTo>
                <a:lnTo>
                  <a:pt x="93133" y="171450"/>
                </a:lnTo>
                <a:cubicBezTo>
                  <a:pt x="88477" y="171450"/>
                  <a:pt x="84667" y="167164"/>
                  <a:pt x="84667" y="161925"/>
                </a:cubicBezTo>
                <a:lnTo>
                  <a:pt x="84667" y="142875"/>
                </a:lnTo>
                <a:close/>
                <a:moveTo>
                  <a:pt x="93133" y="190500"/>
                </a:moveTo>
                <a:lnTo>
                  <a:pt x="211667" y="190500"/>
                </a:lnTo>
                <a:cubicBezTo>
                  <a:pt x="216323" y="190500"/>
                  <a:pt x="220133" y="194786"/>
                  <a:pt x="220133" y="200025"/>
                </a:cubicBezTo>
                <a:lnTo>
                  <a:pt x="220133" y="219075"/>
                </a:lnTo>
                <a:cubicBezTo>
                  <a:pt x="220133" y="224314"/>
                  <a:pt x="216323" y="228600"/>
                  <a:pt x="211667" y="228600"/>
                </a:cubicBezTo>
                <a:lnTo>
                  <a:pt x="93133" y="228600"/>
                </a:lnTo>
                <a:cubicBezTo>
                  <a:pt x="88477" y="228600"/>
                  <a:pt x="84667" y="224314"/>
                  <a:pt x="84667" y="219075"/>
                </a:cubicBezTo>
                <a:lnTo>
                  <a:pt x="84667" y="200025"/>
                </a:lnTo>
                <a:cubicBezTo>
                  <a:pt x="84667" y="194786"/>
                  <a:pt x="88477" y="190500"/>
                  <a:pt x="93133" y="190500"/>
                </a:cubicBezTo>
                <a:close/>
                <a:moveTo>
                  <a:pt x="135467" y="85725"/>
                </a:moveTo>
                <a:cubicBezTo>
                  <a:pt x="135467" y="80486"/>
                  <a:pt x="139277" y="76200"/>
                  <a:pt x="143933" y="76200"/>
                </a:cubicBezTo>
                <a:lnTo>
                  <a:pt x="160867" y="76200"/>
                </a:lnTo>
                <a:cubicBezTo>
                  <a:pt x="165523" y="76200"/>
                  <a:pt x="169333" y="80486"/>
                  <a:pt x="169333" y="85725"/>
                </a:cubicBezTo>
                <a:lnTo>
                  <a:pt x="169333" y="104775"/>
                </a:lnTo>
                <a:cubicBezTo>
                  <a:pt x="169333" y="110014"/>
                  <a:pt x="165523" y="114300"/>
                  <a:pt x="160867" y="114300"/>
                </a:cubicBezTo>
                <a:lnTo>
                  <a:pt x="143933" y="114300"/>
                </a:lnTo>
                <a:cubicBezTo>
                  <a:pt x="139277" y="114300"/>
                  <a:pt x="135467" y="110014"/>
                  <a:pt x="135467" y="104775"/>
                </a:cubicBezTo>
                <a:lnTo>
                  <a:pt x="135467" y="85725"/>
                </a:lnTo>
                <a:close/>
                <a:moveTo>
                  <a:pt x="143933" y="133350"/>
                </a:moveTo>
                <a:lnTo>
                  <a:pt x="160867" y="133350"/>
                </a:lnTo>
                <a:cubicBezTo>
                  <a:pt x="165523" y="133350"/>
                  <a:pt x="169333" y="137636"/>
                  <a:pt x="169333" y="142875"/>
                </a:cubicBezTo>
                <a:lnTo>
                  <a:pt x="169333" y="161925"/>
                </a:lnTo>
                <a:cubicBezTo>
                  <a:pt x="169333" y="167164"/>
                  <a:pt x="165523" y="171450"/>
                  <a:pt x="160867" y="171450"/>
                </a:cubicBezTo>
                <a:lnTo>
                  <a:pt x="143933" y="171450"/>
                </a:lnTo>
                <a:cubicBezTo>
                  <a:pt x="139277" y="171450"/>
                  <a:pt x="135467" y="167164"/>
                  <a:pt x="135467" y="161925"/>
                </a:cubicBezTo>
                <a:lnTo>
                  <a:pt x="135467" y="142875"/>
                </a:lnTo>
                <a:cubicBezTo>
                  <a:pt x="135467" y="137636"/>
                  <a:pt x="139277" y="133350"/>
                  <a:pt x="143933" y="133350"/>
                </a:cubicBezTo>
                <a:close/>
                <a:moveTo>
                  <a:pt x="186267" y="85725"/>
                </a:moveTo>
                <a:cubicBezTo>
                  <a:pt x="186267" y="80486"/>
                  <a:pt x="190077" y="76200"/>
                  <a:pt x="194733" y="76200"/>
                </a:cubicBezTo>
                <a:lnTo>
                  <a:pt x="211667" y="76200"/>
                </a:lnTo>
                <a:cubicBezTo>
                  <a:pt x="216323" y="76200"/>
                  <a:pt x="220133" y="80486"/>
                  <a:pt x="220133" y="85725"/>
                </a:cubicBezTo>
                <a:lnTo>
                  <a:pt x="220133" y="104775"/>
                </a:lnTo>
                <a:cubicBezTo>
                  <a:pt x="220133" y="110014"/>
                  <a:pt x="216323" y="114300"/>
                  <a:pt x="211667" y="114300"/>
                </a:cubicBezTo>
                <a:lnTo>
                  <a:pt x="194733" y="114300"/>
                </a:lnTo>
                <a:cubicBezTo>
                  <a:pt x="190077" y="114300"/>
                  <a:pt x="186267" y="110014"/>
                  <a:pt x="186267" y="104775"/>
                </a:cubicBezTo>
                <a:lnTo>
                  <a:pt x="186267" y="85725"/>
                </a:lnTo>
                <a:close/>
                <a:moveTo>
                  <a:pt x="194733" y="133350"/>
                </a:moveTo>
                <a:lnTo>
                  <a:pt x="211667" y="133350"/>
                </a:lnTo>
                <a:cubicBezTo>
                  <a:pt x="216323" y="133350"/>
                  <a:pt x="220133" y="137636"/>
                  <a:pt x="220133" y="142875"/>
                </a:cubicBezTo>
                <a:lnTo>
                  <a:pt x="220133" y="161925"/>
                </a:lnTo>
                <a:cubicBezTo>
                  <a:pt x="220133" y="167164"/>
                  <a:pt x="216323" y="171450"/>
                  <a:pt x="211667" y="171450"/>
                </a:cubicBezTo>
                <a:lnTo>
                  <a:pt x="194733" y="171450"/>
                </a:lnTo>
                <a:cubicBezTo>
                  <a:pt x="190077" y="171450"/>
                  <a:pt x="186267" y="167164"/>
                  <a:pt x="186267" y="161925"/>
                </a:cubicBezTo>
                <a:lnTo>
                  <a:pt x="186267" y="142875"/>
                </a:lnTo>
                <a:cubicBezTo>
                  <a:pt x="186267" y="137636"/>
                  <a:pt x="190077" y="133350"/>
                  <a:pt x="194733" y="133350"/>
                </a:cubicBezTo>
                <a:close/>
                <a:moveTo>
                  <a:pt x="237067" y="85725"/>
                </a:moveTo>
                <a:cubicBezTo>
                  <a:pt x="237067" y="80486"/>
                  <a:pt x="240877" y="76200"/>
                  <a:pt x="245533" y="76200"/>
                </a:cubicBezTo>
                <a:lnTo>
                  <a:pt x="262467" y="76200"/>
                </a:lnTo>
                <a:cubicBezTo>
                  <a:pt x="267123" y="76200"/>
                  <a:pt x="270933" y="80486"/>
                  <a:pt x="270933" y="85725"/>
                </a:cubicBezTo>
                <a:lnTo>
                  <a:pt x="270933" y="104775"/>
                </a:lnTo>
                <a:cubicBezTo>
                  <a:pt x="270933" y="110014"/>
                  <a:pt x="267123" y="114300"/>
                  <a:pt x="262467" y="114300"/>
                </a:cubicBezTo>
                <a:lnTo>
                  <a:pt x="245533" y="114300"/>
                </a:lnTo>
                <a:cubicBezTo>
                  <a:pt x="240877" y="114300"/>
                  <a:pt x="237067" y="110014"/>
                  <a:pt x="237067" y="104775"/>
                </a:cubicBezTo>
                <a:lnTo>
                  <a:pt x="237067" y="85725"/>
                </a:lnTo>
                <a:close/>
                <a:moveTo>
                  <a:pt x="245533" y="133350"/>
                </a:moveTo>
                <a:lnTo>
                  <a:pt x="262467" y="133350"/>
                </a:lnTo>
                <a:cubicBezTo>
                  <a:pt x="267123" y="133350"/>
                  <a:pt x="270933" y="137636"/>
                  <a:pt x="270933" y="142875"/>
                </a:cubicBezTo>
                <a:lnTo>
                  <a:pt x="270933" y="161925"/>
                </a:lnTo>
                <a:cubicBezTo>
                  <a:pt x="270933" y="167164"/>
                  <a:pt x="267123" y="171450"/>
                  <a:pt x="262467" y="171450"/>
                </a:cubicBezTo>
                <a:lnTo>
                  <a:pt x="245533" y="171450"/>
                </a:lnTo>
                <a:cubicBezTo>
                  <a:pt x="240877" y="171450"/>
                  <a:pt x="237067" y="167164"/>
                  <a:pt x="237067" y="161925"/>
                </a:cubicBezTo>
                <a:lnTo>
                  <a:pt x="237067" y="142875"/>
                </a:lnTo>
                <a:cubicBezTo>
                  <a:pt x="237067" y="137636"/>
                  <a:pt x="240877" y="133350"/>
                  <a:pt x="245533" y="133350"/>
                </a:cubicBezTo>
                <a:close/>
              </a:path>
            </a:pathLst>
          </a:custGeom>
          <a:solidFill>
            <a:srgbClr val="2D2D2D"/>
          </a:solidFill>
          <a:ln/>
        </p:spPr>
        <p:txBody>
          <a:bodyPr/>
          <a:lstStyle/>
          <a:p>
            <a:endParaRPr lang="en-US"/>
          </a:p>
        </p:txBody>
      </p:sp>
      <p:sp>
        <p:nvSpPr>
          <p:cNvPr id="48" name="Text 45"/>
          <p:cNvSpPr/>
          <p:nvPr/>
        </p:nvSpPr>
        <p:spPr>
          <a:xfrm>
            <a:off x="11430000" y="4343400"/>
            <a:ext cx="3810000" cy="635000"/>
          </a:xfrm>
          <a:prstGeom prst="rect">
            <a:avLst/>
          </a:prstGeom>
          <a:noFill/>
          <a:ln/>
        </p:spPr>
        <p:txBody>
          <a:bodyPr wrap="square" lIns="0" tIns="0" rIns="0" bIns="0" rtlCol="0" anchor="t"/>
          <a:lstStyle/>
          <a:p>
            <a:pPr algn="l">
              <a:lnSpc>
                <a:spcPct val="150000"/>
              </a:lnSpc>
            </a:pPr>
            <a:r>
              <a:rPr lang="en-US" sz="1400" b="1" dirty="0">
                <a:solidFill>
                  <a:srgbClr val="1E1E1E"/>
                </a:solidFill>
                <a:latin typeface="Quattrocento Sans" pitchFamily="34" charset="0"/>
                <a:ea typeface="Quattrocento Sans" pitchFamily="34" charset="-122"/>
                <a:cs typeface="Quattrocento Sans" pitchFamily="34" charset="-120"/>
              </a:rPr>
              <a:t>Keyboard Navigation</a:t>
            </a:r>
            <a:endParaRPr lang="en-US" sz="1400" dirty="0"/>
          </a:p>
          <a:p>
            <a:pPr algn="l">
              <a:lnSpc>
                <a:spcPct val="150000"/>
              </a:lnSpc>
            </a:pPr>
            <a:r>
              <a:rPr lang="en-US" sz="1200" dirty="0">
                <a:solidFill>
                  <a:srgbClr val="5C5C5C"/>
                </a:solidFill>
                <a:latin typeface="Quattrocento Sans" pitchFamily="34" charset="0"/>
                <a:ea typeface="Quattrocento Sans" pitchFamily="34" charset="-122"/>
                <a:cs typeface="Quattrocento Sans" pitchFamily="34" charset="-120"/>
              </a:rPr>
              <a:t>Full keyboard support throughout</a:t>
            </a:r>
            <a:endParaRPr lang="en-US" sz="1400" dirty="0"/>
          </a:p>
        </p:txBody>
      </p:sp>
      <p:sp>
        <p:nvSpPr>
          <p:cNvPr id="49" name="Shape 46"/>
          <p:cNvSpPr/>
          <p:nvPr/>
        </p:nvSpPr>
        <p:spPr>
          <a:xfrm>
            <a:off x="11023600" y="5105400"/>
            <a:ext cx="304800" cy="304800"/>
          </a:xfrm>
          <a:custGeom>
            <a:avLst/>
            <a:gdLst/>
            <a:ahLst/>
            <a:cxnLst/>
            <a:rect l="l" t="t" r="r" b="b"/>
            <a:pathLst>
              <a:path w="304800" h="304800">
                <a:moveTo>
                  <a:pt x="152400" y="19050"/>
                </a:moveTo>
                <a:cubicBezTo>
                  <a:pt x="109643" y="19050"/>
                  <a:pt x="75406" y="40957"/>
                  <a:pt x="50483" y="67032"/>
                </a:cubicBezTo>
                <a:cubicBezTo>
                  <a:pt x="25718" y="92928"/>
                  <a:pt x="9155" y="123825"/>
                  <a:pt x="1270" y="145078"/>
                </a:cubicBezTo>
                <a:cubicBezTo>
                  <a:pt x="-476" y="149781"/>
                  <a:pt x="-476" y="155019"/>
                  <a:pt x="1270" y="159722"/>
                </a:cubicBezTo>
                <a:cubicBezTo>
                  <a:pt x="9155" y="180975"/>
                  <a:pt x="25718" y="211931"/>
                  <a:pt x="50483" y="237768"/>
                </a:cubicBezTo>
                <a:cubicBezTo>
                  <a:pt x="75406" y="263783"/>
                  <a:pt x="109643" y="285750"/>
                  <a:pt x="152400" y="285750"/>
                </a:cubicBezTo>
                <a:cubicBezTo>
                  <a:pt x="195157" y="285750"/>
                  <a:pt x="229394" y="263843"/>
                  <a:pt x="254318" y="237768"/>
                </a:cubicBezTo>
                <a:cubicBezTo>
                  <a:pt x="279083" y="211872"/>
                  <a:pt x="295645" y="180975"/>
                  <a:pt x="303530" y="159722"/>
                </a:cubicBezTo>
                <a:cubicBezTo>
                  <a:pt x="305276" y="155019"/>
                  <a:pt x="305276" y="149781"/>
                  <a:pt x="303530" y="145078"/>
                </a:cubicBezTo>
                <a:cubicBezTo>
                  <a:pt x="295645" y="123825"/>
                  <a:pt x="279083" y="92869"/>
                  <a:pt x="254318" y="67032"/>
                </a:cubicBezTo>
                <a:cubicBezTo>
                  <a:pt x="229394" y="41017"/>
                  <a:pt x="195157" y="19050"/>
                  <a:pt x="152400" y="19050"/>
                </a:cubicBezTo>
                <a:close/>
                <a:moveTo>
                  <a:pt x="76200" y="152400"/>
                </a:moveTo>
                <a:cubicBezTo>
                  <a:pt x="76200" y="105087"/>
                  <a:pt x="110344" y="66675"/>
                  <a:pt x="152400" y="66675"/>
                </a:cubicBezTo>
                <a:cubicBezTo>
                  <a:pt x="194456" y="66675"/>
                  <a:pt x="228600" y="105087"/>
                  <a:pt x="228600" y="152400"/>
                </a:cubicBezTo>
                <a:cubicBezTo>
                  <a:pt x="228600" y="199713"/>
                  <a:pt x="194456" y="238125"/>
                  <a:pt x="152400" y="238125"/>
                </a:cubicBezTo>
                <a:cubicBezTo>
                  <a:pt x="110344" y="238125"/>
                  <a:pt x="76200" y="199713"/>
                  <a:pt x="76200" y="152400"/>
                </a:cubicBezTo>
                <a:close/>
                <a:moveTo>
                  <a:pt x="152400" y="114300"/>
                </a:moveTo>
                <a:cubicBezTo>
                  <a:pt x="152400" y="135315"/>
                  <a:pt x="137213" y="152400"/>
                  <a:pt x="118533" y="152400"/>
                </a:cubicBezTo>
                <a:cubicBezTo>
                  <a:pt x="112448" y="152400"/>
                  <a:pt x="106733" y="150614"/>
                  <a:pt x="101759" y="147399"/>
                </a:cubicBezTo>
                <a:cubicBezTo>
                  <a:pt x="101230" y="153888"/>
                  <a:pt x="101706" y="160556"/>
                  <a:pt x="103293" y="167164"/>
                </a:cubicBezTo>
                <a:cubicBezTo>
                  <a:pt x="110543" y="197644"/>
                  <a:pt x="138430" y="215741"/>
                  <a:pt x="165523" y="207585"/>
                </a:cubicBezTo>
                <a:cubicBezTo>
                  <a:pt x="192617" y="199430"/>
                  <a:pt x="208703" y="168057"/>
                  <a:pt x="201454" y="137577"/>
                </a:cubicBezTo>
                <a:cubicBezTo>
                  <a:pt x="194998" y="110371"/>
                  <a:pt x="172085" y="93047"/>
                  <a:pt x="147955" y="95429"/>
                </a:cubicBezTo>
                <a:cubicBezTo>
                  <a:pt x="150760" y="100965"/>
                  <a:pt x="152400" y="107394"/>
                  <a:pt x="152400" y="114300"/>
                </a:cubicBezTo>
                <a:close/>
              </a:path>
            </a:pathLst>
          </a:custGeom>
          <a:solidFill>
            <a:srgbClr val="2D2D2D"/>
          </a:solidFill>
          <a:ln/>
        </p:spPr>
        <p:txBody>
          <a:bodyPr/>
          <a:lstStyle/>
          <a:p>
            <a:endParaRPr lang="en-US"/>
          </a:p>
        </p:txBody>
      </p:sp>
      <p:sp>
        <p:nvSpPr>
          <p:cNvPr id="50" name="Text 47"/>
          <p:cNvSpPr/>
          <p:nvPr/>
        </p:nvSpPr>
        <p:spPr>
          <a:xfrm>
            <a:off x="11430000" y="5080000"/>
            <a:ext cx="3810000" cy="635000"/>
          </a:xfrm>
          <a:prstGeom prst="rect">
            <a:avLst/>
          </a:prstGeom>
          <a:noFill/>
          <a:ln/>
        </p:spPr>
        <p:txBody>
          <a:bodyPr wrap="square" lIns="0" tIns="0" rIns="0" bIns="0" rtlCol="0" anchor="t"/>
          <a:lstStyle/>
          <a:p>
            <a:pPr algn="l">
              <a:lnSpc>
                <a:spcPct val="150000"/>
              </a:lnSpc>
            </a:pPr>
            <a:r>
              <a:rPr lang="en-US" sz="1400" b="1" dirty="0">
                <a:solidFill>
                  <a:srgbClr val="1E1E1E"/>
                </a:solidFill>
                <a:latin typeface="Quattrocento Sans" pitchFamily="34" charset="0"/>
                <a:ea typeface="Quattrocento Sans" pitchFamily="34" charset="-122"/>
                <a:cs typeface="Quattrocento Sans" pitchFamily="34" charset="-120"/>
              </a:rPr>
              <a:t>ARIA Attributes</a:t>
            </a:r>
            <a:endParaRPr lang="en-US" sz="1400" dirty="0"/>
          </a:p>
          <a:p>
            <a:pPr algn="l">
              <a:lnSpc>
                <a:spcPct val="150000"/>
              </a:lnSpc>
            </a:pPr>
            <a:r>
              <a:rPr lang="en-US" sz="1200" dirty="0">
                <a:solidFill>
                  <a:srgbClr val="5C5C5C"/>
                </a:solidFill>
                <a:latin typeface="Quattrocento Sans" pitchFamily="34" charset="0"/>
                <a:ea typeface="Quattrocento Sans" pitchFamily="34" charset="-122"/>
                <a:cs typeface="Quattrocento Sans" pitchFamily="34" charset="-120"/>
              </a:rPr>
              <a:t>Labels, roles, and live regions</a:t>
            </a:r>
            <a:endParaRPr lang="en-US" sz="1400" dirty="0"/>
          </a:p>
        </p:txBody>
      </p:sp>
      <p:sp>
        <p:nvSpPr>
          <p:cNvPr id="51" name="Text 48"/>
          <p:cNvSpPr/>
          <p:nvPr/>
        </p:nvSpPr>
        <p:spPr>
          <a:xfrm>
            <a:off x="762000" y="8763000"/>
            <a:ext cx="5080000" cy="254000"/>
          </a:xfrm>
          <a:prstGeom prst="rect">
            <a:avLst/>
          </a:prstGeom>
          <a:noFill/>
          <a:ln/>
        </p:spPr>
        <p:txBody>
          <a:bodyPr wrap="none" lIns="0" tIns="0" rIns="0" bIns="0" rtlCol="0" anchor="ctr"/>
          <a:lstStyle/>
          <a:p>
            <a:pPr algn="l">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Restaurant Finder | Graduation Project Defense</a:t>
            </a:r>
            <a:endParaRPr lang="en-US" sz="1200" dirty="0"/>
          </a:p>
        </p:txBody>
      </p:sp>
      <p:sp>
        <p:nvSpPr>
          <p:cNvPr id="52" name="Text 49"/>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09 / 12</a:t>
            </a:r>
            <a:endParaRPr lang="en-US" sz="12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2D2D2D"/>
          </a:solidFill>
          <a:ln/>
        </p:spPr>
        <p:txBody>
          <a:bodyPr/>
          <a:lstStyle/>
          <a:p>
            <a:endParaRPr lang="en-US"/>
          </a:p>
        </p:txBody>
      </p:sp>
      <p:sp>
        <p:nvSpPr>
          <p:cNvPr id="4" name="Text 1"/>
          <p:cNvSpPr/>
          <p:nvPr/>
        </p:nvSpPr>
        <p:spPr>
          <a:xfrm>
            <a:off x="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PROBLEM</a:t>
            </a:r>
            <a:endParaRPr lang="en-US" sz="1100" dirty="0"/>
          </a:p>
        </p:txBody>
      </p:sp>
      <p:sp>
        <p:nvSpPr>
          <p:cNvPr id="5" name="Text 2"/>
          <p:cNvSpPr/>
          <p:nvPr/>
        </p:nvSpPr>
        <p:spPr>
          <a:xfrm>
            <a:off x="32512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SOLUTION</a:t>
            </a:r>
            <a:endParaRPr lang="en-US" sz="1100" dirty="0"/>
          </a:p>
        </p:txBody>
      </p:sp>
      <p:sp>
        <p:nvSpPr>
          <p:cNvPr id="6" name="Text 3"/>
          <p:cNvSpPr/>
          <p:nvPr/>
        </p:nvSpPr>
        <p:spPr>
          <a:xfrm>
            <a:off x="65024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TECH STACK</a:t>
            </a:r>
            <a:endParaRPr lang="en-US" sz="1100" dirty="0"/>
          </a:p>
        </p:txBody>
      </p:sp>
      <p:sp>
        <p:nvSpPr>
          <p:cNvPr id="7" name="Text 4"/>
          <p:cNvSpPr/>
          <p:nvPr/>
        </p:nvSpPr>
        <p:spPr>
          <a:xfrm>
            <a:off x="97536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FEATURES</a:t>
            </a:r>
            <a:endParaRPr lang="en-US" sz="1100" dirty="0"/>
          </a:p>
        </p:txBody>
      </p:sp>
      <p:sp>
        <p:nvSpPr>
          <p:cNvPr id="8" name="Text 5"/>
          <p:cNvSpPr/>
          <p:nvPr/>
        </p:nvSpPr>
        <p:spPr>
          <a:xfrm>
            <a:off x="13004800" y="0"/>
            <a:ext cx="3251200" cy="406400"/>
          </a:xfrm>
          <a:prstGeom prst="rect">
            <a:avLst/>
          </a:prstGeom>
          <a:noFill/>
          <a:ln/>
        </p:spPr>
        <p:txBody>
          <a:bodyPr wrap="none" lIns="0" tIns="0" rIns="0" bIns="0" rtlCol="0" anchor="ctr"/>
          <a:lstStyle/>
          <a:p>
            <a:pPr algn="ctr">
              <a:lnSpc>
                <a:spcPct val="120000"/>
              </a:lnSpc>
            </a:pPr>
            <a:r>
              <a:rPr lang="en-US" sz="1100" b="1" dirty="0">
                <a:solidFill>
                  <a:srgbClr val="D4652A"/>
                </a:solidFill>
                <a:latin typeface="Quattrocento Sans" pitchFamily="34" charset="0"/>
                <a:ea typeface="Quattrocento Sans" pitchFamily="34" charset="-122"/>
                <a:cs typeface="Quattrocento Sans" pitchFamily="34" charset="-120"/>
              </a:rPr>
              <a:t>ARCHITECTURE</a:t>
            </a:r>
            <a:endParaRPr lang="en-US" sz="1100" dirty="0"/>
          </a:p>
        </p:txBody>
      </p:sp>
      <p:sp>
        <p:nvSpPr>
          <p:cNvPr id="9" name="Shape 6"/>
          <p:cNvSpPr/>
          <p:nvPr/>
        </p:nvSpPr>
        <p:spPr>
          <a:xfrm>
            <a:off x="13995400" y="419100"/>
            <a:ext cx="1270000" cy="38100"/>
          </a:xfrm>
          <a:prstGeom prst="rect">
            <a:avLst/>
          </a:prstGeom>
          <a:solidFill>
            <a:srgbClr val="D4652A"/>
          </a:solidFill>
          <a:ln/>
        </p:spPr>
        <p:txBody>
          <a:bodyPr/>
          <a:lstStyle/>
          <a:p>
            <a:endParaRPr lang="en-US"/>
          </a:p>
        </p:txBody>
      </p:sp>
      <p:sp>
        <p:nvSpPr>
          <p:cNvPr id="10" name="Text 7"/>
          <p:cNvSpPr/>
          <p:nvPr/>
        </p:nvSpPr>
        <p:spPr>
          <a:xfrm>
            <a:off x="762000" y="660400"/>
            <a:ext cx="7620000" cy="508000"/>
          </a:xfrm>
          <a:prstGeom prst="rect">
            <a:avLst/>
          </a:prstGeom>
          <a:noFill/>
          <a:ln/>
        </p:spPr>
        <p:txBody>
          <a:bodyPr wrap="none" lIns="0" tIns="0" rIns="0" bIns="0" rtlCol="0" anchor="ctr"/>
          <a:lstStyle/>
          <a:p>
            <a:pPr algn="l">
              <a:lnSpc>
                <a:spcPct val="130000"/>
              </a:lnSpc>
            </a:pPr>
            <a:r>
              <a:rPr lang="en-US" sz="2800" dirty="0">
                <a:solidFill>
                  <a:srgbClr val="1E1E1E"/>
                </a:solidFill>
                <a:latin typeface="Liter" pitchFamily="34" charset="0"/>
                <a:ea typeface="Liter" pitchFamily="34" charset="-122"/>
                <a:cs typeface="Liter" pitchFamily="34" charset="-120"/>
              </a:rPr>
              <a:t>Challenges &amp; Solutions</a:t>
            </a:r>
            <a:endParaRPr lang="en-US" sz="2800" dirty="0"/>
          </a:p>
        </p:txBody>
      </p:sp>
      <p:sp>
        <p:nvSpPr>
          <p:cNvPr id="11" name="Shape 8"/>
          <p:cNvSpPr/>
          <p:nvPr/>
        </p:nvSpPr>
        <p:spPr>
          <a:xfrm>
            <a:off x="762000" y="1219200"/>
            <a:ext cx="1016000" cy="38100"/>
          </a:xfrm>
          <a:prstGeom prst="rect">
            <a:avLst/>
          </a:prstGeom>
          <a:solidFill>
            <a:srgbClr val="D4652A"/>
          </a:solidFill>
          <a:ln/>
        </p:spPr>
        <p:txBody>
          <a:bodyPr/>
          <a:lstStyle/>
          <a:p>
            <a:endParaRPr lang="en-US"/>
          </a:p>
        </p:txBody>
      </p:sp>
      <p:sp>
        <p:nvSpPr>
          <p:cNvPr id="12" name="Shape 9"/>
          <p:cNvSpPr/>
          <p:nvPr/>
        </p:nvSpPr>
        <p:spPr>
          <a:xfrm>
            <a:off x="762000" y="1498600"/>
            <a:ext cx="7112000" cy="1143000"/>
          </a:xfrm>
          <a:prstGeom prst="roundRect">
            <a:avLst>
              <a:gd name="adj" fmla="val 6000"/>
            </a:avLst>
          </a:prstGeom>
          <a:solidFill>
            <a:srgbClr val="F0EBE6"/>
          </a:solidFill>
          <a:ln/>
        </p:spPr>
        <p:txBody>
          <a:bodyPr/>
          <a:lstStyle/>
          <a:p>
            <a:endParaRPr lang="en-US"/>
          </a:p>
        </p:txBody>
      </p:sp>
      <p:sp>
        <p:nvSpPr>
          <p:cNvPr id="13" name="Shape 10"/>
          <p:cNvSpPr/>
          <p:nvPr/>
        </p:nvSpPr>
        <p:spPr>
          <a:xfrm>
            <a:off x="990600" y="1714500"/>
            <a:ext cx="304800" cy="304800"/>
          </a:xfrm>
          <a:custGeom>
            <a:avLst/>
            <a:gdLst/>
            <a:ahLst/>
            <a:cxnLst/>
            <a:rect l="l" t="t" r="r" b="b"/>
            <a:pathLst>
              <a:path w="304800" h="304800">
                <a:moveTo>
                  <a:pt x="152400" y="0"/>
                </a:moveTo>
                <a:cubicBezTo>
                  <a:pt x="161151" y="0"/>
                  <a:pt x="169188" y="4822"/>
                  <a:pt x="173355" y="12502"/>
                </a:cubicBezTo>
                <a:lnTo>
                  <a:pt x="301943" y="250627"/>
                </a:lnTo>
                <a:cubicBezTo>
                  <a:pt x="305931" y="258008"/>
                  <a:pt x="305753" y="266938"/>
                  <a:pt x="301466" y="274141"/>
                </a:cubicBezTo>
                <a:cubicBezTo>
                  <a:pt x="297180" y="281345"/>
                  <a:pt x="289381" y="285750"/>
                  <a:pt x="280987" y="285750"/>
                </a:cubicBezTo>
                <a:lnTo>
                  <a:pt x="23813" y="285750"/>
                </a:lnTo>
                <a:cubicBezTo>
                  <a:pt x="15419" y="285750"/>
                  <a:pt x="7680" y="281345"/>
                  <a:pt x="3334" y="274141"/>
                </a:cubicBezTo>
                <a:cubicBezTo>
                  <a:pt x="-1012" y="266938"/>
                  <a:pt x="-1131" y="258008"/>
                  <a:pt x="2858" y="250627"/>
                </a:cubicBezTo>
                <a:lnTo>
                  <a:pt x="131445" y="12502"/>
                </a:lnTo>
                <a:cubicBezTo>
                  <a:pt x="135612" y="4822"/>
                  <a:pt x="143649" y="0"/>
                  <a:pt x="152400" y="0"/>
                </a:cubicBezTo>
                <a:close/>
                <a:moveTo>
                  <a:pt x="152400" y="100013"/>
                </a:moveTo>
                <a:cubicBezTo>
                  <a:pt x="144482" y="100013"/>
                  <a:pt x="138113" y="106382"/>
                  <a:pt x="138113" y="114300"/>
                </a:cubicBezTo>
                <a:lnTo>
                  <a:pt x="138113" y="180975"/>
                </a:lnTo>
                <a:cubicBezTo>
                  <a:pt x="138113" y="188893"/>
                  <a:pt x="144482" y="195263"/>
                  <a:pt x="152400" y="195263"/>
                </a:cubicBezTo>
                <a:cubicBezTo>
                  <a:pt x="160318" y="195263"/>
                  <a:pt x="166688" y="188893"/>
                  <a:pt x="166688" y="180975"/>
                </a:cubicBezTo>
                <a:lnTo>
                  <a:pt x="166688" y="114300"/>
                </a:lnTo>
                <a:cubicBezTo>
                  <a:pt x="166688" y="106382"/>
                  <a:pt x="160318" y="100013"/>
                  <a:pt x="152400" y="100013"/>
                </a:cubicBezTo>
                <a:close/>
                <a:moveTo>
                  <a:pt x="168295" y="228600"/>
                </a:moveTo>
                <a:cubicBezTo>
                  <a:pt x="168656" y="222700"/>
                  <a:pt x="165714" y="217087"/>
                  <a:pt x="160656" y="214027"/>
                </a:cubicBezTo>
                <a:cubicBezTo>
                  <a:pt x="155599" y="210968"/>
                  <a:pt x="149261" y="210968"/>
                  <a:pt x="144203" y="214027"/>
                </a:cubicBezTo>
                <a:cubicBezTo>
                  <a:pt x="139145" y="217087"/>
                  <a:pt x="136203" y="222700"/>
                  <a:pt x="136565" y="228600"/>
                </a:cubicBezTo>
                <a:cubicBezTo>
                  <a:pt x="136203" y="234500"/>
                  <a:pt x="139145" y="240113"/>
                  <a:pt x="144203" y="243173"/>
                </a:cubicBezTo>
                <a:cubicBezTo>
                  <a:pt x="149261" y="246232"/>
                  <a:pt x="155599" y="246232"/>
                  <a:pt x="160656" y="243173"/>
                </a:cubicBezTo>
                <a:cubicBezTo>
                  <a:pt x="165714" y="240113"/>
                  <a:pt x="168656" y="234500"/>
                  <a:pt x="168295" y="228600"/>
                </a:cubicBezTo>
                <a:close/>
              </a:path>
            </a:pathLst>
          </a:custGeom>
          <a:solidFill>
            <a:srgbClr val="B85C28"/>
          </a:solidFill>
          <a:ln/>
        </p:spPr>
        <p:txBody>
          <a:bodyPr/>
          <a:lstStyle/>
          <a:p>
            <a:endParaRPr lang="en-US"/>
          </a:p>
        </p:txBody>
      </p:sp>
      <p:sp>
        <p:nvSpPr>
          <p:cNvPr id="14" name="Text 11"/>
          <p:cNvSpPr/>
          <p:nvPr/>
        </p:nvSpPr>
        <p:spPr>
          <a:xfrm>
            <a:off x="1397000" y="1587500"/>
            <a:ext cx="6223000" cy="952500"/>
          </a:xfrm>
          <a:prstGeom prst="rect">
            <a:avLst/>
          </a:prstGeom>
          <a:noFill/>
          <a:ln/>
        </p:spPr>
        <p:txBody>
          <a:bodyPr wrap="square" lIns="0" tIns="0" rIns="0" bIns="0" rtlCol="0" anchor="t"/>
          <a:lstStyle/>
          <a:p>
            <a:pPr algn="l">
              <a:lnSpc>
                <a:spcPct val="150000"/>
              </a:lnSpc>
            </a:pPr>
            <a:r>
              <a:rPr lang="en-US" sz="1400" b="1" dirty="0">
                <a:solidFill>
                  <a:srgbClr val="B85C28"/>
                </a:solidFill>
                <a:latin typeface="Quattrocento Sans" pitchFamily="34" charset="0"/>
                <a:ea typeface="Quattrocento Sans" pitchFamily="34" charset="-122"/>
                <a:cs typeface="Quattrocento Sans" pitchFamily="34" charset="-120"/>
              </a:rPr>
              <a:t>CHALLENGE:</a:t>
            </a:r>
            <a:r>
              <a:rPr lang="en-US" sz="1400" dirty="0">
                <a:solidFill>
                  <a:srgbClr val="1E1E1E"/>
                </a:solidFill>
                <a:latin typeface="Quattrocento Sans" pitchFamily="34" charset="0"/>
                <a:ea typeface="Quattrocento Sans" pitchFamily="34" charset="-122"/>
                <a:cs typeface="Quattrocento Sans" pitchFamily="34" charset="-120"/>
              </a:rPr>
              <a:t> Yelp API rate limiting and secure authentication</a:t>
            </a:r>
            <a:endParaRPr lang="en-US" sz="1400" dirty="0"/>
          </a:p>
          <a:p>
            <a:pPr algn="l">
              <a:lnSpc>
                <a:spcPct val="150000"/>
              </a:lnSpc>
              <a:spcBef>
                <a:spcPts val="400"/>
              </a:spcBef>
            </a:pPr>
            <a:r>
              <a:rPr lang="en-US" sz="1200" dirty="0">
                <a:solidFill>
                  <a:srgbClr val="5C5C5C"/>
                </a:solidFill>
                <a:latin typeface="Quattrocento Sans" pitchFamily="34" charset="0"/>
                <a:ea typeface="Quattrocento Sans" pitchFamily="34" charset="-122"/>
                <a:cs typeface="Quattrocento Sans" pitchFamily="34" charset="-120"/>
              </a:rPr>
              <a:t>API keys cannot be exposed in frontend; rate limits restrict calls</a:t>
            </a:r>
            <a:endParaRPr lang="en-US" sz="1400" dirty="0"/>
          </a:p>
        </p:txBody>
      </p:sp>
      <p:sp>
        <p:nvSpPr>
          <p:cNvPr id="15" name="Shape 12"/>
          <p:cNvSpPr/>
          <p:nvPr/>
        </p:nvSpPr>
        <p:spPr>
          <a:xfrm>
            <a:off x="8001000" y="1968500"/>
            <a:ext cx="381000" cy="0"/>
          </a:xfrm>
          <a:prstGeom prst="straightConnector1">
            <a:avLst/>
          </a:prstGeom>
          <a:noFill/>
          <a:ln w="25400">
            <a:solidFill>
              <a:srgbClr val="D4652A"/>
            </a:solidFill>
            <a:prstDash val="solid"/>
            <a:headEnd type="none"/>
            <a:tailEnd type="arrow"/>
          </a:ln>
        </p:spPr>
        <p:txBody>
          <a:bodyPr/>
          <a:lstStyle/>
          <a:p>
            <a:endParaRPr lang="en-US"/>
          </a:p>
        </p:txBody>
      </p:sp>
      <p:sp>
        <p:nvSpPr>
          <p:cNvPr id="16" name="Shape 13"/>
          <p:cNvSpPr/>
          <p:nvPr/>
        </p:nvSpPr>
        <p:spPr>
          <a:xfrm>
            <a:off x="8509000" y="1498600"/>
            <a:ext cx="6985000" cy="1143000"/>
          </a:xfrm>
          <a:prstGeom prst="roundRect">
            <a:avLst>
              <a:gd name="adj" fmla="val 6000"/>
            </a:avLst>
          </a:prstGeom>
          <a:solidFill>
            <a:srgbClr val="D4652A">
              <a:alpha val="10000"/>
            </a:srgbClr>
          </a:solidFill>
          <a:ln/>
        </p:spPr>
        <p:txBody>
          <a:bodyPr/>
          <a:lstStyle/>
          <a:p>
            <a:endParaRPr lang="en-US"/>
          </a:p>
        </p:txBody>
      </p:sp>
      <p:sp>
        <p:nvSpPr>
          <p:cNvPr id="17" name="Shape 14"/>
          <p:cNvSpPr/>
          <p:nvPr/>
        </p:nvSpPr>
        <p:spPr>
          <a:xfrm>
            <a:off x="8737600" y="1714500"/>
            <a:ext cx="304800" cy="304800"/>
          </a:xfrm>
          <a:custGeom>
            <a:avLst/>
            <a:gdLst/>
            <a:ahLst/>
            <a:cxnLst/>
            <a:rect l="l" t="t" r="r" b="b"/>
            <a:pathLst>
              <a:path w="304800" h="304800">
                <a:moveTo>
                  <a:pt x="295819" y="41731"/>
                </a:moveTo>
                <a:cubicBezTo>
                  <a:pt x="305548" y="47923"/>
                  <a:pt x="307726" y="59829"/>
                  <a:pt x="300650" y="68342"/>
                </a:cubicBezTo>
                <a:lnTo>
                  <a:pt x="126478" y="277892"/>
                </a:lnTo>
                <a:cubicBezTo>
                  <a:pt x="122736" y="282416"/>
                  <a:pt x="116953" y="285214"/>
                  <a:pt x="110558" y="285690"/>
                </a:cubicBezTo>
                <a:cubicBezTo>
                  <a:pt x="104163" y="286167"/>
                  <a:pt x="97971" y="284083"/>
                  <a:pt x="93481" y="280154"/>
                </a:cubicBezTo>
                <a:lnTo>
                  <a:pt x="6395" y="203954"/>
                </a:lnTo>
                <a:cubicBezTo>
                  <a:pt x="-2109" y="196513"/>
                  <a:pt x="-2109" y="184428"/>
                  <a:pt x="6395" y="176986"/>
                </a:cubicBezTo>
                <a:cubicBezTo>
                  <a:pt x="14900" y="169545"/>
                  <a:pt x="28711" y="169545"/>
                  <a:pt x="37216" y="176986"/>
                </a:cubicBezTo>
                <a:lnTo>
                  <a:pt x="106272" y="237411"/>
                </a:lnTo>
                <a:lnTo>
                  <a:pt x="265475" y="45899"/>
                </a:lnTo>
                <a:cubicBezTo>
                  <a:pt x="272551" y="37386"/>
                  <a:pt x="286158" y="35481"/>
                  <a:pt x="295887" y="41672"/>
                </a:cubicBezTo>
                <a:close/>
              </a:path>
            </a:pathLst>
          </a:custGeom>
          <a:solidFill>
            <a:srgbClr val="D4652A"/>
          </a:solidFill>
          <a:ln/>
        </p:spPr>
        <p:txBody>
          <a:bodyPr/>
          <a:lstStyle/>
          <a:p>
            <a:endParaRPr lang="en-US"/>
          </a:p>
        </p:txBody>
      </p:sp>
      <p:sp>
        <p:nvSpPr>
          <p:cNvPr id="18" name="Text 15"/>
          <p:cNvSpPr/>
          <p:nvPr/>
        </p:nvSpPr>
        <p:spPr>
          <a:xfrm>
            <a:off x="9144000" y="1587500"/>
            <a:ext cx="6096000" cy="952500"/>
          </a:xfrm>
          <a:prstGeom prst="rect">
            <a:avLst/>
          </a:prstGeom>
          <a:noFill/>
          <a:ln/>
        </p:spPr>
        <p:txBody>
          <a:bodyPr wrap="square" lIns="0" tIns="0" rIns="0" bIns="0" rtlCol="0" anchor="t"/>
          <a:lstStyle/>
          <a:p>
            <a:pPr algn="l">
              <a:lnSpc>
                <a:spcPct val="150000"/>
              </a:lnSpc>
            </a:pPr>
            <a:r>
              <a:rPr lang="en-US" sz="1400" b="1" dirty="0">
                <a:solidFill>
                  <a:srgbClr val="D4652A"/>
                </a:solidFill>
                <a:latin typeface="Quattrocento Sans" pitchFamily="34" charset="0"/>
                <a:ea typeface="Quattrocento Sans" pitchFamily="34" charset="-122"/>
                <a:cs typeface="Quattrocento Sans" pitchFamily="34" charset="-120"/>
              </a:rPr>
              <a:t>SOLUTION:</a:t>
            </a:r>
            <a:r>
              <a:rPr lang="en-US" sz="1400" dirty="0">
                <a:solidFill>
                  <a:srgbClr val="1E1E1E"/>
                </a:solidFill>
                <a:latin typeface="Quattrocento Sans" pitchFamily="34" charset="0"/>
                <a:ea typeface="Quattrocento Sans" pitchFamily="34" charset="-122"/>
                <a:cs typeface="Quattrocento Sans" pitchFamily="34" charset="-120"/>
              </a:rPr>
              <a:t> Backend proxy server for all Yelp communication</a:t>
            </a:r>
            <a:endParaRPr lang="en-US" sz="1400" dirty="0"/>
          </a:p>
          <a:p>
            <a:pPr algn="l">
              <a:lnSpc>
                <a:spcPct val="150000"/>
              </a:lnSpc>
              <a:spcBef>
                <a:spcPts val="400"/>
              </a:spcBef>
            </a:pPr>
            <a:r>
              <a:rPr lang="en-US" sz="1200" dirty="0">
                <a:solidFill>
                  <a:srgbClr val="5C5C5C"/>
                </a:solidFill>
                <a:latin typeface="Quattrocento Sans" pitchFamily="34" charset="0"/>
                <a:ea typeface="Quattrocento Sans" pitchFamily="34" charset="-122"/>
                <a:cs typeface="Quattrocento Sans" pitchFamily="34" charset="-120"/>
              </a:rPr>
              <a:t>Centralized auth, rate limit management, request throttling</a:t>
            </a:r>
            <a:endParaRPr lang="en-US" sz="1400" dirty="0"/>
          </a:p>
        </p:txBody>
      </p:sp>
      <p:sp>
        <p:nvSpPr>
          <p:cNvPr id="19" name="Shape 16"/>
          <p:cNvSpPr/>
          <p:nvPr/>
        </p:nvSpPr>
        <p:spPr>
          <a:xfrm>
            <a:off x="762000" y="2794000"/>
            <a:ext cx="7112000" cy="1143000"/>
          </a:xfrm>
          <a:prstGeom prst="roundRect">
            <a:avLst>
              <a:gd name="adj" fmla="val 6000"/>
            </a:avLst>
          </a:prstGeom>
          <a:solidFill>
            <a:srgbClr val="F0EBE6"/>
          </a:solidFill>
          <a:ln/>
        </p:spPr>
        <p:txBody>
          <a:bodyPr/>
          <a:lstStyle/>
          <a:p>
            <a:endParaRPr lang="en-US"/>
          </a:p>
        </p:txBody>
      </p:sp>
      <p:sp>
        <p:nvSpPr>
          <p:cNvPr id="20" name="Shape 17"/>
          <p:cNvSpPr/>
          <p:nvPr/>
        </p:nvSpPr>
        <p:spPr>
          <a:xfrm>
            <a:off x="990600" y="3009900"/>
            <a:ext cx="304800" cy="304800"/>
          </a:xfrm>
          <a:custGeom>
            <a:avLst/>
            <a:gdLst/>
            <a:ahLst/>
            <a:cxnLst/>
            <a:rect l="l" t="t" r="r" b="b"/>
            <a:pathLst>
              <a:path w="304800" h="304800">
                <a:moveTo>
                  <a:pt x="152400" y="0"/>
                </a:moveTo>
                <a:cubicBezTo>
                  <a:pt x="161151" y="0"/>
                  <a:pt x="169188" y="4822"/>
                  <a:pt x="173355" y="12502"/>
                </a:cubicBezTo>
                <a:lnTo>
                  <a:pt x="301943" y="250627"/>
                </a:lnTo>
                <a:cubicBezTo>
                  <a:pt x="305931" y="258008"/>
                  <a:pt x="305753" y="266938"/>
                  <a:pt x="301466" y="274141"/>
                </a:cubicBezTo>
                <a:cubicBezTo>
                  <a:pt x="297180" y="281345"/>
                  <a:pt x="289381" y="285750"/>
                  <a:pt x="280987" y="285750"/>
                </a:cubicBezTo>
                <a:lnTo>
                  <a:pt x="23813" y="285750"/>
                </a:lnTo>
                <a:cubicBezTo>
                  <a:pt x="15419" y="285750"/>
                  <a:pt x="7680" y="281345"/>
                  <a:pt x="3334" y="274141"/>
                </a:cubicBezTo>
                <a:cubicBezTo>
                  <a:pt x="-1012" y="266938"/>
                  <a:pt x="-1131" y="258008"/>
                  <a:pt x="2858" y="250627"/>
                </a:cubicBezTo>
                <a:lnTo>
                  <a:pt x="131445" y="12502"/>
                </a:lnTo>
                <a:cubicBezTo>
                  <a:pt x="135612" y="4822"/>
                  <a:pt x="143649" y="0"/>
                  <a:pt x="152400" y="0"/>
                </a:cubicBezTo>
                <a:close/>
                <a:moveTo>
                  <a:pt x="152400" y="100013"/>
                </a:moveTo>
                <a:cubicBezTo>
                  <a:pt x="144482" y="100013"/>
                  <a:pt x="138113" y="106382"/>
                  <a:pt x="138113" y="114300"/>
                </a:cubicBezTo>
                <a:lnTo>
                  <a:pt x="138113" y="180975"/>
                </a:lnTo>
                <a:cubicBezTo>
                  <a:pt x="138113" y="188893"/>
                  <a:pt x="144482" y="195263"/>
                  <a:pt x="152400" y="195263"/>
                </a:cubicBezTo>
                <a:cubicBezTo>
                  <a:pt x="160318" y="195263"/>
                  <a:pt x="166688" y="188893"/>
                  <a:pt x="166688" y="180975"/>
                </a:cubicBezTo>
                <a:lnTo>
                  <a:pt x="166688" y="114300"/>
                </a:lnTo>
                <a:cubicBezTo>
                  <a:pt x="166688" y="106382"/>
                  <a:pt x="160318" y="100013"/>
                  <a:pt x="152400" y="100013"/>
                </a:cubicBezTo>
                <a:close/>
                <a:moveTo>
                  <a:pt x="168295" y="228600"/>
                </a:moveTo>
                <a:cubicBezTo>
                  <a:pt x="168656" y="222700"/>
                  <a:pt x="165714" y="217087"/>
                  <a:pt x="160656" y="214027"/>
                </a:cubicBezTo>
                <a:cubicBezTo>
                  <a:pt x="155599" y="210968"/>
                  <a:pt x="149261" y="210968"/>
                  <a:pt x="144203" y="214027"/>
                </a:cubicBezTo>
                <a:cubicBezTo>
                  <a:pt x="139145" y="217087"/>
                  <a:pt x="136203" y="222700"/>
                  <a:pt x="136565" y="228600"/>
                </a:cubicBezTo>
                <a:cubicBezTo>
                  <a:pt x="136203" y="234500"/>
                  <a:pt x="139145" y="240113"/>
                  <a:pt x="144203" y="243173"/>
                </a:cubicBezTo>
                <a:cubicBezTo>
                  <a:pt x="149261" y="246232"/>
                  <a:pt x="155599" y="246232"/>
                  <a:pt x="160656" y="243173"/>
                </a:cubicBezTo>
                <a:cubicBezTo>
                  <a:pt x="165714" y="240113"/>
                  <a:pt x="168656" y="234500"/>
                  <a:pt x="168295" y="228600"/>
                </a:cubicBezTo>
                <a:close/>
              </a:path>
            </a:pathLst>
          </a:custGeom>
          <a:solidFill>
            <a:srgbClr val="B85C28"/>
          </a:solidFill>
          <a:ln/>
        </p:spPr>
        <p:txBody>
          <a:bodyPr/>
          <a:lstStyle/>
          <a:p>
            <a:endParaRPr lang="en-US"/>
          </a:p>
        </p:txBody>
      </p:sp>
      <p:sp>
        <p:nvSpPr>
          <p:cNvPr id="21" name="Text 18"/>
          <p:cNvSpPr/>
          <p:nvPr/>
        </p:nvSpPr>
        <p:spPr>
          <a:xfrm>
            <a:off x="1397000" y="2882900"/>
            <a:ext cx="6223000" cy="952500"/>
          </a:xfrm>
          <a:prstGeom prst="rect">
            <a:avLst/>
          </a:prstGeom>
          <a:noFill/>
          <a:ln/>
        </p:spPr>
        <p:txBody>
          <a:bodyPr wrap="square" lIns="0" tIns="0" rIns="0" bIns="0" rtlCol="0" anchor="t"/>
          <a:lstStyle/>
          <a:p>
            <a:pPr algn="l">
              <a:lnSpc>
                <a:spcPct val="150000"/>
              </a:lnSpc>
            </a:pPr>
            <a:r>
              <a:rPr lang="en-US" sz="1400" b="1" dirty="0">
                <a:solidFill>
                  <a:srgbClr val="B85C28"/>
                </a:solidFill>
                <a:latin typeface="Quattrocento Sans" pitchFamily="34" charset="0"/>
                <a:ea typeface="Quattrocento Sans" pitchFamily="34" charset="-122"/>
                <a:cs typeface="Quattrocento Sans" pitchFamily="34" charset="-120"/>
              </a:rPr>
              <a:t>CHALLENGE:</a:t>
            </a:r>
            <a:r>
              <a:rPr lang="en-US" sz="1400" dirty="0">
                <a:solidFill>
                  <a:srgbClr val="1E1E1E"/>
                </a:solidFill>
                <a:latin typeface="Quattrocento Sans" pitchFamily="34" charset="0"/>
                <a:ea typeface="Quattrocento Sans" pitchFamily="34" charset="-122"/>
                <a:cs typeface="Quattrocento Sans" pitchFamily="34" charset="-120"/>
              </a:rPr>
              <a:t> Complex recommendation logic across 8 dimensions</a:t>
            </a:r>
            <a:endParaRPr lang="en-US" sz="1400" dirty="0"/>
          </a:p>
          <a:p>
            <a:pPr algn="l">
              <a:lnSpc>
                <a:spcPct val="150000"/>
              </a:lnSpc>
              <a:spcBef>
                <a:spcPts val="400"/>
              </a:spcBef>
            </a:pPr>
            <a:r>
              <a:rPr lang="en-US" sz="1200" dirty="0">
                <a:solidFill>
                  <a:srgbClr val="5C5C5C"/>
                </a:solidFill>
                <a:latin typeface="Quattrocento Sans" pitchFamily="34" charset="0"/>
                <a:ea typeface="Quattrocento Sans" pitchFamily="34" charset="-122"/>
                <a:cs typeface="Quattrocento Sans" pitchFamily="34" charset="-120"/>
              </a:rPr>
              <a:t>Mapping mood, cuisine, budget, diet, health, party size to results</a:t>
            </a:r>
            <a:endParaRPr lang="en-US" sz="1400" dirty="0"/>
          </a:p>
        </p:txBody>
      </p:sp>
      <p:sp>
        <p:nvSpPr>
          <p:cNvPr id="22" name="Shape 19"/>
          <p:cNvSpPr/>
          <p:nvPr/>
        </p:nvSpPr>
        <p:spPr>
          <a:xfrm>
            <a:off x="8001000" y="3263900"/>
            <a:ext cx="381000" cy="0"/>
          </a:xfrm>
          <a:prstGeom prst="straightConnector1">
            <a:avLst/>
          </a:prstGeom>
          <a:noFill/>
          <a:ln w="25400">
            <a:solidFill>
              <a:srgbClr val="D4652A"/>
            </a:solidFill>
            <a:prstDash val="solid"/>
            <a:headEnd type="none"/>
            <a:tailEnd type="arrow"/>
          </a:ln>
        </p:spPr>
        <p:txBody>
          <a:bodyPr/>
          <a:lstStyle/>
          <a:p>
            <a:endParaRPr lang="en-US"/>
          </a:p>
        </p:txBody>
      </p:sp>
      <p:sp>
        <p:nvSpPr>
          <p:cNvPr id="23" name="Shape 20"/>
          <p:cNvSpPr/>
          <p:nvPr/>
        </p:nvSpPr>
        <p:spPr>
          <a:xfrm>
            <a:off x="8509000" y="2794000"/>
            <a:ext cx="6985000" cy="1143000"/>
          </a:xfrm>
          <a:prstGeom prst="roundRect">
            <a:avLst>
              <a:gd name="adj" fmla="val 6000"/>
            </a:avLst>
          </a:prstGeom>
          <a:solidFill>
            <a:srgbClr val="D4652A">
              <a:alpha val="10000"/>
            </a:srgbClr>
          </a:solidFill>
          <a:ln/>
        </p:spPr>
        <p:txBody>
          <a:bodyPr/>
          <a:lstStyle/>
          <a:p>
            <a:endParaRPr lang="en-US"/>
          </a:p>
        </p:txBody>
      </p:sp>
      <p:sp>
        <p:nvSpPr>
          <p:cNvPr id="24" name="Shape 21"/>
          <p:cNvSpPr/>
          <p:nvPr/>
        </p:nvSpPr>
        <p:spPr>
          <a:xfrm>
            <a:off x="8737600" y="3009900"/>
            <a:ext cx="304800" cy="304800"/>
          </a:xfrm>
          <a:custGeom>
            <a:avLst/>
            <a:gdLst/>
            <a:ahLst/>
            <a:cxnLst/>
            <a:rect l="l" t="t" r="r" b="b"/>
            <a:pathLst>
              <a:path w="304800" h="304800">
                <a:moveTo>
                  <a:pt x="295819" y="41731"/>
                </a:moveTo>
                <a:cubicBezTo>
                  <a:pt x="305548" y="47923"/>
                  <a:pt x="307726" y="59829"/>
                  <a:pt x="300650" y="68342"/>
                </a:cubicBezTo>
                <a:lnTo>
                  <a:pt x="126478" y="277892"/>
                </a:lnTo>
                <a:cubicBezTo>
                  <a:pt x="122736" y="282416"/>
                  <a:pt x="116953" y="285214"/>
                  <a:pt x="110558" y="285690"/>
                </a:cubicBezTo>
                <a:cubicBezTo>
                  <a:pt x="104163" y="286167"/>
                  <a:pt x="97971" y="284083"/>
                  <a:pt x="93481" y="280154"/>
                </a:cubicBezTo>
                <a:lnTo>
                  <a:pt x="6395" y="203954"/>
                </a:lnTo>
                <a:cubicBezTo>
                  <a:pt x="-2109" y="196513"/>
                  <a:pt x="-2109" y="184428"/>
                  <a:pt x="6395" y="176986"/>
                </a:cubicBezTo>
                <a:cubicBezTo>
                  <a:pt x="14900" y="169545"/>
                  <a:pt x="28711" y="169545"/>
                  <a:pt x="37216" y="176986"/>
                </a:cubicBezTo>
                <a:lnTo>
                  <a:pt x="106272" y="237411"/>
                </a:lnTo>
                <a:lnTo>
                  <a:pt x="265475" y="45899"/>
                </a:lnTo>
                <a:cubicBezTo>
                  <a:pt x="272551" y="37386"/>
                  <a:pt x="286158" y="35481"/>
                  <a:pt x="295887" y="41672"/>
                </a:cubicBezTo>
                <a:close/>
              </a:path>
            </a:pathLst>
          </a:custGeom>
          <a:solidFill>
            <a:srgbClr val="D4652A"/>
          </a:solidFill>
          <a:ln/>
        </p:spPr>
        <p:txBody>
          <a:bodyPr/>
          <a:lstStyle/>
          <a:p>
            <a:endParaRPr lang="en-US"/>
          </a:p>
        </p:txBody>
      </p:sp>
      <p:sp>
        <p:nvSpPr>
          <p:cNvPr id="25" name="Text 22"/>
          <p:cNvSpPr/>
          <p:nvPr/>
        </p:nvSpPr>
        <p:spPr>
          <a:xfrm>
            <a:off x="9144000" y="2882900"/>
            <a:ext cx="6096000" cy="952500"/>
          </a:xfrm>
          <a:prstGeom prst="rect">
            <a:avLst/>
          </a:prstGeom>
          <a:noFill/>
          <a:ln/>
        </p:spPr>
        <p:txBody>
          <a:bodyPr wrap="square" lIns="0" tIns="0" rIns="0" bIns="0" rtlCol="0" anchor="t"/>
          <a:lstStyle/>
          <a:p>
            <a:pPr algn="l">
              <a:lnSpc>
                <a:spcPct val="150000"/>
              </a:lnSpc>
            </a:pPr>
            <a:r>
              <a:rPr lang="en-US" sz="1400" b="1" dirty="0">
                <a:solidFill>
                  <a:srgbClr val="D4652A"/>
                </a:solidFill>
                <a:latin typeface="Quattrocento Sans" pitchFamily="34" charset="0"/>
                <a:ea typeface="Quattrocento Sans" pitchFamily="34" charset="-122"/>
                <a:cs typeface="Quattrocento Sans" pitchFamily="34" charset="-120"/>
              </a:rPr>
              <a:t>SOLUTION:</a:t>
            </a:r>
            <a:r>
              <a:rPr lang="en-US" sz="1400" dirty="0">
                <a:solidFill>
                  <a:srgbClr val="1E1E1E"/>
                </a:solidFill>
                <a:latin typeface="Quattrocento Sans" pitchFamily="34" charset="0"/>
                <a:ea typeface="Quattrocento Sans" pitchFamily="34" charset="-122"/>
                <a:cs typeface="Quattrocento Sans" pitchFamily="34" charset="-120"/>
              </a:rPr>
              <a:t> Structured 8-question survey with attribute mapping</a:t>
            </a:r>
            <a:endParaRPr lang="en-US" sz="1400" dirty="0"/>
          </a:p>
          <a:p>
            <a:pPr algn="l">
              <a:lnSpc>
                <a:spcPct val="150000"/>
              </a:lnSpc>
              <a:spcBef>
                <a:spcPts val="400"/>
              </a:spcBef>
            </a:pPr>
            <a:r>
              <a:rPr lang="en-US" sz="1200" dirty="0">
                <a:solidFill>
                  <a:srgbClr val="5C5C5C"/>
                </a:solidFill>
                <a:latin typeface="Quattrocento Sans" pitchFamily="34" charset="0"/>
                <a:ea typeface="Quattrocento Sans" pitchFamily="34" charset="-122"/>
                <a:cs typeface="Quattrocento Sans" pitchFamily="34" charset="-120"/>
              </a:rPr>
              <a:t>Each question directly corresponds to a filterable restaurant attribute</a:t>
            </a:r>
            <a:endParaRPr lang="en-US" sz="1400" dirty="0"/>
          </a:p>
        </p:txBody>
      </p:sp>
      <p:sp>
        <p:nvSpPr>
          <p:cNvPr id="26" name="Shape 23"/>
          <p:cNvSpPr/>
          <p:nvPr/>
        </p:nvSpPr>
        <p:spPr>
          <a:xfrm>
            <a:off x="762000" y="4089400"/>
            <a:ext cx="7112000" cy="1143000"/>
          </a:xfrm>
          <a:prstGeom prst="roundRect">
            <a:avLst>
              <a:gd name="adj" fmla="val 6000"/>
            </a:avLst>
          </a:prstGeom>
          <a:solidFill>
            <a:srgbClr val="F0EBE6"/>
          </a:solidFill>
          <a:ln/>
        </p:spPr>
        <p:txBody>
          <a:bodyPr/>
          <a:lstStyle/>
          <a:p>
            <a:endParaRPr lang="en-US"/>
          </a:p>
        </p:txBody>
      </p:sp>
      <p:sp>
        <p:nvSpPr>
          <p:cNvPr id="27" name="Shape 24"/>
          <p:cNvSpPr/>
          <p:nvPr/>
        </p:nvSpPr>
        <p:spPr>
          <a:xfrm>
            <a:off x="990600" y="4305300"/>
            <a:ext cx="304800" cy="304800"/>
          </a:xfrm>
          <a:custGeom>
            <a:avLst/>
            <a:gdLst/>
            <a:ahLst/>
            <a:cxnLst/>
            <a:rect l="l" t="t" r="r" b="b"/>
            <a:pathLst>
              <a:path w="304800" h="304800">
                <a:moveTo>
                  <a:pt x="152400" y="0"/>
                </a:moveTo>
                <a:cubicBezTo>
                  <a:pt x="161151" y="0"/>
                  <a:pt x="169188" y="4822"/>
                  <a:pt x="173355" y="12502"/>
                </a:cubicBezTo>
                <a:lnTo>
                  <a:pt x="301943" y="250627"/>
                </a:lnTo>
                <a:cubicBezTo>
                  <a:pt x="305931" y="258008"/>
                  <a:pt x="305753" y="266938"/>
                  <a:pt x="301466" y="274141"/>
                </a:cubicBezTo>
                <a:cubicBezTo>
                  <a:pt x="297180" y="281345"/>
                  <a:pt x="289381" y="285750"/>
                  <a:pt x="280987" y="285750"/>
                </a:cubicBezTo>
                <a:lnTo>
                  <a:pt x="23813" y="285750"/>
                </a:lnTo>
                <a:cubicBezTo>
                  <a:pt x="15419" y="285750"/>
                  <a:pt x="7680" y="281345"/>
                  <a:pt x="3334" y="274141"/>
                </a:cubicBezTo>
                <a:cubicBezTo>
                  <a:pt x="-1012" y="266938"/>
                  <a:pt x="-1131" y="258008"/>
                  <a:pt x="2858" y="250627"/>
                </a:cubicBezTo>
                <a:lnTo>
                  <a:pt x="131445" y="12502"/>
                </a:lnTo>
                <a:cubicBezTo>
                  <a:pt x="135612" y="4822"/>
                  <a:pt x="143649" y="0"/>
                  <a:pt x="152400" y="0"/>
                </a:cubicBezTo>
                <a:close/>
                <a:moveTo>
                  <a:pt x="152400" y="100013"/>
                </a:moveTo>
                <a:cubicBezTo>
                  <a:pt x="144482" y="100013"/>
                  <a:pt x="138113" y="106382"/>
                  <a:pt x="138113" y="114300"/>
                </a:cubicBezTo>
                <a:lnTo>
                  <a:pt x="138113" y="180975"/>
                </a:lnTo>
                <a:cubicBezTo>
                  <a:pt x="138113" y="188893"/>
                  <a:pt x="144482" y="195263"/>
                  <a:pt x="152400" y="195263"/>
                </a:cubicBezTo>
                <a:cubicBezTo>
                  <a:pt x="160318" y="195263"/>
                  <a:pt x="166688" y="188893"/>
                  <a:pt x="166688" y="180975"/>
                </a:cubicBezTo>
                <a:lnTo>
                  <a:pt x="166688" y="114300"/>
                </a:lnTo>
                <a:cubicBezTo>
                  <a:pt x="166688" y="106382"/>
                  <a:pt x="160318" y="100013"/>
                  <a:pt x="152400" y="100013"/>
                </a:cubicBezTo>
                <a:close/>
                <a:moveTo>
                  <a:pt x="168295" y="228600"/>
                </a:moveTo>
                <a:cubicBezTo>
                  <a:pt x="168656" y="222700"/>
                  <a:pt x="165714" y="217087"/>
                  <a:pt x="160656" y="214027"/>
                </a:cubicBezTo>
                <a:cubicBezTo>
                  <a:pt x="155599" y="210968"/>
                  <a:pt x="149261" y="210968"/>
                  <a:pt x="144203" y="214027"/>
                </a:cubicBezTo>
                <a:cubicBezTo>
                  <a:pt x="139145" y="217087"/>
                  <a:pt x="136203" y="222700"/>
                  <a:pt x="136565" y="228600"/>
                </a:cubicBezTo>
                <a:cubicBezTo>
                  <a:pt x="136203" y="234500"/>
                  <a:pt x="139145" y="240113"/>
                  <a:pt x="144203" y="243173"/>
                </a:cubicBezTo>
                <a:cubicBezTo>
                  <a:pt x="149261" y="246232"/>
                  <a:pt x="155599" y="246232"/>
                  <a:pt x="160656" y="243173"/>
                </a:cubicBezTo>
                <a:cubicBezTo>
                  <a:pt x="165714" y="240113"/>
                  <a:pt x="168656" y="234500"/>
                  <a:pt x="168295" y="228600"/>
                </a:cubicBezTo>
                <a:close/>
              </a:path>
            </a:pathLst>
          </a:custGeom>
          <a:solidFill>
            <a:srgbClr val="B85C28"/>
          </a:solidFill>
          <a:ln/>
        </p:spPr>
        <p:txBody>
          <a:bodyPr/>
          <a:lstStyle/>
          <a:p>
            <a:endParaRPr lang="en-US"/>
          </a:p>
        </p:txBody>
      </p:sp>
      <p:sp>
        <p:nvSpPr>
          <p:cNvPr id="28" name="Text 25"/>
          <p:cNvSpPr/>
          <p:nvPr/>
        </p:nvSpPr>
        <p:spPr>
          <a:xfrm>
            <a:off x="1397000" y="4178300"/>
            <a:ext cx="6223000" cy="952500"/>
          </a:xfrm>
          <a:prstGeom prst="rect">
            <a:avLst/>
          </a:prstGeom>
          <a:noFill/>
          <a:ln/>
        </p:spPr>
        <p:txBody>
          <a:bodyPr wrap="square" lIns="0" tIns="0" rIns="0" bIns="0" rtlCol="0" anchor="t"/>
          <a:lstStyle/>
          <a:p>
            <a:pPr algn="l">
              <a:lnSpc>
                <a:spcPct val="150000"/>
              </a:lnSpc>
            </a:pPr>
            <a:r>
              <a:rPr lang="en-US" sz="1400" b="1" dirty="0">
                <a:solidFill>
                  <a:srgbClr val="B85C28"/>
                </a:solidFill>
                <a:latin typeface="Quattrocento Sans" pitchFamily="34" charset="0"/>
                <a:ea typeface="Quattrocento Sans" pitchFamily="34" charset="-122"/>
                <a:cs typeface="Quattrocento Sans" pitchFamily="34" charset="-120"/>
              </a:rPr>
              <a:t>CHALLENGE:</a:t>
            </a:r>
            <a:r>
              <a:rPr lang="en-US" sz="1400" dirty="0">
                <a:solidFill>
                  <a:srgbClr val="1E1E1E"/>
                </a:solidFill>
                <a:latin typeface="Quattrocento Sans" pitchFamily="34" charset="0"/>
                <a:ea typeface="Quattrocento Sans" pitchFamily="34" charset="-122"/>
                <a:cs typeface="Quattrocento Sans" pitchFamily="34" charset="-120"/>
              </a:rPr>
              <a:t> Real-time data accuracy vs. static client storage</a:t>
            </a:r>
            <a:endParaRPr lang="en-US" sz="1400" dirty="0"/>
          </a:p>
          <a:p>
            <a:pPr algn="l">
              <a:lnSpc>
                <a:spcPct val="150000"/>
              </a:lnSpc>
              <a:spcBef>
                <a:spcPts val="400"/>
              </a:spcBef>
            </a:pPr>
            <a:r>
              <a:rPr lang="en-US" sz="1200" dirty="0">
                <a:solidFill>
                  <a:srgbClr val="5C5C5C"/>
                </a:solidFill>
                <a:latin typeface="Quattrocento Sans" pitchFamily="34" charset="0"/>
                <a:ea typeface="Quattrocento Sans" pitchFamily="34" charset="-122"/>
                <a:cs typeface="Quattrocento Sans" pitchFamily="34" charset="-120"/>
              </a:rPr>
              <a:t>Need live Yelp data but also want offline user data persistence</a:t>
            </a:r>
            <a:endParaRPr lang="en-US" sz="1400" dirty="0"/>
          </a:p>
        </p:txBody>
      </p:sp>
      <p:sp>
        <p:nvSpPr>
          <p:cNvPr id="29" name="Shape 26"/>
          <p:cNvSpPr/>
          <p:nvPr/>
        </p:nvSpPr>
        <p:spPr>
          <a:xfrm>
            <a:off x="8001000" y="4559300"/>
            <a:ext cx="381000" cy="0"/>
          </a:xfrm>
          <a:prstGeom prst="straightConnector1">
            <a:avLst/>
          </a:prstGeom>
          <a:noFill/>
          <a:ln w="25400">
            <a:solidFill>
              <a:srgbClr val="D4652A"/>
            </a:solidFill>
            <a:prstDash val="solid"/>
            <a:headEnd type="none"/>
            <a:tailEnd type="arrow"/>
          </a:ln>
        </p:spPr>
        <p:txBody>
          <a:bodyPr/>
          <a:lstStyle/>
          <a:p>
            <a:endParaRPr lang="en-US"/>
          </a:p>
        </p:txBody>
      </p:sp>
      <p:sp>
        <p:nvSpPr>
          <p:cNvPr id="30" name="Shape 27"/>
          <p:cNvSpPr/>
          <p:nvPr/>
        </p:nvSpPr>
        <p:spPr>
          <a:xfrm>
            <a:off x="8509000" y="4089400"/>
            <a:ext cx="6985000" cy="1143000"/>
          </a:xfrm>
          <a:prstGeom prst="roundRect">
            <a:avLst>
              <a:gd name="adj" fmla="val 6000"/>
            </a:avLst>
          </a:prstGeom>
          <a:solidFill>
            <a:srgbClr val="D4652A">
              <a:alpha val="10000"/>
            </a:srgbClr>
          </a:solidFill>
          <a:ln/>
        </p:spPr>
        <p:txBody>
          <a:bodyPr/>
          <a:lstStyle/>
          <a:p>
            <a:endParaRPr lang="en-US"/>
          </a:p>
        </p:txBody>
      </p:sp>
      <p:sp>
        <p:nvSpPr>
          <p:cNvPr id="31" name="Shape 28"/>
          <p:cNvSpPr/>
          <p:nvPr/>
        </p:nvSpPr>
        <p:spPr>
          <a:xfrm>
            <a:off x="8737600" y="4305300"/>
            <a:ext cx="304800" cy="304800"/>
          </a:xfrm>
          <a:custGeom>
            <a:avLst/>
            <a:gdLst/>
            <a:ahLst/>
            <a:cxnLst/>
            <a:rect l="l" t="t" r="r" b="b"/>
            <a:pathLst>
              <a:path w="304800" h="304800">
                <a:moveTo>
                  <a:pt x="295819" y="41731"/>
                </a:moveTo>
                <a:cubicBezTo>
                  <a:pt x="305548" y="47923"/>
                  <a:pt x="307726" y="59829"/>
                  <a:pt x="300650" y="68342"/>
                </a:cubicBezTo>
                <a:lnTo>
                  <a:pt x="126478" y="277892"/>
                </a:lnTo>
                <a:cubicBezTo>
                  <a:pt x="122736" y="282416"/>
                  <a:pt x="116953" y="285214"/>
                  <a:pt x="110558" y="285690"/>
                </a:cubicBezTo>
                <a:cubicBezTo>
                  <a:pt x="104163" y="286167"/>
                  <a:pt x="97971" y="284083"/>
                  <a:pt x="93481" y="280154"/>
                </a:cubicBezTo>
                <a:lnTo>
                  <a:pt x="6395" y="203954"/>
                </a:lnTo>
                <a:cubicBezTo>
                  <a:pt x="-2109" y="196513"/>
                  <a:pt x="-2109" y="184428"/>
                  <a:pt x="6395" y="176986"/>
                </a:cubicBezTo>
                <a:cubicBezTo>
                  <a:pt x="14900" y="169545"/>
                  <a:pt x="28711" y="169545"/>
                  <a:pt x="37216" y="176986"/>
                </a:cubicBezTo>
                <a:lnTo>
                  <a:pt x="106272" y="237411"/>
                </a:lnTo>
                <a:lnTo>
                  <a:pt x="265475" y="45899"/>
                </a:lnTo>
                <a:cubicBezTo>
                  <a:pt x="272551" y="37386"/>
                  <a:pt x="286158" y="35481"/>
                  <a:pt x="295887" y="41672"/>
                </a:cubicBezTo>
                <a:close/>
              </a:path>
            </a:pathLst>
          </a:custGeom>
          <a:solidFill>
            <a:srgbClr val="D4652A"/>
          </a:solidFill>
          <a:ln/>
        </p:spPr>
        <p:txBody>
          <a:bodyPr/>
          <a:lstStyle/>
          <a:p>
            <a:endParaRPr lang="en-US"/>
          </a:p>
        </p:txBody>
      </p:sp>
      <p:sp>
        <p:nvSpPr>
          <p:cNvPr id="32" name="Text 29"/>
          <p:cNvSpPr/>
          <p:nvPr/>
        </p:nvSpPr>
        <p:spPr>
          <a:xfrm>
            <a:off x="9144000" y="4178300"/>
            <a:ext cx="6096000" cy="952500"/>
          </a:xfrm>
          <a:prstGeom prst="rect">
            <a:avLst/>
          </a:prstGeom>
          <a:noFill/>
          <a:ln/>
        </p:spPr>
        <p:txBody>
          <a:bodyPr wrap="square" lIns="0" tIns="0" rIns="0" bIns="0" rtlCol="0" anchor="t"/>
          <a:lstStyle/>
          <a:p>
            <a:pPr algn="l">
              <a:lnSpc>
                <a:spcPct val="150000"/>
              </a:lnSpc>
            </a:pPr>
            <a:r>
              <a:rPr lang="en-US" sz="1400" b="1" dirty="0">
                <a:solidFill>
                  <a:srgbClr val="D4652A"/>
                </a:solidFill>
                <a:latin typeface="Quattrocento Sans" pitchFamily="34" charset="0"/>
                <a:ea typeface="Quattrocento Sans" pitchFamily="34" charset="-122"/>
                <a:cs typeface="Quattrocento Sans" pitchFamily="34" charset="-120"/>
              </a:rPr>
              <a:t>SOLUTION:</a:t>
            </a:r>
            <a:r>
              <a:rPr lang="en-US" sz="1400" dirty="0">
                <a:solidFill>
                  <a:srgbClr val="1E1E1E"/>
                </a:solidFill>
                <a:latin typeface="Quattrocento Sans" pitchFamily="34" charset="0"/>
                <a:ea typeface="Quattrocento Sans" pitchFamily="34" charset="-122"/>
                <a:cs typeface="Quattrocento Sans" pitchFamily="34" charset="-120"/>
              </a:rPr>
              <a:t> Hybrid approach — Yelp API + localStorage</a:t>
            </a:r>
            <a:endParaRPr lang="en-US" sz="1400" dirty="0"/>
          </a:p>
          <a:p>
            <a:pPr algn="l">
              <a:lnSpc>
                <a:spcPct val="150000"/>
              </a:lnSpc>
              <a:spcBef>
                <a:spcPts val="400"/>
              </a:spcBef>
            </a:pPr>
            <a:r>
              <a:rPr lang="en-US" sz="1200" dirty="0">
                <a:solidFill>
                  <a:srgbClr val="5C5C5C"/>
                </a:solidFill>
                <a:latin typeface="Quattrocento Sans" pitchFamily="34" charset="0"/>
                <a:ea typeface="Quattrocento Sans" pitchFamily="34" charset="-122"/>
                <a:cs typeface="Quattrocento Sans" pitchFamily="34" charset="-120"/>
              </a:rPr>
              <a:t>Yelp for search/details, localStorage for user prefs and custom data</a:t>
            </a:r>
            <a:endParaRPr lang="en-US" sz="1400" dirty="0"/>
          </a:p>
        </p:txBody>
      </p:sp>
      <p:sp>
        <p:nvSpPr>
          <p:cNvPr id="33" name="Shape 30"/>
          <p:cNvSpPr/>
          <p:nvPr/>
        </p:nvSpPr>
        <p:spPr>
          <a:xfrm>
            <a:off x="762000" y="5384800"/>
            <a:ext cx="7112000" cy="1143000"/>
          </a:xfrm>
          <a:prstGeom prst="roundRect">
            <a:avLst>
              <a:gd name="adj" fmla="val 6000"/>
            </a:avLst>
          </a:prstGeom>
          <a:solidFill>
            <a:srgbClr val="F0EBE6"/>
          </a:solidFill>
          <a:ln/>
        </p:spPr>
        <p:txBody>
          <a:bodyPr/>
          <a:lstStyle/>
          <a:p>
            <a:endParaRPr lang="en-US"/>
          </a:p>
        </p:txBody>
      </p:sp>
      <p:sp>
        <p:nvSpPr>
          <p:cNvPr id="34" name="Shape 31"/>
          <p:cNvSpPr/>
          <p:nvPr/>
        </p:nvSpPr>
        <p:spPr>
          <a:xfrm>
            <a:off x="990600" y="5600700"/>
            <a:ext cx="304800" cy="304800"/>
          </a:xfrm>
          <a:custGeom>
            <a:avLst/>
            <a:gdLst/>
            <a:ahLst/>
            <a:cxnLst/>
            <a:rect l="l" t="t" r="r" b="b"/>
            <a:pathLst>
              <a:path w="304800" h="304800">
                <a:moveTo>
                  <a:pt x="152400" y="0"/>
                </a:moveTo>
                <a:cubicBezTo>
                  <a:pt x="161151" y="0"/>
                  <a:pt x="169188" y="4822"/>
                  <a:pt x="173355" y="12502"/>
                </a:cubicBezTo>
                <a:lnTo>
                  <a:pt x="301943" y="250627"/>
                </a:lnTo>
                <a:cubicBezTo>
                  <a:pt x="305931" y="258008"/>
                  <a:pt x="305753" y="266938"/>
                  <a:pt x="301466" y="274141"/>
                </a:cubicBezTo>
                <a:cubicBezTo>
                  <a:pt x="297180" y="281345"/>
                  <a:pt x="289381" y="285750"/>
                  <a:pt x="280987" y="285750"/>
                </a:cubicBezTo>
                <a:lnTo>
                  <a:pt x="23813" y="285750"/>
                </a:lnTo>
                <a:cubicBezTo>
                  <a:pt x="15419" y="285750"/>
                  <a:pt x="7680" y="281345"/>
                  <a:pt x="3334" y="274141"/>
                </a:cubicBezTo>
                <a:cubicBezTo>
                  <a:pt x="-1012" y="266938"/>
                  <a:pt x="-1131" y="258008"/>
                  <a:pt x="2858" y="250627"/>
                </a:cubicBezTo>
                <a:lnTo>
                  <a:pt x="131445" y="12502"/>
                </a:lnTo>
                <a:cubicBezTo>
                  <a:pt x="135612" y="4822"/>
                  <a:pt x="143649" y="0"/>
                  <a:pt x="152400" y="0"/>
                </a:cubicBezTo>
                <a:close/>
                <a:moveTo>
                  <a:pt x="152400" y="100013"/>
                </a:moveTo>
                <a:cubicBezTo>
                  <a:pt x="144482" y="100013"/>
                  <a:pt x="138113" y="106382"/>
                  <a:pt x="138113" y="114300"/>
                </a:cubicBezTo>
                <a:lnTo>
                  <a:pt x="138113" y="180975"/>
                </a:lnTo>
                <a:cubicBezTo>
                  <a:pt x="138113" y="188893"/>
                  <a:pt x="144482" y="195263"/>
                  <a:pt x="152400" y="195263"/>
                </a:cubicBezTo>
                <a:cubicBezTo>
                  <a:pt x="160318" y="195263"/>
                  <a:pt x="166688" y="188893"/>
                  <a:pt x="166688" y="180975"/>
                </a:cubicBezTo>
                <a:lnTo>
                  <a:pt x="166688" y="114300"/>
                </a:lnTo>
                <a:cubicBezTo>
                  <a:pt x="166688" y="106382"/>
                  <a:pt x="160318" y="100013"/>
                  <a:pt x="152400" y="100013"/>
                </a:cubicBezTo>
                <a:close/>
                <a:moveTo>
                  <a:pt x="168295" y="228600"/>
                </a:moveTo>
                <a:cubicBezTo>
                  <a:pt x="168656" y="222700"/>
                  <a:pt x="165714" y="217087"/>
                  <a:pt x="160656" y="214027"/>
                </a:cubicBezTo>
                <a:cubicBezTo>
                  <a:pt x="155599" y="210968"/>
                  <a:pt x="149261" y="210968"/>
                  <a:pt x="144203" y="214027"/>
                </a:cubicBezTo>
                <a:cubicBezTo>
                  <a:pt x="139145" y="217087"/>
                  <a:pt x="136203" y="222700"/>
                  <a:pt x="136565" y="228600"/>
                </a:cubicBezTo>
                <a:cubicBezTo>
                  <a:pt x="136203" y="234500"/>
                  <a:pt x="139145" y="240113"/>
                  <a:pt x="144203" y="243173"/>
                </a:cubicBezTo>
                <a:cubicBezTo>
                  <a:pt x="149261" y="246232"/>
                  <a:pt x="155599" y="246232"/>
                  <a:pt x="160656" y="243173"/>
                </a:cubicBezTo>
                <a:cubicBezTo>
                  <a:pt x="165714" y="240113"/>
                  <a:pt x="168656" y="234500"/>
                  <a:pt x="168295" y="228600"/>
                </a:cubicBezTo>
                <a:close/>
              </a:path>
            </a:pathLst>
          </a:custGeom>
          <a:solidFill>
            <a:srgbClr val="B85C28"/>
          </a:solidFill>
          <a:ln/>
        </p:spPr>
        <p:txBody>
          <a:bodyPr/>
          <a:lstStyle/>
          <a:p>
            <a:endParaRPr lang="en-US"/>
          </a:p>
        </p:txBody>
      </p:sp>
      <p:sp>
        <p:nvSpPr>
          <p:cNvPr id="35" name="Text 32"/>
          <p:cNvSpPr/>
          <p:nvPr/>
        </p:nvSpPr>
        <p:spPr>
          <a:xfrm>
            <a:off x="1397000" y="5473700"/>
            <a:ext cx="6223000" cy="952500"/>
          </a:xfrm>
          <a:prstGeom prst="rect">
            <a:avLst/>
          </a:prstGeom>
          <a:noFill/>
          <a:ln/>
        </p:spPr>
        <p:txBody>
          <a:bodyPr wrap="square" lIns="0" tIns="0" rIns="0" bIns="0" rtlCol="0" anchor="t"/>
          <a:lstStyle/>
          <a:p>
            <a:pPr algn="l">
              <a:lnSpc>
                <a:spcPct val="150000"/>
              </a:lnSpc>
            </a:pPr>
            <a:r>
              <a:rPr lang="en-US" sz="1400" b="1" dirty="0">
                <a:solidFill>
                  <a:srgbClr val="B85C28"/>
                </a:solidFill>
                <a:latin typeface="Quattrocento Sans" pitchFamily="34" charset="0"/>
                <a:ea typeface="Quattrocento Sans" pitchFamily="34" charset="-122"/>
                <a:cs typeface="Quattrocento Sans" pitchFamily="34" charset="-120"/>
              </a:rPr>
              <a:t>CHALLENGE:</a:t>
            </a:r>
            <a:r>
              <a:rPr lang="en-US" sz="1400" dirty="0">
                <a:solidFill>
                  <a:srgbClr val="1E1E1E"/>
                </a:solidFill>
                <a:latin typeface="Quattrocento Sans" pitchFamily="34" charset="0"/>
                <a:ea typeface="Quattrocento Sans" pitchFamily="34" charset="-122"/>
                <a:cs typeface="Quattrocento Sans" pitchFamily="34" charset="-120"/>
              </a:rPr>
              <a:t> Responsive design across dozens of components</a:t>
            </a:r>
            <a:endParaRPr lang="en-US" sz="1400" dirty="0"/>
          </a:p>
          <a:p>
            <a:pPr algn="l">
              <a:lnSpc>
                <a:spcPct val="150000"/>
              </a:lnSpc>
              <a:spcBef>
                <a:spcPts val="400"/>
              </a:spcBef>
            </a:pPr>
            <a:r>
              <a:rPr lang="en-US" sz="1200" dirty="0">
                <a:solidFill>
                  <a:srgbClr val="5C5C5C"/>
                </a:solidFill>
                <a:latin typeface="Quattrocento Sans" pitchFamily="34" charset="0"/>
                <a:ea typeface="Quattrocento Sans" pitchFamily="34" charset="-122"/>
                <a:cs typeface="Quattrocento Sans" pitchFamily="34" charset="-120"/>
              </a:rPr>
              <a:t>Supporting mobile, tablet, and desktop with 20+ components</a:t>
            </a:r>
            <a:endParaRPr lang="en-US" sz="1400" dirty="0"/>
          </a:p>
        </p:txBody>
      </p:sp>
      <p:sp>
        <p:nvSpPr>
          <p:cNvPr id="36" name="Shape 33"/>
          <p:cNvSpPr/>
          <p:nvPr/>
        </p:nvSpPr>
        <p:spPr>
          <a:xfrm>
            <a:off x="8001000" y="5854700"/>
            <a:ext cx="381000" cy="0"/>
          </a:xfrm>
          <a:prstGeom prst="straightConnector1">
            <a:avLst/>
          </a:prstGeom>
          <a:noFill/>
          <a:ln w="25400">
            <a:solidFill>
              <a:srgbClr val="D4652A"/>
            </a:solidFill>
            <a:prstDash val="solid"/>
            <a:headEnd type="none"/>
            <a:tailEnd type="arrow"/>
          </a:ln>
        </p:spPr>
        <p:txBody>
          <a:bodyPr/>
          <a:lstStyle/>
          <a:p>
            <a:endParaRPr lang="en-US"/>
          </a:p>
        </p:txBody>
      </p:sp>
      <p:sp>
        <p:nvSpPr>
          <p:cNvPr id="37" name="Shape 34"/>
          <p:cNvSpPr/>
          <p:nvPr/>
        </p:nvSpPr>
        <p:spPr>
          <a:xfrm>
            <a:off x="8509000" y="5384800"/>
            <a:ext cx="6985000" cy="1143000"/>
          </a:xfrm>
          <a:prstGeom prst="roundRect">
            <a:avLst>
              <a:gd name="adj" fmla="val 6000"/>
            </a:avLst>
          </a:prstGeom>
          <a:solidFill>
            <a:srgbClr val="D4652A">
              <a:alpha val="10000"/>
            </a:srgbClr>
          </a:solidFill>
          <a:ln/>
        </p:spPr>
        <p:txBody>
          <a:bodyPr/>
          <a:lstStyle/>
          <a:p>
            <a:endParaRPr lang="en-US"/>
          </a:p>
        </p:txBody>
      </p:sp>
      <p:sp>
        <p:nvSpPr>
          <p:cNvPr id="38" name="Shape 35"/>
          <p:cNvSpPr/>
          <p:nvPr/>
        </p:nvSpPr>
        <p:spPr>
          <a:xfrm>
            <a:off x="8737600" y="5600700"/>
            <a:ext cx="304800" cy="304800"/>
          </a:xfrm>
          <a:custGeom>
            <a:avLst/>
            <a:gdLst/>
            <a:ahLst/>
            <a:cxnLst/>
            <a:rect l="l" t="t" r="r" b="b"/>
            <a:pathLst>
              <a:path w="304800" h="304800">
                <a:moveTo>
                  <a:pt x="295819" y="41731"/>
                </a:moveTo>
                <a:cubicBezTo>
                  <a:pt x="305548" y="47923"/>
                  <a:pt x="307726" y="59829"/>
                  <a:pt x="300650" y="68342"/>
                </a:cubicBezTo>
                <a:lnTo>
                  <a:pt x="126478" y="277892"/>
                </a:lnTo>
                <a:cubicBezTo>
                  <a:pt x="122736" y="282416"/>
                  <a:pt x="116953" y="285214"/>
                  <a:pt x="110558" y="285690"/>
                </a:cubicBezTo>
                <a:cubicBezTo>
                  <a:pt x="104163" y="286167"/>
                  <a:pt x="97971" y="284083"/>
                  <a:pt x="93481" y="280154"/>
                </a:cubicBezTo>
                <a:lnTo>
                  <a:pt x="6395" y="203954"/>
                </a:lnTo>
                <a:cubicBezTo>
                  <a:pt x="-2109" y="196513"/>
                  <a:pt x="-2109" y="184428"/>
                  <a:pt x="6395" y="176986"/>
                </a:cubicBezTo>
                <a:cubicBezTo>
                  <a:pt x="14900" y="169545"/>
                  <a:pt x="28711" y="169545"/>
                  <a:pt x="37216" y="176986"/>
                </a:cubicBezTo>
                <a:lnTo>
                  <a:pt x="106272" y="237411"/>
                </a:lnTo>
                <a:lnTo>
                  <a:pt x="265475" y="45899"/>
                </a:lnTo>
                <a:cubicBezTo>
                  <a:pt x="272551" y="37386"/>
                  <a:pt x="286158" y="35481"/>
                  <a:pt x="295887" y="41672"/>
                </a:cubicBezTo>
                <a:close/>
              </a:path>
            </a:pathLst>
          </a:custGeom>
          <a:solidFill>
            <a:srgbClr val="D4652A"/>
          </a:solidFill>
          <a:ln/>
        </p:spPr>
        <p:txBody>
          <a:bodyPr/>
          <a:lstStyle/>
          <a:p>
            <a:endParaRPr lang="en-US"/>
          </a:p>
        </p:txBody>
      </p:sp>
      <p:sp>
        <p:nvSpPr>
          <p:cNvPr id="39" name="Text 36"/>
          <p:cNvSpPr/>
          <p:nvPr/>
        </p:nvSpPr>
        <p:spPr>
          <a:xfrm>
            <a:off x="9144000" y="5473700"/>
            <a:ext cx="6096000" cy="952500"/>
          </a:xfrm>
          <a:prstGeom prst="rect">
            <a:avLst/>
          </a:prstGeom>
          <a:noFill/>
          <a:ln/>
        </p:spPr>
        <p:txBody>
          <a:bodyPr wrap="square" lIns="0" tIns="0" rIns="0" bIns="0" rtlCol="0" anchor="t"/>
          <a:lstStyle/>
          <a:p>
            <a:pPr algn="l">
              <a:lnSpc>
                <a:spcPct val="150000"/>
              </a:lnSpc>
            </a:pPr>
            <a:r>
              <a:rPr lang="en-US" sz="1400" b="1" dirty="0">
                <a:solidFill>
                  <a:srgbClr val="D4652A"/>
                </a:solidFill>
                <a:latin typeface="Quattrocento Sans" pitchFamily="34" charset="0"/>
                <a:ea typeface="Quattrocento Sans" pitchFamily="34" charset="-122"/>
                <a:cs typeface="Quattrocento Sans" pitchFamily="34" charset="-120"/>
              </a:rPr>
              <a:t>SOLUTION:</a:t>
            </a:r>
            <a:r>
              <a:rPr lang="en-US" sz="1400" dirty="0">
                <a:solidFill>
                  <a:srgbClr val="1E1E1E"/>
                </a:solidFill>
                <a:latin typeface="Quattrocento Sans" pitchFamily="34" charset="0"/>
                <a:ea typeface="Quattrocento Sans" pitchFamily="34" charset="-122"/>
                <a:cs typeface="Quattrocento Sans" pitchFamily="34" charset="-120"/>
              </a:rPr>
              <a:t> Mobile-first Tailwind CSS with systematic breakpoints</a:t>
            </a:r>
            <a:endParaRPr lang="en-US" sz="1400" dirty="0"/>
          </a:p>
          <a:p>
            <a:pPr algn="l">
              <a:lnSpc>
                <a:spcPct val="150000"/>
              </a:lnSpc>
              <a:spcBef>
                <a:spcPts val="400"/>
              </a:spcBef>
            </a:pPr>
            <a:r>
              <a:rPr lang="en-US" sz="1200" dirty="0">
                <a:solidFill>
                  <a:srgbClr val="5C5C5C"/>
                </a:solidFill>
                <a:latin typeface="Quattrocento Sans" pitchFamily="34" charset="0"/>
                <a:ea typeface="Quattrocento Sans" pitchFamily="34" charset="-122"/>
                <a:cs typeface="Quattrocento Sans" pitchFamily="34" charset="-120"/>
              </a:rPr>
              <a:t>Every component responsive by default with consistent breakpoints</a:t>
            </a:r>
            <a:endParaRPr lang="en-US" sz="1400" dirty="0"/>
          </a:p>
        </p:txBody>
      </p:sp>
      <p:sp>
        <p:nvSpPr>
          <p:cNvPr id="40" name="Shape 37"/>
          <p:cNvSpPr/>
          <p:nvPr/>
        </p:nvSpPr>
        <p:spPr>
          <a:xfrm>
            <a:off x="762000" y="6680200"/>
            <a:ext cx="7112000" cy="1143000"/>
          </a:xfrm>
          <a:prstGeom prst="roundRect">
            <a:avLst>
              <a:gd name="adj" fmla="val 6000"/>
            </a:avLst>
          </a:prstGeom>
          <a:solidFill>
            <a:srgbClr val="F0EBE6"/>
          </a:solidFill>
          <a:ln/>
        </p:spPr>
        <p:txBody>
          <a:bodyPr/>
          <a:lstStyle/>
          <a:p>
            <a:endParaRPr lang="en-US"/>
          </a:p>
        </p:txBody>
      </p:sp>
      <p:sp>
        <p:nvSpPr>
          <p:cNvPr id="41" name="Shape 38"/>
          <p:cNvSpPr/>
          <p:nvPr/>
        </p:nvSpPr>
        <p:spPr>
          <a:xfrm>
            <a:off x="990600" y="6896100"/>
            <a:ext cx="304800" cy="304800"/>
          </a:xfrm>
          <a:custGeom>
            <a:avLst/>
            <a:gdLst/>
            <a:ahLst/>
            <a:cxnLst/>
            <a:rect l="l" t="t" r="r" b="b"/>
            <a:pathLst>
              <a:path w="304800" h="304800">
                <a:moveTo>
                  <a:pt x="152400" y="0"/>
                </a:moveTo>
                <a:cubicBezTo>
                  <a:pt x="161151" y="0"/>
                  <a:pt x="169188" y="4822"/>
                  <a:pt x="173355" y="12502"/>
                </a:cubicBezTo>
                <a:lnTo>
                  <a:pt x="301943" y="250627"/>
                </a:lnTo>
                <a:cubicBezTo>
                  <a:pt x="305931" y="258008"/>
                  <a:pt x="305753" y="266938"/>
                  <a:pt x="301466" y="274141"/>
                </a:cubicBezTo>
                <a:cubicBezTo>
                  <a:pt x="297180" y="281345"/>
                  <a:pt x="289381" y="285750"/>
                  <a:pt x="280987" y="285750"/>
                </a:cubicBezTo>
                <a:lnTo>
                  <a:pt x="23813" y="285750"/>
                </a:lnTo>
                <a:cubicBezTo>
                  <a:pt x="15419" y="285750"/>
                  <a:pt x="7680" y="281345"/>
                  <a:pt x="3334" y="274141"/>
                </a:cubicBezTo>
                <a:cubicBezTo>
                  <a:pt x="-1012" y="266938"/>
                  <a:pt x="-1131" y="258008"/>
                  <a:pt x="2858" y="250627"/>
                </a:cubicBezTo>
                <a:lnTo>
                  <a:pt x="131445" y="12502"/>
                </a:lnTo>
                <a:cubicBezTo>
                  <a:pt x="135612" y="4822"/>
                  <a:pt x="143649" y="0"/>
                  <a:pt x="152400" y="0"/>
                </a:cubicBezTo>
                <a:close/>
                <a:moveTo>
                  <a:pt x="152400" y="100013"/>
                </a:moveTo>
                <a:cubicBezTo>
                  <a:pt x="144482" y="100013"/>
                  <a:pt x="138113" y="106382"/>
                  <a:pt x="138113" y="114300"/>
                </a:cubicBezTo>
                <a:lnTo>
                  <a:pt x="138113" y="180975"/>
                </a:lnTo>
                <a:cubicBezTo>
                  <a:pt x="138113" y="188893"/>
                  <a:pt x="144482" y="195263"/>
                  <a:pt x="152400" y="195263"/>
                </a:cubicBezTo>
                <a:cubicBezTo>
                  <a:pt x="160318" y="195263"/>
                  <a:pt x="166688" y="188893"/>
                  <a:pt x="166688" y="180975"/>
                </a:cubicBezTo>
                <a:lnTo>
                  <a:pt x="166688" y="114300"/>
                </a:lnTo>
                <a:cubicBezTo>
                  <a:pt x="166688" y="106382"/>
                  <a:pt x="160318" y="100013"/>
                  <a:pt x="152400" y="100013"/>
                </a:cubicBezTo>
                <a:close/>
                <a:moveTo>
                  <a:pt x="168295" y="228600"/>
                </a:moveTo>
                <a:cubicBezTo>
                  <a:pt x="168656" y="222700"/>
                  <a:pt x="165714" y="217087"/>
                  <a:pt x="160656" y="214027"/>
                </a:cubicBezTo>
                <a:cubicBezTo>
                  <a:pt x="155599" y="210968"/>
                  <a:pt x="149261" y="210968"/>
                  <a:pt x="144203" y="214027"/>
                </a:cubicBezTo>
                <a:cubicBezTo>
                  <a:pt x="139145" y="217087"/>
                  <a:pt x="136203" y="222700"/>
                  <a:pt x="136565" y="228600"/>
                </a:cubicBezTo>
                <a:cubicBezTo>
                  <a:pt x="136203" y="234500"/>
                  <a:pt x="139145" y="240113"/>
                  <a:pt x="144203" y="243173"/>
                </a:cubicBezTo>
                <a:cubicBezTo>
                  <a:pt x="149261" y="246232"/>
                  <a:pt x="155599" y="246232"/>
                  <a:pt x="160656" y="243173"/>
                </a:cubicBezTo>
                <a:cubicBezTo>
                  <a:pt x="165714" y="240113"/>
                  <a:pt x="168656" y="234500"/>
                  <a:pt x="168295" y="228600"/>
                </a:cubicBezTo>
                <a:close/>
              </a:path>
            </a:pathLst>
          </a:custGeom>
          <a:solidFill>
            <a:srgbClr val="B85C28"/>
          </a:solidFill>
          <a:ln/>
        </p:spPr>
        <p:txBody>
          <a:bodyPr/>
          <a:lstStyle/>
          <a:p>
            <a:endParaRPr lang="en-US"/>
          </a:p>
        </p:txBody>
      </p:sp>
      <p:sp>
        <p:nvSpPr>
          <p:cNvPr id="42" name="Text 39"/>
          <p:cNvSpPr/>
          <p:nvPr/>
        </p:nvSpPr>
        <p:spPr>
          <a:xfrm>
            <a:off x="1397000" y="6769100"/>
            <a:ext cx="6223000" cy="952500"/>
          </a:xfrm>
          <a:prstGeom prst="rect">
            <a:avLst/>
          </a:prstGeom>
          <a:noFill/>
          <a:ln/>
        </p:spPr>
        <p:txBody>
          <a:bodyPr wrap="square" lIns="0" tIns="0" rIns="0" bIns="0" rtlCol="0" anchor="t"/>
          <a:lstStyle/>
          <a:p>
            <a:pPr algn="l">
              <a:lnSpc>
                <a:spcPct val="150000"/>
              </a:lnSpc>
            </a:pPr>
            <a:r>
              <a:rPr lang="en-US" sz="1400" b="1" dirty="0">
                <a:solidFill>
                  <a:srgbClr val="B85C28"/>
                </a:solidFill>
                <a:latin typeface="Quattrocento Sans" pitchFamily="34" charset="0"/>
                <a:ea typeface="Quattrocento Sans" pitchFamily="34" charset="-122"/>
                <a:cs typeface="Quattrocento Sans" pitchFamily="34" charset="-120"/>
              </a:rPr>
              <a:t>CHALLENGE:</a:t>
            </a:r>
            <a:r>
              <a:rPr lang="en-US" sz="1400" dirty="0">
                <a:solidFill>
                  <a:srgbClr val="1E1E1E"/>
                </a:solidFill>
                <a:latin typeface="Quattrocento Sans" pitchFamily="34" charset="0"/>
                <a:ea typeface="Quattrocento Sans" pitchFamily="34" charset="-122"/>
                <a:cs typeface="Quattrocento Sans" pitchFamily="34" charset="-120"/>
              </a:rPr>
              <a:t> No database for the MVP implementation</a:t>
            </a:r>
            <a:endParaRPr lang="en-US" sz="1400" dirty="0"/>
          </a:p>
          <a:p>
            <a:pPr algn="l">
              <a:lnSpc>
                <a:spcPct val="150000"/>
              </a:lnSpc>
              <a:spcBef>
                <a:spcPts val="400"/>
              </a:spcBef>
            </a:pPr>
            <a:r>
              <a:rPr lang="en-US" sz="1200" dirty="0">
                <a:solidFill>
                  <a:srgbClr val="5C5C5C"/>
                </a:solidFill>
                <a:latin typeface="Quattrocento Sans" pitchFamily="34" charset="0"/>
                <a:ea typeface="Quattrocento Sans" pitchFamily="34" charset="-122"/>
                <a:cs typeface="Quattrocento Sans" pitchFamily="34" charset="-120"/>
              </a:rPr>
              <a:t>Need data persistence without backend database infrastructure</a:t>
            </a:r>
            <a:endParaRPr lang="en-US" sz="1400" dirty="0"/>
          </a:p>
        </p:txBody>
      </p:sp>
      <p:sp>
        <p:nvSpPr>
          <p:cNvPr id="43" name="Shape 40"/>
          <p:cNvSpPr/>
          <p:nvPr/>
        </p:nvSpPr>
        <p:spPr>
          <a:xfrm>
            <a:off x="8001000" y="7150100"/>
            <a:ext cx="381000" cy="0"/>
          </a:xfrm>
          <a:prstGeom prst="straightConnector1">
            <a:avLst/>
          </a:prstGeom>
          <a:noFill/>
          <a:ln w="25400">
            <a:solidFill>
              <a:srgbClr val="D4652A"/>
            </a:solidFill>
            <a:prstDash val="solid"/>
            <a:headEnd type="none"/>
            <a:tailEnd type="arrow"/>
          </a:ln>
        </p:spPr>
        <p:txBody>
          <a:bodyPr/>
          <a:lstStyle/>
          <a:p>
            <a:endParaRPr lang="en-US"/>
          </a:p>
        </p:txBody>
      </p:sp>
      <p:sp>
        <p:nvSpPr>
          <p:cNvPr id="44" name="Shape 41"/>
          <p:cNvSpPr/>
          <p:nvPr/>
        </p:nvSpPr>
        <p:spPr>
          <a:xfrm>
            <a:off x="8509000" y="6680200"/>
            <a:ext cx="6985000" cy="1143000"/>
          </a:xfrm>
          <a:prstGeom prst="roundRect">
            <a:avLst>
              <a:gd name="adj" fmla="val 6000"/>
            </a:avLst>
          </a:prstGeom>
          <a:solidFill>
            <a:srgbClr val="D4652A">
              <a:alpha val="10000"/>
            </a:srgbClr>
          </a:solidFill>
          <a:ln/>
        </p:spPr>
        <p:txBody>
          <a:bodyPr/>
          <a:lstStyle/>
          <a:p>
            <a:endParaRPr lang="en-US"/>
          </a:p>
        </p:txBody>
      </p:sp>
      <p:sp>
        <p:nvSpPr>
          <p:cNvPr id="45" name="Shape 42"/>
          <p:cNvSpPr/>
          <p:nvPr/>
        </p:nvSpPr>
        <p:spPr>
          <a:xfrm>
            <a:off x="8737600" y="6896100"/>
            <a:ext cx="304800" cy="304800"/>
          </a:xfrm>
          <a:custGeom>
            <a:avLst/>
            <a:gdLst/>
            <a:ahLst/>
            <a:cxnLst/>
            <a:rect l="l" t="t" r="r" b="b"/>
            <a:pathLst>
              <a:path w="304800" h="304800">
                <a:moveTo>
                  <a:pt x="295819" y="41731"/>
                </a:moveTo>
                <a:cubicBezTo>
                  <a:pt x="305548" y="47923"/>
                  <a:pt x="307726" y="59829"/>
                  <a:pt x="300650" y="68342"/>
                </a:cubicBezTo>
                <a:lnTo>
                  <a:pt x="126478" y="277892"/>
                </a:lnTo>
                <a:cubicBezTo>
                  <a:pt x="122736" y="282416"/>
                  <a:pt x="116953" y="285214"/>
                  <a:pt x="110558" y="285690"/>
                </a:cubicBezTo>
                <a:cubicBezTo>
                  <a:pt x="104163" y="286167"/>
                  <a:pt x="97971" y="284083"/>
                  <a:pt x="93481" y="280154"/>
                </a:cubicBezTo>
                <a:lnTo>
                  <a:pt x="6395" y="203954"/>
                </a:lnTo>
                <a:cubicBezTo>
                  <a:pt x="-2109" y="196513"/>
                  <a:pt x="-2109" y="184428"/>
                  <a:pt x="6395" y="176986"/>
                </a:cubicBezTo>
                <a:cubicBezTo>
                  <a:pt x="14900" y="169545"/>
                  <a:pt x="28711" y="169545"/>
                  <a:pt x="37216" y="176986"/>
                </a:cubicBezTo>
                <a:lnTo>
                  <a:pt x="106272" y="237411"/>
                </a:lnTo>
                <a:lnTo>
                  <a:pt x="265475" y="45899"/>
                </a:lnTo>
                <a:cubicBezTo>
                  <a:pt x="272551" y="37386"/>
                  <a:pt x="286158" y="35481"/>
                  <a:pt x="295887" y="41672"/>
                </a:cubicBezTo>
                <a:close/>
              </a:path>
            </a:pathLst>
          </a:custGeom>
          <a:solidFill>
            <a:srgbClr val="D4652A"/>
          </a:solidFill>
          <a:ln/>
        </p:spPr>
        <p:txBody>
          <a:bodyPr/>
          <a:lstStyle/>
          <a:p>
            <a:endParaRPr lang="en-US"/>
          </a:p>
        </p:txBody>
      </p:sp>
      <p:sp>
        <p:nvSpPr>
          <p:cNvPr id="46" name="Text 43"/>
          <p:cNvSpPr/>
          <p:nvPr/>
        </p:nvSpPr>
        <p:spPr>
          <a:xfrm>
            <a:off x="9144000" y="6769100"/>
            <a:ext cx="6096000" cy="952500"/>
          </a:xfrm>
          <a:prstGeom prst="rect">
            <a:avLst/>
          </a:prstGeom>
          <a:noFill/>
          <a:ln/>
        </p:spPr>
        <p:txBody>
          <a:bodyPr wrap="square" lIns="0" tIns="0" rIns="0" bIns="0" rtlCol="0" anchor="t"/>
          <a:lstStyle/>
          <a:p>
            <a:pPr algn="l">
              <a:lnSpc>
                <a:spcPct val="150000"/>
              </a:lnSpc>
            </a:pPr>
            <a:r>
              <a:rPr lang="en-US" sz="1400" b="1" dirty="0">
                <a:solidFill>
                  <a:srgbClr val="D4652A"/>
                </a:solidFill>
                <a:latin typeface="Quattrocento Sans" pitchFamily="34" charset="0"/>
                <a:ea typeface="Quattrocento Sans" pitchFamily="34" charset="-122"/>
                <a:cs typeface="Quattrocento Sans" pitchFamily="34" charset="-120"/>
              </a:rPr>
              <a:t>SOLUTION:</a:t>
            </a:r>
            <a:r>
              <a:rPr lang="en-US" sz="1400" dirty="0">
                <a:solidFill>
                  <a:srgbClr val="1E1E1E"/>
                </a:solidFill>
                <a:latin typeface="Quattrocento Sans" pitchFamily="34" charset="0"/>
                <a:ea typeface="Quattrocento Sans" pitchFamily="34" charset="-122"/>
                <a:cs typeface="Quattrocento Sans" pitchFamily="34" charset="-120"/>
              </a:rPr>
              <a:t> localStorage with structured JSON model</a:t>
            </a:r>
            <a:endParaRPr lang="en-US" sz="1400" dirty="0"/>
          </a:p>
          <a:p>
            <a:pPr algn="l">
              <a:lnSpc>
                <a:spcPct val="150000"/>
              </a:lnSpc>
              <a:spcBef>
                <a:spcPts val="400"/>
              </a:spcBef>
            </a:pPr>
            <a:r>
              <a:rPr lang="en-US" sz="1200" dirty="0">
                <a:solidFill>
                  <a:srgbClr val="5C5C5C"/>
                </a:solidFill>
                <a:latin typeface="Quattrocento Sans" pitchFamily="34" charset="0"/>
                <a:ea typeface="Quattrocento Sans" pitchFamily="34" charset="-122"/>
                <a:cs typeface="Quattrocento Sans" pitchFamily="34" charset="-120"/>
              </a:rPr>
              <a:t>8 collections: users, restaurants, saved, history, preferences</a:t>
            </a:r>
            <a:endParaRPr lang="en-US" sz="1400" dirty="0"/>
          </a:p>
        </p:txBody>
      </p:sp>
      <p:sp>
        <p:nvSpPr>
          <p:cNvPr id="47" name="Text 44"/>
          <p:cNvSpPr/>
          <p:nvPr/>
        </p:nvSpPr>
        <p:spPr>
          <a:xfrm>
            <a:off x="762000" y="8763000"/>
            <a:ext cx="5080000" cy="254000"/>
          </a:xfrm>
          <a:prstGeom prst="rect">
            <a:avLst/>
          </a:prstGeom>
          <a:noFill/>
          <a:ln/>
        </p:spPr>
        <p:txBody>
          <a:bodyPr wrap="none" lIns="0" tIns="0" rIns="0" bIns="0" rtlCol="0" anchor="ctr"/>
          <a:lstStyle/>
          <a:p>
            <a:pPr algn="l">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Restaurant Finder | Graduation Project Defense</a:t>
            </a:r>
            <a:endParaRPr lang="en-US" sz="1200" dirty="0"/>
          </a:p>
        </p:txBody>
      </p:sp>
      <p:sp>
        <p:nvSpPr>
          <p:cNvPr id="48" name="Text 45"/>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10 / 12</a:t>
            </a:r>
            <a:endParaRPr lang="en-US" sz="12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8"/>
        </a:solidFill>
        <a:effectLst/>
      </p:bgPr>
    </p:bg>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2D2D2D"/>
          </a:solidFill>
          <a:ln/>
        </p:spPr>
        <p:txBody>
          <a:bodyPr/>
          <a:lstStyle/>
          <a:p>
            <a:endParaRPr lang="en-US"/>
          </a:p>
        </p:txBody>
      </p:sp>
      <p:sp>
        <p:nvSpPr>
          <p:cNvPr id="4" name="Text 1"/>
          <p:cNvSpPr/>
          <p:nvPr/>
        </p:nvSpPr>
        <p:spPr>
          <a:xfrm>
            <a:off x="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PROBLEM</a:t>
            </a:r>
            <a:endParaRPr lang="en-US" sz="1100" dirty="0"/>
          </a:p>
        </p:txBody>
      </p:sp>
      <p:sp>
        <p:nvSpPr>
          <p:cNvPr id="5" name="Text 2"/>
          <p:cNvSpPr/>
          <p:nvPr/>
        </p:nvSpPr>
        <p:spPr>
          <a:xfrm>
            <a:off x="32512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SOLUTION</a:t>
            </a:r>
            <a:endParaRPr lang="en-US" sz="1100" dirty="0"/>
          </a:p>
        </p:txBody>
      </p:sp>
      <p:sp>
        <p:nvSpPr>
          <p:cNvPr id="6" name="Text 3"/>
          <p:cNvSpPr/>
          <p:nvPr/>
        </p:nvSpPr>
        <p:spPr>
          <a:xfrm>
            <a:off x="65024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TECH STACK</a:t>
            </a:r>
            <a:endParaRPr lang="en-US" sz="1100" dirty="0"/>
          </a:p>
        </p:txBody>
      </p:sp>
      <p:sp>
        <p:nvSpPr>
          <p:cNvPr id="7" name="Text 4"/>
          <p:cNvSpPr/>
          <p:nvPr/>
        </p:nvSpPr>
        <p:spPr>
          <a:xfrm>
            <a:off x="9753600" y="0"/>
            <a:ext cx="3251200" cy="406400"/>
          </a:xfrm>
          <a:prstGeom prst="rect">
            <a:avLst/>
          </a:prstGeom>
          <a:noFill/>
          <a:ln/>
        </p:spPr>
        <p:txBody>
          <a:bodyPr wrap="none" lIns="0" tIns="0" rIns="0" bIns="0" rtlCol="0" anchor="ctr"/>
          <a:lstStyle/>
          <a:p>
            <a:pPr algn="ctr">
              <a:lnSpc>
                <a:spcPct val="120000"/>
              </a:lnSpc>
            </a:pPr>
            <a:r>
              <a:rPr lang="en-US" sz="1100" dirty="0">
                <a:solidFill>
                  <a:srgbClr val="888888"/>
                </a:solidFill>
                <a:latin typeface="Quattrocento Sans" pitchFamily="34" charset="0"/>
                <a:ea typeface="Quattrocento Sans" pitchFamily="34" charset="-122"/>
                <a:cs typeface="Quattrocento Sans" pitchFamily="34" charset="-120"/>
              </a:rPr>
              <a:t>FEATURES</a:t>
            </a:r>
            <a:endParaRPr lang="en-US" sz="1100" dirty="0"/>
          </a:p>
        </p:txBody>
      </p:sp>
      <p:sp>
        <p:nvSpPr>
          <p:cNvPr id="8" name="Text 5"/>
          <p:cNvSpPr/>
          <p:nvPr/>
        </p:nvSpPr>
        <p:spPr>
          <a:xfrm>
            <a:off x="13004800" y="0"/>
            <a:ext cx="3251200" cy="406400"/>
          </a:xfrm>
          <a:prstGeom prst="rect">
            <a:avLst/>
          </a:prstGeom>
          <a:noFill/>
          <a:ln/>
        </p:spPr>
        <p:txBody>
          <a:bodyPr wrap="none" lIns="0" tIns="0" rIns="0" bIns="0" rtlCol="0" anchor="ctr"/>
          <a:lstStyle/>
          <a:p>
            <a:pPr algn="ctr">
              <a:lnSpc>
                <a:spcPct val="120000"/>
              </a:lnSpc>
            </a:pPr>
            <a:r>
              <a:rPr lang="en-US" sz="1100" b="1" dirty="0">
                <a:solidFill>
                  <a:srgbClr val="D4652A"/>
                </a:solidFill>
                <a:latin typeface="Quattrocento Sans" pitchFamily="34" charset="0"/>
                <a:ea typeface="Quattrocento Sans" pitchFamily="34" charset="-122"/>
                <a:cs typeface="Quattrocento Sans" pitchFamily="34" charset="-120"/>
              </a:rPr>
              <a:t>ARCHITECTURE</a:t>
            </a:r>
            <a:endParaRPr lang="en-US" sz="1100" dirty="0"/>
          </a:p>
        </p:txBody>
      </p:sp>
      <p:sp>
        <p:nvSpPr>
          <p:cNvPr id="9" name="Shape 6"/>
          <p:cNvSpPr/>
          <p:nvPr/>
        </p:nvSpPr>
        <p:spPr>
          <a:xfrm>
            <a:off x="13995400" y="419100"/>
            <a:ext cx="1270000" cy="38100"/>
          </a:xfrm>
          <a:prstGeom prst="rect">
            <a:avLst/>
          </a:prstGeom>
          <a:solidFill>
            <a:srgbClr val="D4652A"/>
          </a:solidFill>
          <a:ln/>
        </p:spPr>
        <p:txBody>
          <a:bodyPr/>
          <a:lstStyle/>
          <a:p>
            <a:endParaRPr lang="en-US"/>
          </a:p>
        </p:txBody>
      </p:sp>
      <p:sp>
        <p:nvSpPr>
          <p:cNvPr id="10" name="Text 7"/>
          <p:cNvSpPr/>
          <p:nvPr/>
        </p:nvSpPr>
        <p:spPr>
          <a:xfrm>
            <a:off x="762000" y="660400"/>
            <a:ext cx="8890000" cy="508000"/>
          </a:xfrm>
          <a:prstGeom prst="rect">
            <a:avLst/>
          </a:prstGeom>
          <a:noFill/>
          <a:ln/>
        </p:spPr>
        <p:txBody>
          <a:bodyPr wrap="none" lIns="0" tIns="0" rIns="0" bIns="0" rtlCol="0" anchor="ctr"/>
          <a:lstStyle/>
          <a:p>
            <a:pPr algn="l">
              <a:lnSpc>
                <a:spcPct val="130000"/>
              </a:lnSpc>
            </a:pPr>
            <a:r>
              <a:rPr lang="en-US" sz="2800" dirty="0">
                <a:solidFill>
                  <a:srgbClr val="1E1E1E"/>
                </a:solidFill>
                <a:latin typeface="Liter" pitchFamily="34" charset="0"/>
                <a:ea typeface="Liter" pitchFamily="34" charset="-122"/>
                <a:cs typeface="Liter" pitchFamily="34" charset="-120"/>
              </a:rPr>
              <a:t>Future Roadmap &amp; Enhancements</a:t>
            </a:r>
            <a:endParaRPr lang="en-US" sz="2800" dirty="0"/>
          </a:p>
        </p:txBody>
      </p:sp>
      <p:sp>
        <p:nvSpPr>
          <p:cNvPr id="11" name="Shape 8"/>
          <p:cNvSpPr/>
          <p:nvPr/>
        </p:nvSpPr>
        <p:spPr>
          <a:xfrm>
            <a:off x="762000" y="1219200"/>
            <a:ext cx="1016000" cy="38100"/>
          </a:xfrm>
          <a:prstGeom prst="rect">
            <a:avLst/>
          </a:prstGeom>
          <a:solidFill>
            <a:srgbClr val="D4652A"/>
          </a:solidFill>
          <a:ln/>
        </p:spPr>
        <p:txBody>
          <a:bodyPr/>
          <a:lstStyle/>
          <a:p>
            <a:endParaRPr lang="en-US"/>
          </a:p>
        </p:txBody>
      </p:sp>
      <p:sp>
        <p:nvSpPr>
          <p:cNvPr id="12" name="Shape 9"/>
          <p:cNvSpPr/>
          <p:nvPr/>
        </p:nvSpPr>
        <p:spPr>
          <a:xfrm>
            <a:off x="762000" y="1778000"/>
            <a:ext cx="14732000" cy="38100"/>
          </a:xfrm>
          <a:prstGeom prst="rect">
            <a:avLst/>
          </a:prstGeom>
          <a:gradFill flip="none" rotWithShape="1">
            <a:gsLst>
              <a:gs pos="0">
                <a:srgbClr val="D4652A"/>
              </a:gs>
              <a:gs pos="50000">
                <a:srgbClr val="B85C28"/>
              </a:gs>
              <a:gs pos="100000">
                <a:srgbClr val="2D2D2D"/>
              </a:gs>
            </a:gsLst>
            <a:lin ang="0" scaled="1"/>
          </a:gradFill>
          <a:ln/>
        </p:spPr>
        <p:txBody>
          <a:bodyPr/>
          <a:lstStyle/>
          <a:p>
            <a:endParaRPr lang="en-US"/>
          </a:p>
        </p:txBody>
      </p:sp>
      <p:sp>
        <p:nvSpPr>
          <p:cNvPr id="13" name="Shape 10"/>
          <p:cNvSpPr/>
          <p:nvPr/>
        </p:nvSpPr>
        <p:spPr>
          <a:xfrm>
            <a:off x="2540000" y="1676400"/>
            <a:ext cx="228600" cy="228600"/>
          </a:xfrm>
          <a:prstGeom prst="ellipse">
            <a:avLst/>
          </a:prstGeom>
          <a:solidFill>
            <a:srgbClr val="D4652A"/>
          </a:solidFill>
          <a:ln/>
        </p:spPr>
        <p:txBody>
          <a:bodyPr/>
          <a:lstStyle/>
          <a:p>
            <a:endParaRPr lang="en-US"/>
          </a:p>
        </p:txBody>
      </p:sp>
      <p:sp>
        <p:nvSpPr>
          <p:cNvPr id="14" name="Text 11"/>
          <p:cNvSpPr/>
          <p:nvPr/>
        </p:nvSpPr>
        <p:spPr>
          <a:xfrm>
            <a:off x="1524000" y="2006600"/>
            <a:ext cx="2286000" cy="304800"/>
          </a:xfrm>
          <a:prstGeom prst="rect">
            <a:avLst/>
          </a:prstGeom>
          <a:noFill/>
          <a:ln/>
        </p:spPr>
        <p:txBody>
          <a:bodyPr wrap="none" lIns="0" tIns="0" rIns="0" bIns="0" rtlCol="0" anchor="ctr"/>
          <a:lstStyle/>
          <a:p>
            <a:pPr algn="ctr">
              <a:lnSpc>
                <a:spcPct val="120000"/>
              </a:lnSpc>
            </a:pPr>
            <a:r>
              <a:rPr lang="en-US" sz="1400" b="1" dirty="0">
                <a:solidFill>
                  <a:srgbClr val="D4652A"/>
                </a:solidFill>
                <a:latin typeface="Liter" pitchFamily="34" charset="0"/>
                <a:ea typeface="Liter" pitchFamily="34" charset="-122"/>
                <a:cs typeface="Liter" pitchFamily="34" charset="-120"/>
              </a:rPr>
              <a:t>SHORT TERM</a:t>
            </a:r>
            <a:endParaRPr lang="en-US" sz="1400" dirty="0"/>
          </a:p>
        </p:txBody>
      </p:sp>
      <p:sp>
        <p:nvSpPr>
          <p:cNvPr id="15" name="Shape 12"/>
          <p:cNvSpPr/>
          <p:nvPr/>
        </p:nvSpPr>
        <p:spPr>
          <a:xfrm>
            <a:off x="762000" y="2413000"/>
            <a:ext cx="4572000" cy="3937000"/>
          </a:xfrm>
          <a:prstGeom prst="roundRect">
            <a:avLst>
              <a:gd name="adj" fmla="val 6000"/>
            </a:avLst>
          </a:prstGeom>
          <a:solidFill>
            <a:srgbClr val="F0EBE6"/>
          </a:solidFill>
          <a:ln/>
        </p:spPr>
        <p:txBody>
          <a:bodyPr/>
          <a:lstStyle/>
          <a:p>
            <a:endParaRPr lang="en-US"/>
          </a:p>
        </p:txBody>
      </p:sp>
      <p:sp>
        <p:nvSpPr>
          <p:cNvPr id="16" name="Text 13"/>
          <p:cNvSpPr/>
          <p:nvPr/>
        </p:nvSpPr>
        <p:spPr>
          <a:xfrm>
            <a:off x="990600" y="2603500"/>
            <a:ext cx="4114800" cy="3556000"/>
          </a:xfrm>
          <a:prstGeom prst="rect">
            <a:avLst/>
          </a:prstGeom>
          <a:noFill/>
          <a:ln/>
        </p:spPr>
        <p:txBody>
          <a:bodyPr wrap="square" lIns="0" tIns="0" rIns="0" bIns="0" rtlCol="0" anchor="t"/>
          <a:lstStyle/>
          <a:p>
            <a:pPr algn="l">
              <a:lnSpc>
                <a:spcPct val="170000"/>
              </a:lnSpc>
            </a:pPr>
            <a:r>
              <a:rPr lang="en-US" sz="1400" dirty="0">
                <a:solidFill>
                  <a:srgbClr val="D4652A"/>
                </a:solidFill>
                <a:latin typeface="Quattrocento Sans" pitchFamily="34" charset="0"/>
                <a:ea typeface="Quattrocento Sans" pitchFamily="34" charset="-122"/>
                <a:cs typeface="Quattrocento Sans" pitchFamily="34" charset="-120"/>
              </a:rPr>
              <a:t>●</a:t>
            </a:r>
            <a:r>
              <a:rPr lang="en-US" sz="1400" dirty="0">
                <a:solidFill>
                  <a:srgbClr val="1E1E1E"/>
                </a:solidFill>
                <a:latin typeface="Quattrocento Sans" pitchFamily="34" charset="0"/>
                <a:ea typeface="Quattrocento Sans" pitchFamily="34" charset="-122"/>
                <a:cs typeface="Quattrocento Sans" pitchFamily="34" charset="-120"/>
              </a:rPr>
              <a:t> OpenTable / Resy booking integration</a:t>
            </a:r>
            <a:endParaRPr lang="en-US" sz="1400" dirty="0"/>
          </a:p>
          <a:p>
            <a:pPr algn="l">
              <a:lnSpc>
                <a:spcPct val="170000"/>
              </a:lnSpc>
            </a:pPr>
            <a:r>
              <a:rPr lang="en-US" sz="1400" dirty="0">
                <a:solidFill>
                  <a:srgbClr val="D4652A"/>
                </a:solidFill>
                <a:latin typeface="Quattrocento Sans" pitchFamily="34" charset="0"/>
                <a:ea typeface="Quattrocento Sans" pitchFamily="34" charset="-122"/>
                <a:cs typeface="Quattrocento Sans" pitchFamily="34" charset="-120"/>
              </a:rPr>
              <a:t>●</a:t>
            </a:r>
            <a:r>
              <a:rPr lang="en-US" sz="1400" dirty="0">
                <a:solidFill>
                  <a:srgbClr val="1E1E1E"/>
                </a:solidFill>
                <a:latin typeface="Quattrocento Sans" pitchFamily="34" charset="0"/>
                <a:ea typeface="Quattrocento Sans" pitchFamily="34" charset="-122"/>
                <a:cs typeface="Quattrocento Sans" pitchFamily="34" charset="-120"/>
              </a:rPr>
              <a:t> Real-time availability and wait times</a:t>
            </a:r>
            <a:endParaRPr lang="en-US" sz="1400" dirty="0"/>
          </a:p>
          <a:p>
            <a:pPr algn="l">
              <a:lnSpc>
                <a:spcPct val="170000"/>
              </a:lnSpc>
            </a:pPr>
            <a:r>
              <a:rPr lang="en-US" sz="1400" dirty="0">
                <a:solidFill>
                  <a:srgbClr val="D4652A"/>
                </a:solidFill>
                <a:latin typeface="Quattrocento Sans" pitchFamily="34" charset="0"/>
                <a:ea typeface="Quattrocento Sans" pitchFamily="34" charset="-122"/>
                <a:cs typeface="Quattrocento Sans" pitchFamily="34" charset="-120"/>
              </a:rPr>
              <a:t>●</a:t>
            </a:r>
            <a:r>
              <a:rPr lang="en-US" sz="1400" dirty="0">
                <a:solidFill>
                  <a:srgbClr val="1E1E1E"/>
                </a:solidFill>
                <a:latin typeface="Quattrocento Sans" pitchFamily="34" charset="0"/>
                <a:ea typeface="Quattrocento Sans" pitchFamily="34" charset="-122"/>
                <a:cs typeface="Quattrocento Sans" pitchFamily="34" charset="-120"/>
              </a:rPr>
              <a:t> Social sharing for recommendations</a:t>
            </a:r>
            <a:endParaRPr lang="en-US" sz="1400" dirty="0"/>
          </a:p>
          <a:p>
            <a:pPr algn="l">
              <a:lnSpc>
                <a:spcPct val="170000"/>
              </a:lnSpc>
            </a:pPr>
            <a:r>
              <a:rPr lang="en-US" sz="1400" dirty="0">
                <a:solidFill>
                  <a:srgbClr val="D4652A"/>
                </a:solidFill>
                <a:latin typeface="Quattrocento Sans" pitchFamily="34" charset="0"/>
                <a:ea typeface="Quattrocento Sans" pitchFamily="34" charset="-122"/>
                <a:cs typeface="Quattrocento Sans" pitchFamily="34" charset="-120"/>
              </a:rPr>
              <a:t>●</a:t>
            </a:r>
            <a:r>
              <a:rPr lang="en-US" sz="1400" dirty="0">
                <a:solidFill>
                  <a:srgbClr val="1E1E1E"/>
                </a:solidFill>
                <a:latin typeface="Quattrocento Sans" pitchFamily="34" charset="0"/>
                <a:ea typeface="Quattrocento Sans" pitchFamily="34" charset="-122"/>
                <a:cs typeface="Quattrocento Sans" pitchFamily="34" charset="-120"/>
              </a:rPr>
              <a:t> Email notifications for new matches</a:t>
            </a:r>
            <a:endParaRPr lang="en-US" sz="1400" dirty="0"/>
          </a:p>
          <a:p>
            <a:pPr algn="l">
              <a:lnSpc>
                <a:spcPct val="170000"/>
              </a:lnSpc>
            </a:pPr>
            <a:r>
              <a:rPr lang="en-US" sz="1400" dirty="0">
                <a:solidFill>
                  <a:srgbClr val="D4652A"/>
                </a:solidFill>
                <a:latin typeface="Quattrocento Sans" pitchFamily="34" charset="0"/>
                <a:ea typeface="Quattrocento Sans" pitchFamily="34" charset="-122"/>
                <a:cs typeface="Quattrocento Sans" pitchFamily="34" charset="-120"/>
              </a:rPr>
              <a:t>●</a:t>
            </a:r>
            <a:r>
              <a:rPr lang="en-US" sz="1400" dirty="0">
                <a:solidFill>
                  <a:srgbClr val="1E1E1E"/>
                </a:solidFill>
                <a:latin typeface="Quattrocento Sans" pitchFamily="34" charset="0"/>
                <a:ea typeface="Quattrocento Sans" pitchFamily="34" charset="-122"/>
                <a:cs typeface="Quattrocento Sans" pitchFamily="34" charset="-120"/>
              </a:rPr>
              <a:t> Restaurant comparison tool</a:t>
            </a:r>
            <a:endParaRPr lang="en-US" sz="1400" dirty="0"/>
          </a:p>
          <a:p>
            <a:pPr algn="l">
              <a:lnSpc>
                <a:spcPct val="170000"/>
              </a:lnSpc>
            </a:pPr>
            <a:r>
              <a:rPr lang="en-US" sz="1400" dirty="0">
                <a:solidFill>
                  <a:srgbClr val="D4652A"/>
                </a:solidFill>
                <a:latin typeface="Quattrocento Sans" pitchFamily="34" charset="0"/>
                <a:ea typeface="Quattrocento Sans" pitchFamily="34" charset="-122"/>
                <a:cs typeface="Quattrocento Sans" pitchFamily="34" charset="-120"/>
              </a:rPr>
              <a:t>●</a:t>
            </a:r>
            <a:r>
              <a:rPr lang="en-US" sz="1400" dirty="0">
                <a:solidFill>
                  <a:srgbClr val="1E1E1E"/>
                </a:solidFill>
                <a:latin typeface="Quattrocento Sans" pitchFamily="34" charset="0"/>
                <a:ea typeface="Quattrocento Sans" pitchFamily="34" charset="-122"/>
                <a:cs typeface="Quattrocento Sans" pitchFamily="34" charset="-120"/>
              </a:rPr>
              <a:t> Push notification support</a:t>
            </a:r>
            <a:endParaRPr lang="en-US" sz="1400" dirty="0"/>
          </a:p>
        </p:txBody>
      </p:sp>
      <p:sp>
        <p:nvSpPr>
          <p:cNvPr id="17" name="Shape 14"/>
          <p:cNvSpPr/>
          <p:nvPr/>
        </p:nvSpPr>
        <p:spPr>
          <a:xfrm>
            <a:off x="7747000" y="1676400"/>
            <a:ext cx="228600" cy="228600"/>
          </a:xfrm>
          <a:prstGeom prst="ellipse">
            <a:avLst/>
          </a:prstGeom>
          <a:solidFill>
            <a:srgbClr val="B85C28"/>
          </a:solidFill>
          <a:ln/>
        </p:spPr>
        <p:txBody>
          <a:bodyPr/>
          <a:lstStyle/>
          <a:p>
            <a:endParaRPr lang="en-US"/>
          </a:p>
        </p:txBody>
      </p:sp>
      <p:sp>
        <p:nvSpPr>
          <p:cNvPr id="18" name="Text 15"/>
          <p:cNvSpPr/>
          <p:nvPr/>
        </p:nvSpPr>
        <p:spPr>
          <a:xfrm>
            <a:off x="6731000" y="2006600"/>
            <a:ext cx="2286000" cy="304800"/>
          </a:xfrm>
          <a:prstGeom prst="rect">
            <a:avLst/>
          </a:prstGeom>
          <a:noFill/>
          <a:ln/>
        </p:spPr>
        <p:txBody>
          <a:bodyPr wrap="none" lIns="0" tIns="0" rIns="0" bIns="0" rtlCol="0" anchor="ctr"/>
          <a:lstStyle/>
          <a:p>
            <a:pPr algn="ctr">
              <a:lnSpc>
                <a:spcPct val="120000"/>
              </a:lnSpc>
            </a:pPr>
            <a:r>
              <a:rPr lang="en-US" sz="1400" b="1" dirty="0">
                <a:solidFill>
                  <a:srgbClr val="B85C28"/>
                </a:solidFill>
                <a:latin typeface="Liter" pitchFamily="34" charset="0"/>
                <a:ea typeface="Liter" pitchFamily="34" charset="-122"/>
                <a:cs typeface="Liter" pitchFamily="34" charset="-120"/>
              </a:rPr>
              <a:t>MEDIUM TERM</a:t>
            </a:r>
            <a:endParaRPr lang="en-US" sz="1400" dirty="0"/>
          </a:p>
        </p:txBody>
      </p:sp>
      <p:sp>
        <p:nvSpPr>
          <p:cNvPr id="19" name="Shape 16"/>
          <p:cNvSpPr/>
          <p:nvPr/>
        </p:nvSpPr>
        <p:spPr>
          <a:xfrm>
            <a:off x="5842000" y="2413000"/>
            <a:ext cx="4572000" cy="3937000"/>
          </a:xfrm>
          <a:prstGeom prst="roundRect">
            <a:avLst>
              <a:gd name="adj" fmla="val 6000"/>
            </a:avLst>
          </a:prstGeom>
          <a:solidFill>
            <a:srgbClr val="F0EBE6"/>
          </a:solidFill>
          <a:ln/>
        </p:spPr>
        <p:txBody>
          <a:bodyPr/>
          <a:lstStyle/>
          <a:p>
            <a:endParaRPr lang="en-US"/>
          </a:p>
        </p:txBody>
      </p:sp>
      <p:sp>
        <p:nvSpPr>
          <p:cNvPr id="20" name="Text 17"/>
          <p:cNvSpPr/>
          <p:nvPr/>
        </p:nvSpPr>
        <p:spPr>
          <a:xfrm>
            <a:off x="6070600" y="2603500"/>
            <a:ext cx="4114800" cy="3556000"/>
          </a:xfrm>
          <a:prstGeom prst="rect">
            <a:avLst/>
          </a:prstGeom>
          <a:noFill/>
          <a:ln/>
        </p:spPr>
        <p:txBody>
          <a:bodyPr wrap="square" lIns="0" tIns="0" rIns="0" bIns="0" rtlCol="0" anchor="t"/>
          <a:lstStyle/>
          <a:p>
            <a:pPr algn="l">
              <a:lnSpc>
                <a:spcPct val="170000"/>
              </a:lnSpc>
            </a:pPr>
            <a:r>
              <a:rPr lang="en-US" sz="1400" dirty="0">
                <a:solidFill>
                  <a:srgbClr val="B85C28"/>
                </a:solidFill>
                <a:latin typeface="Quattrocento Sans" pitchFamily="34" charset="0"/>
                <a:ea typeface="Quattrocento Sans" pitchFamily="34" charset="-122"/>
                <a:cs typeface="Quattrocento Sans" pitchFamily="34" charset="-120"/>
              </a:rPr>
              <a:t>●</a:t>
            </a:r>
            <a:r>
              <a:rPr lang="en-US" sz="1400" dirty="0">
                <a:solidFill>
                  <a:srgbClr val="1E1E1E"/>
                </a:solidFill>
                <a:latin typeface="Quattrocento Sans" pitchFamily="34" charset="0"/>
                <a:ea typeface="Quattrocento Sans" pitchFamily="34" charset="-122"/>
                <a:cs typeface="Quattrocento Sans" pitchFamily="34" charset="-120"/>
              </a:rPr>
              <a:t> PostgreSQL / MongoDB migration</a:t>
            </a:r>
            <a:endParaRPr lang="en-US" sz="1400" dirty="0"/>
          </a:p>
          <a:p>
            <a:pPr algn="l">
              <a:lnSpc>
                <a:spcPct val="170000"/>
              </a:lnSpc>
            </a:pPr>
            <a:r>
              <a:rPr lang="en-US" sz="1400" dirty="0">
                <a:solidFill>
                  <a:srgbClr val="B85C28"/>
                </a:solidFill>
                <a:latin typeface="Quattrocento Sans" pitchFamily="34" charset="0"/>
                <a:ea typeface="Quattrocento Sans" pitchFamily="34" charset="-122"/>
                <a:cs typeface="Quattrocento Sans" pitchFamily="34" charset="-120"/>
              </a:rPr>
              <a:t>●</a:t>
            </a:r>
            <a:r>
              <a:rPr lang="en-US" sz="1400" dirty="0">
                <a:solidFill>
                  <a:srgbClr val="1E1E1E"/>
                </a:solidFill>
                <a:latin typeface="Quattrocento Sans" pitchFamily="34" charset="0"/>
                <a:ea typeface="Quattrocento Sans" pitchFamily="34" charset="-122"/>
                <a:cs typeface="Quattrocento Sans" pitchFamily="34" charset="-120"/>
              </a:rPr>
              <a:t> OAuth (Google, Facebook) login</a:t>
            </a:r>
            <a:endParaRPr lang="en-US" sz="1400" dirty="0"/>
          </a:p>
          <a:p>
            <a:pPr algn="l">
              <a:lnSpc>
                <a:spcPct val="170000"/>
              </a:lnSpc>
            </a:pPr>
            <a:r>
              <a:rPr lang="en-US" sz="1400" dirty="0">
                <a:solidFill>
                  <a:srgbClr val="B85C28"/>
                </a:solidFill>
                <a:latin typeface="Quattrocento Sans" pitchFamily="34" charset="0"/>
                <a:ea typeface="Quattrocento Sans" pitchFamily="34" charset="-122"/>
                <a:cs typeface="Quattrocento Sans" pitchFamily="34" charset="-120"/>
              </a:rPr>
              <a:t>●</a:t>
            </a:r>
            <a:r>
              <a:rPr lang="en-US" sz="1400" dirty="0">
                <a:solidFill>
                  <a:srgbClr val="1E1E1E"/>
                </a:solidFill>
                <a:latin typeface="Quattrocento Sans" pitchFamily="34" charset="0"/>
                <a:ea typeface="Quattrocento Sans" pitchFamily="34" charset="-122"/>
                <a:cs typeface="Quattrocento Sans" pitchFamily="34" charset="-120"/>
              </a:rPr>
              <a:t> Advanced analytics dashboard</a:t>
            </a:r>
            <a:endParaRPr lang="en-US" sz="1400" dirty="0"/>
          </a:p>
          <a:p>
            <a:pPr algn="l">
              <a:lnSpc>
                <a:spcPct val="170000"/>
              </a:lnSpc>
            </a:pPr>
            <a:r>
              <a:rPr lang="en-US" sz="1400" dirty="0">
                <a:solidFill>
                  <a:srgbClr val="B85C28"/>
                </a:solidFill>
                <a:latin typeface="Quattrocento Sans" pitchFamily="34" charset="0"/>
                <a:ea typeface="Quattrocento Sans" pitchFamily="34" charset="-122"/>
                <a:cs typeface="Quattrocento Sans" pitchFamily="34" charset="-120"/>
              </a:rPr>
              <a:t>●</a:t>
            </a:r>
            <a:r>
              <a:rPr lang="en-US" sz="1400" dirty="0">
                <a:solidFill>
                  <a:srgbClr val="1E1E1E"/>
                </a:solidFill>
                <a:latin typeface="Quattrocento Sans" pitchFamily="34" charset="0"/>
                <a:ea typeface="Quattrocento Sans" pitchFamily="34" charset="-122"/>
                <a:cs typeface="Quattrocento Sans" pitchFamily="34" charset="-120"/>
              </a:rPr>
              <a:t> Restaurant owner portal</a:t>
            </a:r>
            <a:endParaRPr lang="en-US" sz="1400" dirty="0"/>
          </a:p>
          <a:p>
            <a:pPr algn="l">
              <a:lnSpc>
                <a:spcPct val="170000"/>
              </a:lnSpc>
            </a:pPr>
            <a:r>
              <a:rPr lang="en-US" sz="1400" dirty="0">
                <a:solidFill>
                  <a:srgbClr val="B85C28"/>
                </a:solidFill>
                <a:latin typeface="Quattrocento Sans" pitchFamily="34" charset="0"/>
                <a:ea typeface="Quattrocento Sans" pitchFamily="34" charset="-122"/>
                <a:cs typeface="Quattrocento Sans" pitchFamily="34" charset="-120"/>
              </a:rPr>
              <a:t>●</a:t>
            </a:r>
            <a:r>
              <a:rPr lang="en-US" sz="1400" dirty="0">
                <a:solidFill>
                  <a:srgbClr val="1E1E1E"/>
                </a:solidFill>
                <a:latin typeface="Quattrocento Sans" pitchFamily="34" charset="0"/>
                <a:ea typeface="Quattrocento Sans" pitchFamily="34" charset="-122"/>
                <a:cs typeface="Quattrocento Sans" pitchFamily="34" charset="-120"/>
              </a:rPr>
              <a:t> User reviews and photo upload</a:t>
            </a:r>
            <a:endParaRPr lang="en-US" sz="1400" dirty="0"/>
          </a:p>
          <a:p>
            <a:pPr algn="l">
              <a:lnSpc>
                <a:spcPct val="170000"/>
              </a:lnSpc>
            </a:pPr>
            <a:r>
              <a:rPr lang="en-US" sz="1400" dirty="0">
                <a:solidFill>
                  <a:srgbClr val="B85C28"/>
                </a:solidFill>
                <a:latin typeface="Quattrocento Sans" pitchFamily="34" charset="0"/>
                <a:ea typeface="Quattrocento Sans" pitchFamily="34" charset="-122"/>
                <a:cs typeface="Quattrocento Sans" pitchFamily="34" charset="-120"/>
              </a:rPr>
              <a:t>●</a:t>
            </a:r>
            <a:r>
              <a:rPr lang="en-US" sz="1400" dirty="0">
                <a:solidFill>
                  <a:srgbClr val="1E1E1E"/>
                </a:solidFill>
                <a:latin typeface="Quattrocento Sans" pitchFamily="34" charset="0"/>
                <a:ea typeface="Quattrocento Sans" pitchFamily="34" charset="-122"/>
                <a:cs typeface="Quattrocento Sans" pitchFamily="34" charset="-120"/>
              </a:rPr>
              <a:t> Business intelligence reports</a:t>
            </a:r>
            <a:endParaRPr lang="en-US" sz="1400" dirty="0"/>
          </a:p>
        </p:txBody>
      </p:sp>
      <p:sp>
        <p:nvSpPr>
          <p:cNvPr id="21" name="Shape 18"/>
          <p:cNvSpPr/>
          <p:nvPr/>
        </p:nvSpPr>
        <p:spPr>
          <a:xfrm>
            <a:off x="12954000" y="1676400"/>
            <a:ext cx="228600" cy="228600"/>
          </a:xfrm>
          <a:prstGeom prst="ellipse">
            <a:avLst/>
          </a:prstGeom>
          <a:solidFill>
            <a:srgbClr val="2D2D2D"/>
          </a:solidFill>
          <a:ln/>
        </p:spPr>
        <p:txBody>
          <a:bodyPr/>
          <a:lstStyle/>
          <a:p>
            <a:endParaRPr lang="en-US"/>
          </a:p>
        </p:txBody>
      </p:sp>
      <p:sp>
        <p:nvSpPr>
          <p:cNvPr id="22" name="Text 19"/>
          <p:cNvSpPr/>
          <p:nvPr/>
        </p:nvSpPr>
        <p:spPr>
          <a:xfrm>
            <a:off x="11938000" y="2006600"/>
            <a:ext cx="2286000" cy="304800"/>
          </a:xfrm>
          <a:prstGeom prst="rect">
            <a:avLst/>
          </a:prstGeom>
          <a:noFill/>
          <a:ln/>
        </p:spPr>
        <p:txBody>
          <a:bodyPr wrap="none" lIns="0" tIns="0" rIns="0" bIns="0" rtlCol="0" anchor="ctr"/>
          <a:lstStyle/>
          <a:p>
            <a:pPr algn="ctr">
              <a:lnSpc>
                <a:spcPct val="120000"/>
              </a:lnSpc>
            </a:pPr>
            <a:r>
              <a:rPr lang="en-US" sz="1400" b="1" dirty="0">
                <a:solidFill>
                  <a:srgbClr val="2D2D2D"/>
                </a:solidFill>
                <a:latin typeface="Liter" pitchFamily="34" charset="0"/>
                <a:ea typeface="Liter" pitchFamily="34" charset="-122"/>
                <a:cs typeface="Liter" pitchFamily="34" charset="-120"/>
              </a:rPr>
              <a:t>LONG TERM</a:t>
            </a:r>
            <a:endParaRPr lang="en-US" sz="1400" dirty="0"/>
          </a:p>
        </p:txBody>
      </p:sp>
      <p:sp>
        <p:nvSpPr>
          <p:cNvPr id="23" name="Shape 20"/>
          <p:cNvSpPr/>
          <p:nvPr/>
        </p:nvSpPr>
        <p:spPr>
          <a:xfrm>
            <a:off x="10922000" y="2413000"/>
            <a:ext cx="4572000" cy="3937000"/>
          </a:xfrm>
          <a:prstGeom prst="roundRect">
            <a:avLst>
              <a:gd name="adj" fmla="val 6000"/>
            </a:avLst>
          </a:prstGeom>
          <a:solidFill>
            <a:srgbClr val="F0EBE6"/>
          </a:solidFill>
          <a:ln/>
        </p:spPr>
        <p:txBody>
          <a:bodyPr/>
          <a:lstStyle/>
          <a:p>
            <a:endParaRPr lang="en-US"/>
          </a:p>
        </p:txBody>
      </p:sp>
      <p:sp>
        <p:nvSpPr>
          <p:cNvPr id="24" name="Text 21"/>
          <p:cNvSpPr/>
          <p:nvPr/>
        </p:nvSpPr>
        <p:spPr>
          <a:xfrm>
            <a:off x="11150600" y="2603500"/>
            <a:ext cx="4114800" cy="3556000"/>
          </a:xfrm>
          <a:prstGeom prst="rect">
            <a:avLst/>
          </a:prstGeom>
          <a:noFill/>
          <a:ln/>
        </p:spPr>
        <p:txBody>
          <a:bodyPr wrap="square" lIns="0" tIns="0" rIns="0" bIns="0" rtlCol="0" anchor="t"/>
          <a:lstStyle/>
          <a:p>
            <a:pPr algn="l">
              <a:lnSpc>
                <a:spcPct val="170000"/>
              </a:lnSpc>
            </a:pPr>
            <a:r>
              <a:rPr lang="en-US" sz="1400" dirty="0">
                <a:solidFill>
                  <a:srgbClr val="2D2D2D"/>
                </a:solidFill>
                <a:latin typeface="Quattrocento Sans" pitchFamily="34" charset="0"/>
                <a:ea typeface="Quattrocento Sans" pitchFamily="34" charset="-122"/>
                <a:cs typeface="Quattrocento Sans" pitchFamily="34" charset="-120"/>
              </a:rPr>
              <a:t>●</a:t>
            </a:r>
            <a:r>
              <a:rPr lang="en-US" sz="1400" dirty="0">
                <a:solidFill>
                  <a:srgbClr val="1E1E1E"/>
                </a:solidFill>
                <a:latin typeface="Quattrocento Sans" pitchFamily="34" charset="0"/>
                <a:ea typeface="Quattrocento Sans" pitchFamily="34" charset="-122"/>
                <a:cs typeface="Quattrocento Sans" pitchFamily="34" charset="-120"/>
              </a:rPr>
              <a:t> React Native mobile app</a:t>
            </a:r>
            <a:endParaRPr lang="en-US" sz="1400" dirty="0"/>
          </a:p>
          <a:p>
            <a:pPr algn="l">
              <a:lnSpc>
                <a:spcPct val="170000"/>
              </a:lnSpc>
            </a:pPr>
            <a:r>
              <a:rPr lang="en-US" sz="1400" dirty="0">
                <a:solidFill>
                  <a:srgbClr val="2D2D2D"/>
                </a:solidFill>
                <a:latin typeface="Quattrocento Sans" pitchFamily="34" charset="0"/>
                <a:ea typeface="Quattrocento Sans" pitchFamily="34" charset="-122"/>
                <a:cs typeface="Quattrocento Sans" pitchFamily="34" charset="-120"/>
              </a:rPr>
              <a:t>●</a:t>
            </a:r>
            <a:r>
              <a:rPr lang="en-US" sz="1400" dirty="0">
                <a:solidFill>
                  <a:srgbClr val="1E1E1E"/>
                </a:solidFill>
                <a:latin typeface="Quattrocento Sans" pitchFamily="34" charset="0"/>
                <a:ea typeface="Quattrocento Sans" pitchFamily="34" charset="-122"/>
                <a:cs typeface="Quattrocento Sans" pitchFamily="34" charset="-120"/>
              </a:rPr>
              <a:t> AI chatbot for conversational search</a:t>
            </a:r>
            <a:endParaRPr lang="en-US" sz="1400" dirty="0"/>
          </a:p>
          <a:p>
            <a:pPr algn="l">
              <a:lnSpc>
                <a:spcPct val="170000"/>
              </a:lnSpc>
            </a:pPr>
            <a:r>
              <a:rPr lang="en-US" sz="1400" dirty="0">
                <a:solidFill>
                  <a:srgbClr val="2D2D2D"/>
                </a:solidFill>
                <a:latin typeface="Quattrocento Sans" pitchFamily="34" charset="0"/>
                <a:ea typeface="Quattrocento Sans" pitchFamily="34" charset="-122"/>
                <a:cs typeface="Quattrocento Sans" pitchFamily="34" charset="-120"/>
              </a:rPr>
              <a:t>●</a:t>
            </a:r>
            <a:r>
              <a:rPr lang="en-US" sz="1400" dirty="0">
                <a:solidFill>
                  <a:srgbClr val="1E1E1E"/>
                </a:solidFill>
                <a:latin typeface="Quattrocento Sans" pitchFamily="34" charset="0"/>
                <a:ea typeface="Quattrocento Sans" pitchFamily="34" charset="-122"/>
                <a:cs typeface="Quattrocento Sans" pitchFamily="34" charset="-120"/>
              </a:rPr>
              <a:t> ML recommendation model</a:t>
            </a:r>
            <a:endParaRPr lang="en-US" sz="1400" dirty="0"/>
          </a:p>
          <a:p>
            <a:pPr algn="l">
              <a:lnSpc>
                <a:spcPct val="170000"/>
              </a:lnSpc>
            </a:pPr>
            <a:r>
              <a:rPr lang="en-US" sz="1400" dirty="0">
                <a:solidFill>
                  <a:srgbClr val="2D2D2D"/>
                </a:solidFill>
                <a:latin typeface="Quattrocento Sans" pitchFamily="34" charset="0"/>
                <a:ea typeface="Quattrocento Sans" pitchFamily="34" charset="-122"/>
                <a:cs typeface="Quattrocento Sans" pitchFamily="34" charset="-120"/>
              </a:rPr>
              <a:t>●</a:t>
            </a:r>
            <a:r>
              <a:rPr lang="en-US" sz="1400" dirty="0">
                <a:solidFill>
                  <a:srgbClr val="1E1E1E"/>
                </a:solidFill>
                <a:latin typeface="Quattrocento Sans" pitchFamily="34" charset="0"/>
                <a:ea typeface="Quattrocento Sans" pitchFamily="34" charset="-122"/>
                <a:cs typeface="Quattrocento Sans" pitchFamily="34" charset="-120"/>
              </a:rPr>
              <a:t> Delivery platform integration</a:t>
            </a:r>
            <a:endParaRPr lang="en-US" sz="1400" dirty="0"/>
          </a:p>
          <a:p>
            <a:pPr algn="l">
              <a:lnSpc>
                <a:spcPct val="170000"/>
              </a:lnSpc>
            </a:pPr>
            <a:r>
              <a:rPr lang="en-US" sz="1400" dirty="0">
                <a:solidFill>
                  <a:srgbClr val="2D2D2D"/>
                </a:solidFill>
                <a:latin typeface="Quattrocento Sans" pitchFamily="34" charset="0"/>
                <a:ea typeface="Quattrocento Sans" pitchFamily="34" charset="-122"/>
                <a:cs typeface="Quattrocento Sans" pitchFamily="34" charset="-120"/>
              </a:rPr>
              <a:t>●</a:t>
            </a:r>
            <a:r>
              <a:rPr lang="en-US" sz="1400" dirty="0">
                <a:solidFill>
                  <a:srgbClr val="1E1E1E"/>
                </a:solidFill>
                <a:latin typeface="Quattrocento Sans" pitchFamily="34" charset="0"/>
                <a:ea typeface="Quattrocento Sans" pitchFamily="34" charset="-122"/>
                <a:cs typeface="Quattrocento Sans" pitchFamily="34" charset="-120"/>
              </a:rPr>
              <a:t> Community features and feeds</a:t>
            </a:r>
            <a:endParaRPr lang="en-US" sz="1400" dirty="0"/>
          </a:p>
          <a:p>
            <a:pPr algn="l">
              <a:lnSpc>
                <a:spcPct val="170000"/>
              </a:lnSpc>
            </a:pPr>
            <a:r>
              <a:rPr lang="en-US" sz="1400" dirty="0">
                <a:solidFill>
                  <a:srgbClr val="2D2D2D"/>
                </a:solidFill>
                <a:latin typeface="Quattrocento Sans" pitchFamily="34" charset="0"/>
                <a:ea typeface="Quattrocento Sans" pitchFamily="34" charset="-122"/>
                <a:cs typeface="Quattrocento Sans" pitchFamily="34" charset="-120"/>
              </a:rPr>
              <a:t>●</a:t>
            </a:r>
            <a:r>
              <a:rPr lang="en-US" sz="1400" dirty="0">
                <a:solidFill>
                  <a:srgbClr val="1E1E1E"/>
                </a:solidFill>
                <a:latin typeface="Quattrocento Sans" pitchFamily="34" charset="0"/>
                <a:ea typeface="Quattrocento Sans" pitchFamily="34" charset="-122"/>
                <a:cs typeface="Quattrocento Sans" pitchFamily="34" charset="-120"/>
              </a:rPr>
              <a:t> Voice search and AR menu preview</a:t>
            </a:r>
            <a:endParaRPr lang="en-US" sz="1400" dirty="0"/>
          </a:p>
        </p:txBody>
      </p:sp>
      <p:sp>
        <p:nvSpPr>
          <p:cNvPr id="25" name="Shape 22"/>
          <p:cNvSpPr/>
          <p:nvPr/>
        </p:nvSpPr>
        <p:spPr>
          <a:xfrm>
            <a:off x="762000" y="6731000"/>
            <a:ext cx="14732000" cy="762000"/>
          </a:xfrm>
          <a:prstGeom prst="roundRect">
            <a:avLst>
              <a:gd name="adj" fmla="val 6000"/>
            </a:avLst>
          </a:prstGeom>
          <a:solidFill>
            <a:srgbClr val="2D2D2D"/>
          </a:solidFill>
          <a:ln/>
        </p:spPr>
        <p:txBody>
          <a:bodyPr/>
          <a:lstStyle/>
          <a:p>
            <a:endParaRPr lang="en-US"/>
          </a:p>
        </p:txBody>
      </p:sp>
      <p:sp>
        <p:nvSpPr>
          <p:cNvPr id="26" name="Text 23"/>
          <p:cNvSpPr/>
          <p:nvPr/>
        </p:nvSpPr>
        <p:spPr>
          <a:xfrm>
            <a:off x="1016000" y="6731000"/>
            <a:ext cx="14224000" cy="762000"/>
          </a:xfrm>
          <a:prstGeom prst="rect">
            <a:avLst/>
          </a:prstGeom>
          <a:noFill/>
          <a:ln/>
        </p:spPr>
        <p:txBody>
          <a:bodyPr wrap="square" lIns="0" tIns="0" rIns="0" bIns="0" rtlCol="0" anchor="ctr"/>
          <a:lstStyle/>
          <a:p>
            <a:pPr algn="ctr">
              <a:lnSpc>
                <a:spcPct val="120000"/>
              </a:lnSpc>
            </a:pPr>
            <a:r>
              <a:rPr lang="en-US" sz="1500" b="1" dirty="0">
                <a:solidFill>
                  <a:srgbClr val="D4652A"/>
                </a:solidFill>
                <a:latin typeface="Quattrocento Sans" pitchFamily="34" charset="0"/>
                <a:ea typeface="Quattrocento Sans" pitchFamily="34" charset="-122"/>
                <a:cs typeface="Quattrocento Sans" pitchFamily="34" charset="-120"/>
              </a:rPr>
              <a:t>Architecture Advantage:</a:t>
            </a:r>
            <a:r>
              <a:rPr lang="en-US" sz="1500" dirty="0">
                <a:solidFill>
                  <a:srgbClr val="FFFFFF"/>
                </a:solidFill>
                <a:latin typeface="Quattrocento Sans" pitchFamily="34" charset="0"/>
                <a:ea typeface="Quattrocento Sans" pitchFamily="34" charset="-122"/>
                <a:cs typeface="Quattrocento Sans" pitchFamily="34" charset="-120"/>
              </a:rPr>
              <a:t> The backend proxy pattern makes it easy to swap in new data sources. Component-based React makes adding features straightforward. Migration to a database won't require frontend changes.</a:t>
            </a:r>
            <a:endParaRPr lang="en-US" sz="1500" dirty="0"/>
          </a:p>
        </p:txBody>
      </p:sp>
      <p:sp>
        <p:nvSpPr>
          <p:cNvPr id="27" name="Text 24"/>
          <p:cNvSpPr/>
          <p:nvPr/>
        </p:nvSpPr>
        <p:spPr>
          <a:xfrm>
            <a:off x="762000" y="8763000"/>
            <a:ext cx="5080000" cy="254000"/>
          </a:xfrm>
          <a:prstGeom prst="rect">
            <a:avLst/>
          </a:prstGeom>
          <a:noFill/>
          <a:ln/>
        </p:spPr>
        <p:txBody>
          <a:bodyPr wrap="none" lIns="0" tIns="0" rIns="0" bIns="0" rtlCol="0" anchor="ctr"/>
          <a:lstStyle/>
          <a:p>
            <a:pPr algn="l">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Restaurant Finder | Graduation Project Defense</a:t>
            </a:r>
            <a:endParaRPr lang="en-US" sz="1200" dirty="0"/>
          </a:p>
        </p:txBody>
      </p:sp>
      <p:sp>
        <p:nvSpPr>
          <p:cNvPr id="28" name="Text 25"/>
          <p:cNvSpPr/>
          <p:nvPr/>
        </p:nvSpPr>
        <p:spPr>
          <a:xfrm>
            <a:off x="14986000" y="8763000"/>
            <a:ext cx="762000" cy="254000"/>
          </a:xfrm>
          <a:prstGeom prst="rect">
            <a:avLst/>
          </a:prstGeom>
          <a:noFill/>
          <a:ln/>
        </p:spPr>
        <p:txBody>
          <a:bodyPr wrap="none" lIns="0" tIns="0" rIns="0" bIns="0" rtlCol="0" anchor="ctr"/>
          <a:lstStyle/>
          <a:p>
            <a:pPr algn="r">
              <a:lnSpc>
                <a:spcPct val="140000"/>
              </a:lnSpc>
            </a:pPr>
            <a:r>
              <a:rPr lang="en-US" sz="1200" dirty="0">
                <a:solidFill>
                  <a:srgbClr val="5C5C5C"/>
                </a:solidFill>
                <a:latin typeface="Quattrocento Sans" pitchFamily="34" charset="0"/>
                <a:ea typeface="Quattrocento Sans" pitchFamily="34" charset="-122"/>
                <a:cs typeface="Quattrocento Sans" pitchFamily="34" charset="-120"/>
              </a:rPr>
              <a:t>11 / 12</a:t>
            </a:r>
            <a:endParaRPr lang="en-US" sz="12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D2D2D"/>
        </a:solidFill>
        <a:effectLst/>
      </p:bgPr>
    </p:bg>
    <p:spTree>
      <p:nvGrpSpPr>
        <p:cNvPr id="1" name=""/>
        <p:cNvGrpSpPr/>
        <p:nvPr/>
      </p:nvGrpSpPr>
      <p:grpSpPr>
        <a:xfrm>
          <a:off x="0" y="0"/>
          <a:ext cx="0" cy="0"/>
          <a:chOff x="0" y="0"/>
          <a:chExt cx="0" cy="0"/>
        </a:xfrm>
      </p:grpSpPr>
      <p:sp>
        <p:nvSpPr>
          <p:cNvPr id="3" name="Shape 0"/>
          <p:cNvSpPr/>
          <p:nvPr/>
        </p:nvSpPr>
        <p:spPr>
          <a:xfrm>
            <a:off x="-1016000" y="-762000"/>
            <a:ext cx="3048000" cy="3048000"/>
          </a:xfrm>
          <a:prstGeom prst="ellipse">
            <a:avLst/>
          </a:prstGeom>
          <a:solidFill>
            <a:srgbClr val="D4652A">
              <a:alpha val="12000"/>
            </a:srgbClr>
          </a:solidFill>
          <a:ln/>
        </p:spPr>
        <p:txBody>
          <a:bodyPr/>
          <a:lstStyle/>
          <a:p>
            <a:endParaRPr lang="en-US"/>
          </a:p>
        </p:txBody>
      </p:sp>
      <p:sp>
        <p:nvSpPr>
          <p:cNvPr id="4" name="Shape 1"/>
          <p:cNvSpPr/>
          <p:nvPr/>
        </p:nvSpPr>
        <p:spPr>
          <a:xfrm>
            <a:off x="13716000" y="6350000"/>
            <a:ext cx="3048000" cy="3048000"/>
          </a:xfrm>
          <a:prstGeom prst="ellipse">
            <a:avLst/>
          </a:prstGeom>
          <a:solidFill>
            <a:srgbClr val="D4652A">
              <a:alpha val="10000"/>
            </a:srgbClr>
          </a:solidFill>
          <a:ln/>
        </p:spPr>
        <p:txBody>
          <a:bodyPr/>
          <a:lstStyle/>
          <a:p>
            <a:endParaRPr lang="en-US"/>
          </a:p>
        </p:txBody>
      </p:sp>
      <p:sp>
        <p:nvSpPr>
          <p:cNvPr id="5" name="Shape 2"/>
          <p:cNvSpPr/>
          <p:nvPr/>
        </p:nvSpPr>
        <p:spPr>
          <a:xfrm>
            <a:off x="2286000" y="6096000"/>
            <a:ext cx="635000" cy="635000"/>
          </a:xfrm>
          <a:prstGeom prst="ellipse">
            <a:avLst/>
          </a:prstGeom>
          <a:solidFill>
            <a:srgbClr val="D4652A">
              <a:alpha val="15000"/>
            </a:srgbClr>
          </a:solidFill>
          <a:ln/>
        </p:spPr>
        <p:txBody>
          <a:bodyPr/>
          <a:lstStyle/>
          <a:p>
            <a:endParaRPr lang="en-US"/>
          </a:p>
        </p:txBody>
      </p:sp>
      <p:sp>
        <p:nvSpPr>
          <p:cNvPr id="6" name="Text 3"/>
          <p:cNvSpPr/>
          <p:nvPr/>
        </p:nvSpPr>
        <p:spPr>
          <a:xfrm>
            <a:off x="1778000" y="2540000"/>
            <a:ext cx="12700000" cy="889000"/>
          </a:xfrm>
          <a:prstGeom prst="rect">
            <a:avLst/>
          </a:prstGeom>
          <a:noFill/>
          <a:ln/>
        </p:spPr>
        <p:txBody>
          <a:bodyPr wrap="none" lIns="0" tIns="0" rIns="0" bIns="0" rtlCol="0" anchor="ctr"/>
          <a:lstStyle/>
          <a:p>
            <a:pPr algn="ctr">
              <a:lnSpc>
                <a:spcPct val="120000"/>
              </a:lnSpc>
            </a:pPr>
            <a:r>
              <a:rPr lang="en-US" sz="5200" kern="0" spc="400" dirty="0">
                <a:solidFill>
                  <a:srgbClr val="FFFFFF"/>
                </a:solidFill>
                <a:latin typeface="Liter" pitchFamily="34" charset="0"/>
                <a:ea typeface="Liter" pitchFamily="34" charset="-122"/>
                <a:cs typeface="Liter" pitchFamily="34" charset="-120"/>
              </a:rPr>
              <a:t>THANK YOU</a:t>
            </a:r>
            <a:endParaRPr lang="en-US" sz="5200" dirty="0"/>
          </a:p>
        </p:txBody>
      </p:sp>
      <p:sp>
        <p:nvSpPr>
          <p:cNvPr id="7" name="Shape 4"/>
          <p:cNvSpPr/>
          <p:nvPr/>
        </p:nvSpPr>
        <p:spPr>
          <a:xfrm>
            <a:off x="6858000" y="3619500"/>
            <a:ext cx="2540000" cy="38100"/>
          </a:xfrm>
          <a:prstGeom prst="rect">
            <a:avLst/>
          </a:prstGeom>
          <a:solidFill>
            <a:srgbClr val="D4652A"/>
          </a:solidFill>
          <a:ln/>
        </p:spPr>
        <p:txBody>
          <a:bodyPr/>
          <a:lstStyle/>
          <a:p>
            <a:endParaRPr lang="en-US"/>
          </a:p>
        </p:txBody>
      </p:sp>
      <p:sp>
        <p:nvSpPr>
          <p:cNvPr id="8" name="Text 5"/>
          <p:cNvSpPr/>
          <p:nvPr/>
        </p:nvSpPr>
        <p:spPr>
          <a:xfrm>
            <a:off x="3048000" y="3873500"/>
            <a:ext cx="10160000" cy="508000"/>
          </a:xfrm>
          <a:prstGeom prst="rect">
            <a:avLst/>
          </a:prstGeom>
          <a:noFill/>
          <a:ln/>
        </p:spPr>
        <p:txBody>
          <a:bodyPr wrap="none" lIns="0" tIns="0" rIns="0" bIns="0" rtlCol="0" anchor="ctr"/>
          <a:lstStyle/>
          <a:p>
            <a:pPr algn="ctr">
              <a:lnSpc>
                <a:spcPct val="120000"/>
              </a:lnSpc>
            </a:pPr>
            <a:r>
              <a:rPr lang="en-US" sz="2200" dirty="0">
                <a:solidFill>
                  <a:srgbClr val="D4652A"/>
                </a:solidFill>
                <a:latin typeface="Quattrocento Sans" pitchFamily="34" charset="0"/>
                <a:ea typeface="Quattrocento Sans" pitchFamily="34" charset="-122"/>
                <a:cs typeface="Quattrocento Sans" pitchFamily="34" charset="-120"/>
              </a:rPr>
              <a:t>Restaurant Finder — Transforming Dining Discovery</a:t>
            </a:r>
            <a:endParaRPr lang="en-US" sz="2200" dirty="0"/>
          </a:p>
        </p:txBody>
      </p:sp>
      <p:sp>
        <p:nvSpPr>
          <p:cNvPr id="9" name="Text 6"/>
          <p:cNvSpPr/>
          <p:nvPr/>
        </p:nvSpPr>
        <p:spPr>
          <a:xfrm>
            <a:off x="3048000" y="4572000"/>
            <a:ext cx="10160000" cy="762000"/>
          </a:xfrm>
          <a:prstGeom prst="rect">
            <a:avLst/>
          </a:prstGeom>
          <a:noFill/>
          <a:ln/>
        </p:spPr>
        <p:txBody>
          <a:bodyPr wrap="square" lIns="0" tIns="0" rIns="0" bIns="0" rtlCol="0" anchor="t"/>
          <a:lstStyle/>
          <a:p>
            <a:pPr algn="ctr">
              <a:lnSpc>
                <a:spcPct val="160000"/>
              </a:lnSpc>
            </a:pPr>
            <a:r>
              <a:rPr lang="en-US" sz="1600" dirty="0">
                <a:solidFill>
                  <a:srgbClr val="AAAAAA"/>
                </a:solidFill>
                <a:latin typeface="Quattrocento Sans" pitchFamily="34" charset="0"/>
                <a:ea typeface="Quattrocento Sans" pitchFamily="34" charset="-122"/>
                <a:cs typeface="Quattrocento Sans" pitchFamily="34" charset="-120"/>
              </a:rPr>
              <a:t>A Front-end web application demonstrating React, Express, Yelp API integration,</a:t>
            </a:r>
            <a:endParaRPr lang="en-US" sz="1600" dirty="0"/>
          </a:p>
          <a:p>
            <a:pPr algn="ctr">
              <a:lnSpc>
                <a:spcPct val="160000"/>
              </a:lnSpc>
            </a:pPr>
            <a:r>
              <a:rPr lang="en-US" sz="1600" dirty="0">
                <a:solidFill>
                  <a:srgbClr val="AAAAAA"/>
                </a:solidFill>
                <a:latin typeface="Quattrocento Sans" pitchFamily="34" charset="0"/>
                <a:ea typeface="Quattrocento Sans" pitchFamily="34" charset="-122"/>
                <a:cs typeface="Quattrocento Sans" pitchFamily="34" charset="-120"/>
              </a:rPr>
              <a:t>AI-powered recommendations, and modern responsive design</a:t>
            </a:r>
            <a:endParaRPr lang="en-US" sz="1600" dirty="0"/>
          </a:p>
        </p:txBody>
      </p:sp>
      <p:sp>
        <p:nvSpPr>
          <p:cNvPr id="10" name="Shape 7"/>
          <p:cNvSpPr/>
          <p:nvPr/>
        </p:nvSpPr>
        <p:spPr>
          <a:xfrm>
            <a:off x="1778000" y="5778500"/>
            <a:ext cx="3810000" cy="635000"/>
          </a:xfrm>
          <a:prstGeom prst="roundRect">
            <a:avLst>
              <a:gd name="adj" fmla="val 16000"/>
            </a:avLst>
          </a:prstGeom>
          <a:solidFill>
            <a:srgbClr val="D4652A"/>
          </a:solidFill>
          <a:ln/>
        </p:spPr>
        <p:txBody>
          <a:bodyPr/>
          <a:lstStyle/>
          <a:p>
            <a:endParaRPr lang="en-US"/>
          </a:p>
        </p:txBody>
      </p:sp>
      <p:sp>
        <p:nvSpPr>
          <p:cNvPr id="11" name="Text 8"/>
          <p:cNvSpPr/>
          <p:nvPr/>
        </p:nvSpPr>
        <p:spPr>
          <a:xfrm>
            <a:off x="1778000" y="5778500"/>
            <a:ext cx="3810000" cy="635000"/>
          </a:xfrm>
          <a:prstGeom prst="rect">
            <a:avLst/>
          </a:prstGeom>
          <a:noFill/>
          <a:ln/>
        </p:spPr>
        <p:txBody>
          <a:bodyPr wrap="none" lIns="0" tIns="0" rIns="0" bIns="0" rtlCol="0" anchor="ctr"/>
          <a:lstStyle/>
          <a:p>
            <a:pPr algn="ctr">
              <a:lnSpc>
                <a:spcPct val="120000"/>
              </a:lnSpc>
            </a:pPr>
            <a:r>
              <a:rPr lang="en-US" sz="1800" kern="0" spc="200" dirty="0">
                <a:solidFill>
                  <a:srgbClr val="FFFFFF"/>
                </a:solidFill>
                <a:latin typeface="Liter" pitchFamily="34" charset="0"/>
                <a:ea typeface="Liter" pitchFamily="34" charset="-122"/>
                <a:cs typeface="Liter" pitchFamily="34" charset="-120"/>
              </a:rPr>
              <a:t>Shahd Elhewehy</a:t>
            </a:r>
            <a:endParaRPr lang="en-US" sz="1800" dirty="0"/>
          </a:p>
        </p:txBody>
      </p:sp>
      <p:sp>
        <p:nvSpPr>
          <p:cNvPr id="12" name="Text 9"/>
          <p:cNvSpPr/>
          <p:nvPr/>
        </p:nvSpPr>
        <p:spPr>
          <a:xfrm>
            <a:off x="4318000" y="6731000"/>
            <a:ext cx="7620000" cy="381000"/>
          </a:xfrm>
          <a:prstGeom prst="rect">
            <a:avLst/>
          </a:prstGeom>
          <a:noFill/>
          <a:ln/>
        </p:spPr>
        <p:txBody>
          <a:bodyPr wrap="none" lIns="0" tIns="0" rIns="0" bIns="0" rtlCol="0" anchor="ctr"/>
          <a:lstStyle/>
          <a:p>
            <a:pPr algn="ctr">
              <a:lnSpc>
                <a:spcPct val="120000"/>
              </a:lnSpc>
            </a:pPr>
            <a:r>
              <a:rPr lang="en-US" sz="1600" dirty="0">
                <a:solidFill>
                  <a:srgbClr val="888888"/>
                </a:solidFill>
                <a:latin typeface="Quattrocento Sans" pitchFamily="34" charset="0"/>
                <a:ea typeface="Quattrocento Sans" pitchFamily="34" charset="-122"/>
                <a:cs typeface="Quattrocento Sans" pitchFamily="34" charset="-120"/>
              </a:rPr>
              <a:t>Questions &amp; Discussion Welcome</a:t>
            </a:r>
            <a:endParaRPr lang="en-US" sz="1600" dirty="0"/>
          </a:p>
        </p:txBody>
      </p:sp>
      <p:sp>
        <p:nvSpPr>
          <p:cNvPr id="13" name="Shape 10"/>
          <p:cNvSpPr/>
          <p:nvPr/>
        </p:nvSpPr>
        <p:spPr>
          <a:xfrm>
            <a:off x="0" y="9017000"/>
            <a:ext cx="16256000" cy="127000"/>
          </a:xfrm>
          <a:prstGeom prst="rect">
            <a:avLst/>
          </a:prstGeom>
          <a:solidFill>
            <a:srgbClr val="D4652A"/>
          </a:solidFill>
          <a:ln/>
        </p:spPr>
        <p:txBody>
          <a:bodyPr/>
          <a:lstStyle/>
          <a:p>
            <a:endParaRPr lang="en-US"/>
          </a:p>
        </p:txBody>
      </p:sp>
      <p:sp>
        <p:nvSpPr>
          <p:cNvPr id="14" name="Shape 11"/>
          <p:cNvSpPr/>
          <p:nvPr/>
        </p:nvSpPr>
        <p:spPr>
          <a:xfrm>
            <a:off x="6223000" y="5778500"/>
            <a:ext cx="3810000" cy="635000"/>
          </a:xfrm>
          <a:prstGeom prst="roundRect">
            <a:avLst>
              <a:gd name="adj" fmla="val 16000"/>
            </a:avLst>
          </a:prstGeom>
          <a:solidFill>
            <a:srgbClr val="D4652A"/>
          </a:solidFill>
          <a:ln/>
        </p:spPr>
        <p:txBody>
          <a:bodyPr/>
          <a:lstStyle/>
          <a:p>
            <a:endParaRPr lang="en-US"/>
          </a:p>
        </p:txBody>
      </p:sp>
      <p:sp>
        <p:nvSpPr>
          <p:cNvPr id="15" name="Text 12"/>
          <p:cNvSpPr/>
          <p:nvPr/>
        </p:nvSpPr>
        <p:spPr>
          <a:xfrm>
            <a:off x="6223000" y="5778500"/>
            <a:ext cx="3810000" cy="635000"/>
          </a:xfrm>
          <a:prstGeom prst="rect">
            <a:avLst/>
          </a:prstGeom>
          <a:noFill/>
          <a:ln/>
        </p:spPr>
        <p:txBody>
          <a:bodyPr wrap="none" lIns="0" tIns="0" rIns="0" bIns="0" rtlCol="0" anchor="ctr"/>
          <a:lstStyle/>
          <a:p>
            <a:pPr algn="ctr">
              <a:lnSpc>
                <a:spcPct val="120000"/>
              </a:lnSpc>
            </a:pPr>
            <a:r>
              <a:rPr lang="en-US" sz="1800" kern="0" spc="200" dirty="0">
                <a:solidFill>
                  <a:srgbClr val="FFFFFF"/>
                </a:solidFill>
                <a:latin typeface="Liter" pitchFamily="34" charset="0"/>
                <a:ea typeface="Liter" pitchFamily="34" charset="-122"/>
                <a:cs typeface="Liter" pitchFamily="34" charset="-120"/>
              </a:rPr>
              <a:t>Ahmed Yehia</a:t>
            </a:r>
            <a:endParaRPr lang="en-US" sz="1800" dirty="0"/>
          </a:p>
        </p:txBody>
      </p:sp>
      <p:sp>
        <p:nvSpPr>
          <p:cNvPr id="16" name="Shape 13"/>
          <p:cNvSpPr/>
          <p:nvPr/>
        </p:nvSpPr>
        <p:spPr>
          <a:xfrm>
            <a:off x="10668000" y="5778500"/>
            <a:ext cx="3810000" cy="635000"/>
          </a:xfrm>
          <a:prstGeom prst="roundRect">
            <a:avLst>
              <a:gd name="adj" fmla="val 16000"/>
            </a:avLst>
          </a:prstGeom>
          <a:solidFill>
            <a:srgbClr val="D4652A"/>
          </a:solidFill>
          <a:ln/>
        </p:spPr>
        <p:txBody>
          <a:bodyPr/>
          <a:lstStyle/>
          <a:p>
            <a:endParaRPr lang="en-US"/>
          </a:p>
        </p:txBody>
      </p:sp>
      <p:sp>
        <p:nvSpPr>
          <p:cNvPr id="17" name="Text 14"/>
          <p:cNvSpPr/>
          <p:nvPr/>
        </p:nvSpPr>
        <p:spPr>
          <a:xfrm>
            <a:off x="10668000" y="5778500"/>
            <a:ext cx="3810000" cy="635000"/>
          </a:xfrm>
          <a:prstGeom prst="rect">
            <a:avLst/>
          </a:prstGeom>
          <a:noFill/>
          <a:ln/>
        </p:spPr>
        <p:txBody>
          <a:bodyPr wrap="none" lIns="0" tIns="0" rIns="0" bIns="0" rtlCol="0" anchor="ctr"/>
          <a:lstStyle/>
          <a:p>
            <a:pPr algn="ctr">
              <a:lnSpc>
                <a:spcPct val="120000"/>
              </a:lnSpc>
            </a:pPr>
            <a:r>
              <a:rPr lang="en-US" sz="1800" kern="0" spc="200" dirty="0">
                <a:solidFill>
                  <a:srgbClr val="FFFFFF"/>
                </a:solidFill>
                <a:latin typeface="Liter" pitchFamily="34" charset="0"/>
                <a:ea typeface="Liter" pitchFamily="34" charset="-122"/>
                <a:cs typeface="Liter" pitchFamily="34" charset="-120"/>
              </a:rPr>
              <a:t>Mohamed Mostafa</a:t>
            </a:r>
            <a:endParaRPr lang="en-US" sz="1800" dirty="0"/>
          </a:p>
        </p:txBody>
      </p:sp>
      <p:pic>
        <p:nvPicPr>
          <p:cNvPr id="18" name="Picture 17">
            <a:extLst>
              <a:ext uri="{FF2B5EF4-FFF2-40B4-BE49-F238E27FC236}">
                <a16:creationId xmlns:a16="http://schemas.microsoft.com/office/drawing/2014/main" id="{61EF9BFE-62B7-7D68-D159-343BBA58A448}"/>
              </a:ext>
            </a:extLst>
          </p:cNvPr>
          <p:cNvPicPr>
            <a:picLocks noChangeAspect="1"/>
          </p:cNvPicPr>
          <p:nvPr/>
        </p:nvPicPr>
        <p:blipFill>
          <a:blip r:embed="rId3"/>
          <a:stretch>
            <a:fillRect/>
          </a:stretch>
        </p:blipFill>
        <p:spPr>
          <a:xfrm>
            <a:off x="13527741" y="396875"/>
            <a:ext cx="2021821" cy="2021821"/>
          </a:xfrm>
          <a:prstGeom prst="ellipse">
            <a:avLst/>
          </a:prstGeom>
        </p:spPr>
      </p:pic>
      <p:pic>
        <p:nvPicPr>
          <p:cNvPr id="20" name="Picture 19">
            <a:extLst>
              <a:ext uri="{FF2B5EF4-FFF2-40B4-BE49-F238E27FC236}">
                <a16:creationId xmlns:a16="http://schemas.microsoft.com/office/drawing/2014/main" id="{23D97D76-A11E-340A-D6EB-9A946D1998DB}"/>
              </a:ext>
            </a:extLst>
          </p:cNvPr>
          <p:cNvPicPr>
            <a:picLocks noChangeAspect="1"/>
          </p:cNvPicPr>
          <p:nvPr/>
        </p:nvPicPr>
        <p:blipFill>
          <a:blip r:embed="rId4"/>
          <a:stretch>
            <a:fillRect/>
          </a:stretch>
        </p:blipFill>
        <p:spPr>
          <a:xfrm>
            <a:off x="772832" y="396875"/>
            <a:ext cx="2021821" cy="2021821"/>
          </a:xfrm>
          <a:prstGeom prst="ellipse">
            <a:avLst/>
          </a:prstGeom>
        </p:spPr>
      </p:pic>
    </p:spTree>
  </p:cSld>
  <p:clrMapOvr>
    <a:masterClrMapping/>
  </p:clrMapOvr>
  <p:transition>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2976</Words>
  <Application>Microsoft Office PowerPoint</Application>
  <PresentationFormat>Custom</PresentationFormat>
  <Paragraphs>363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Quattrocento Sans</vt:lpstr>
      <vt:lpstr>Liter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Restaurant Finder - Graduation Project Defense</dc:title>
  <dc:subject>Restaurant Finder - Graduation Project Defense</dc:subject>
  <dc:creator>Kimi</dc:creator>
  <cp:lastModifiedBy>A H M E D Y E H Y I A</cp:lastModifiedBy>
  <cp:revision>2</cp:revision>
  <dcterms:created xsi:type="dcterms:W3CDTF">2026-06-19T12:52:53Z</dcterms:created>
  <dcterms:modified xsi:type="dcterms:W3CDTF">2026-06-22T13:38:40Z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{"Label":"Restaurant Finder - Graduation Project Defense","ContentProducer":"001191110108MACG2KBH8F10000","ProduceID":"19edfc80-17d2-8342-8000-000069e4822f","ReservedCode1":"","ContentPropagator":"001191110108MACG2KBH8F20000","PropagateID":"19edfc69-4e72-80e9-8000-09b99c38b2b8","ReservedCode2":""}</vt:lpwstr>
  </property>
</Properties>
</file>